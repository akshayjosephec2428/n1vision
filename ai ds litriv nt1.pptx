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docProps/custom.xml" ContentType="application/vnd.openxmlformats-officedocument.custom-properties+xml"/>
  <Override PartName="/docProps/core.xml" ContentType="application/vnd.openxmlformats-package.core-propertie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9"/>
  </p:notesMasterIdLst>
  <p:sldIdLst>
    <p:sldId id="256" r:id="rId4"/>
    <p:sldId id="257" r:id="rId5"/>
    <p:sldId id="258" r:id="rId6"/>
    <p:sldId id="259" r:id="rId7"/>
    <p:sldId id="260" r:id="rId8"/>
  </p:sldIdLst>
  <p:sldSz cx="7772400" cy="10058400"/>
  <p:notesSz cx="7772400" cy="10058400"/>
  <p:defaultTextStyle>
    <a:defPPr>
      <a:defRPr/>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8" d="100"/>
          <a:sy n="78" d="100"/>
        </p:scale>
        <p:origin x="-1536" y="-84"/>
      </p:cViewPr>
      <p:guideLst>
        <p:guide pos="2880" orient="horz"/>
        <p:guide pos="2160"/>
      </p:guideLst>
    </p:cSldViewPr>
  </p:slide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notesMaster" Target="notesMasters/notesMaster1.xml"/><Relationship Id="rId10" Type="http://schemas.openxmlformats.org/officeDocument/2006/relationships/presProps" Target="presProps.xml" /><Relationship Id="rId11" Type="http://schemas.openxmlformats.org/officeDocument/2006/relationships/tableStyles" Target="tableStyles.xml" /><Relationship Id="rId1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79020479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441546285"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691908681"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286531079"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675543265"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38975026"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5072246" name="Slide Image Placeholder 1"/>
          <p:cNvSpPr>
            <a:spLocks noChangeAspect="1" noGrp="1" noRot="1"/>
          </p:cNvSpPr>
          <p:nvPr>
            <p:ph type="sldImg"/>
          </p:nvPr>
        </p:nvSpPr>
        <p:spPr bwMode="auto"/>
      </p:sp>
      <p:sp>
        <p:nvSpPr>
          <p:cNvPr id="1637077467" name="Notes Placeholder 2"/>
          <p:cNvSpPr>
            <a:spLocks noGrp="1"/>
          </p:cNvSpPr>
          <p:nvPr>
            <p:ph type="body" idx="1"/>
          </p:nvPr>
        </p:nvSpPr>
        <p:spPr bwMode="auto"/>
        <p:txBody>
          <a:bodyPr/>
          <a:lstStyle/>
          <a:p>
            <a:pPr>
              <a:defRPr/>
            </a:pPr>
            <a:endParaRPr/>
          </a:p>
        </p:txBody>
      </p:sp>
      <p:sp>
        <p:nvSpPr>
          <p:cNvPr id="1432941608" name="Slide Number Placeholder 3"/>
          <p:cNvSpPr>
            <a:spLocks noGrp="1"/>
          </p:cNvSpPr>
          <p:nvPr>
            <p:ph type="sldNum" sz="quarter" idx="10"/>
          </p:nvPr>
        </p:nvSpPr>
        <p:spPr bwMode="auto"/>
        <p:txBody>
          <a:bodyPr/>
          <a:lstStyle/>
          <a:p>
            <a:pPr>
              <a:defRPr/>
            </a:pPr>
            <a:fld id="{438E3002-8C8E-0B6A-6499-F0112D3473A9}"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4825080" name="Slide Image Placeholder 1"/>
          <p:cNvSpPr>
            <a:spLocks noChangeAspect="1" noGrp="1" noRot="1"/>
          </p:cNvSpPr>
          <p:nvPr>
            <p:ph type="sldImg"/>
          </p:nvPr>
        </p:nvSpPr>
        <p:spPr bwMode="auto"/>
      </p:sp>
      <p:sp>
        <p:nvSpPr>
          <p:cNvPr id="1017286816" name="Notes Placeholder 2"/>
          <p:cNvSpPr>
            <a:spLocks noGrp="1"/>
          </p:cNvSpPr>
          <p:nvPr>
            <p:ph type="body" idx="1"/>
          </p:nvPr>
        </p:nvSpPr>
        <p:spPr bwMode="auto"/>
        <p:txBody>
          <a:bodyPr/>
          <a:lstStyle/>
          <a:p>
            <a:pPr>
              <a:defRPr/>
            </a:pPr>
            <a:endParaRPr/>
          </a:p>
        </p:txBody>
      </p:sp>
      <p:sp>
        <p:nvSpPr>
          <p:cNvPr id="2069865599" name="Slide Number Placeholder 3"/>
          <p:cNvSpPr>
            <a:spLocks noGrp="1"/>
          </p:cNvSpPr>
          <p:nvPr>
            <p:ph type="sldNum" sz="quarter" idx="10"/>
          </p:nvPr>
        </p:nvSpPr>
        <p:spPr bwMode="auto"/>
        <p:txBody>
          <a:bodyPr/>
          <a:lstStyle/>
          <a:p>
            <a:pPr>
              <a:defRPr/>
            </a:pPr>
            <a:fld id="{786D03CC-FA88-7776-2EF5-835119BD2B0D}"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4180410" name="Slide Image Placeholder 1"/>
          <p:cNvSpPr>
            <a:spLocks noChangeAspect="1" noGrp="1" noRot="1"/>
          </p:cNvSpPr>
          <p:nvPr>
            <p:ph type="sldImg"/>
          </p:nvPr>
        </p:nvSpPr>
        <p:spPr bwMode="auto"/>
      </p:sp>
      <p:sp>
        <p:nvSpPr>
          <p:cNvPr id="1062961666" name="Notes Placeholder 2"/>
          <p:cNvSpPr>
            <a:spLocks noGrp="1"/>
          </p:cNvSpPr>
          <p:nvPr>
            <p:ph type="body" idx="1"/>
          </p:nvPr>
        </p:nvSpPr>
        <p:spPr bwMode="auto"/>
        <p:txBody>
          <a:bodyPr/>
          <a:lstStyle/>
          <a:p>
            <a:pPr>
              <a:defRPr/>
            </a:pPr>
            <a:endParaRPr/>
          </a:p>
        </p:txBody>
      </p:sp>
      <p:sp>
        <p:nvSpPr>
          <p:cNvPr id="872518337" name="Slide Number Placeholder 3"/>
          <p:cNvSpPr>
            <a:spLocks noGrp="1"/>
          </p:cNvSpPr>
          <p:nvPr>
            <p:ph type="sldNum" sz="quarter" idx="10"/>
          </p:nvPr>
        </p:nvSpPr>
        <p:spPr bwMode="auto"/>
        <p:txBody>
          <a:bodyPr/>
          <a:lstStyle/>
          <a:p>
            <a:pPr>
              <a:defRPr/>
            </a:pPr>
            <a:fld id="{BCC3DFB5-366A-E54C-A977-BA79A8C1C6BA}"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8013498" name="Slide Image Placeholder 1"/>
          <p:cNvSpPr>
            <a:spLocks noChangeAspect="1" noGrp="1" noRot="1"/>
          </p:cNvSpPr>
          <p:nvPr>
            <p:ph type="sldImg"/>
          </p:nvPr>
        </p:nvSpPr>
        <p:spPr bwMode="auto"/>
      </p:sp>
      <p:sp>
        <p:nvSpPr>
          <p:cNvPr id="366088485" name="Notes Placeholder 2"/>
          <p:cNvSpPr>
            <a:spLocks noGrp="1"/>
          </p:cNvSpPr>
          <p:nvPr>
            <p:ph type="body" idx="1"/>
          </p:nvPr>
        </p:nvSpPr>
        <p:spPr bwMode="auto"/>
        <p:txBody>
          <a:bodyPr/>
          <a:lstStyle/>
          <a:p>
            <a:pPr>
              <a:defRPr/>
            </a:pPr>
            <a:endParaRPr/>
          </a:p>
        </p:txBody>
      </p:sp>
      <p:sp>
        <p:nvSpPr>
          <p:cNvPr id="1508711566" name="Slide Number Placeholder 3"/>
          <p:cNvSpPr>
            <a:spLocks noGrp="1"/>
          </p:cNvSpPr>
          <p:nvPr>
            <p:ph type="sldNum" sz="quarter" idx="10"/>
          </p:nvPr>
        </p:nvSpPr>
        <p:spPr bwMode="auto"/>
        <p:txBody>
          <a:bodyPr/>
          <a:lstStyle/>
          <a:p>
            <a:pPr>
              <a:defRPr/>
            </a:pPr>
            <a:fld id="{84EB4A3B-4723-925D-FD67-CBAAB11119F8}"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73C4692-4769-D423-E397-E4AF92734CB4}"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Slide">
    <p:spTree>
      <p:nvGrpSpPr>
        <p:cNvPr id="1" name=""/>
        <p:cNvGrpSpPr/>
        <p:nvPr/>
      </p:nvGrpSpPr>
      <p:grpSpPr bwMode="auto">
        <a:xfrm>
          <a:off x="0" y="0"/>
          <a:ext cx="0" cy="0"/>
          <a:chOff x="0" y="0"/>
          <a:chExt cx="0" cy="0"/>
        </a:xfrm>
      </p:grpSpPr>
      <p:sp>
        <p:nvSpPr>
          <p:cNvPr id="1334936825" name="Holder 2"/>
          <p:cNvSpPr>
            <a:spLocks noGrp="1"/>
          </p:cNvSpPr>
          <p:nvPr>
            <p:ph type="ctrTitle"/>
          </p:nvPr>
        </p:nvSpPr>
        <p:spPr bwMode="auto">
          <a:xfrm>
            <a:off x="582930" y="3118104"/>
            <a:ext cx="6606539" cy="2112264"/>
          </a:xfrm>
          <a:prstGeom prst="rect">
            <a:avLst/>
          </a:prstGeom>
        </p:spPr>
        <p:txBody>
          <a:bodyPr wrap="square" lIns="0" tIns="0" rIns="0" bIns="0">
            <a:spAutoFit/>
          </a:bodyPr>
          <a:lstStyle>
            <a:lvl1pPr>
              <a:defRPr sz="2600" b="0" i="0">
                <a:solidFill>
                  <a:schemeClr val="tx1"/>
                </a:solidFill>
                <a:latin typeface="Calibri"/>
                <a:cs typeface="Calibri"/>
              </a:defRPr>
            </a:lvl1pPr>
          </a:lstStyle>
          <a:p>
            <a:pPr>
              <a:defRPr/>
            </a:pPr>
            <a:endParaRPr/>
          </a:p>
        </p:txBody>
      </p:sp>
      <p:sp>
        <p:nvSpPr>
          <p:cNvPr id="555615562" name="Holder 3"/>
          <p:cNvSpPr>
            <a:spLocks noGrp="1"/>
          </p:cNvSpPr>
          <p:nvPr>
            <p:ph type="subTitle" idx="4"/>
          </p:nvPr>
        </p:nvSpPr>
        <p:spPr bwMode="auto">
          <a:xfrm>
            <a:off x="1165860" y="5632704"/>
            <a:ext cx="5440680" cy="2514600"/>
          </a:xfrm>
          <a:prstGeom prst="rect">
            <a:avLst/>
          </a:prstGeom>
        </p:spPr>
        <p:txBody>
          <a:bodyPr wrap="square" lIns="0" tIns="0" rIns="0" bIns="0">
            <a:spAutoFit/>
          </a:bodyPr>
          <a:lstStyle>
            <a:lvl1pPr>
              <a:defRPr sz="1100" b="0" i="0">
                <a:solidFill>
                  <a:schemeClr val="tx1"/>
                </a:solidFill>
                <a:latin typeface="Calibri"/>
                <a:cs typeface="Calibri"/>
              </a:defRPr>
            </a:lvl1pPr>
          </a:lstStyle>
          <a:p>
            <a:pPr>
              <a:defRPr/>
            </a:pPr>
            <a:endParaRPr/>
          </a:p>
        </p:txBody>
      </p:sp>
      <p:sp>
        <p:nvSpPr>
          <p:cNvPr id="223249495"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255156056"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
            </a:fld>
            <a:endParaRPr/>
          </a:p>
        </p:txBody>
      </p:sp>
      <p:sp>
        <p:nvSpPr>
          <p:cNvPr id="414285789"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672566873" name="Holder 2"/>
          <p:cNvSpPr>
            <a:spLocks noGrp="1"/>
          </p:cNvSpPr>
          <p:nvPr>
            <p:ph type="title"/>
          </p:nvPr>
        </p:nvSpPr>
        <p:spPr bwMode="auto"/>
        <p:txBody>
          <a:bodyPr lIns="0" tIns="0" rIns="0" bIns="0"/>
          <a:lstStyle>
            <a:lvl1pPr>
              <a:defRPr sz="2600" b="0" i="0">
                <a:solidFill>
                  <a:schemeClr val="tx1"/>
                </a:solidFill>
                <a:latin typeface="Calibri"/>
                <a:cs typeface="Calibri"/>
              </a:defRPr>
            </a:lvl1pPr>
          </a:lstStyle>
          <a:p>
            <a:pPr>
              <a:defRPr/>
            </a:pPr>
            <a:endParaRPr/>
          </a:p>
        </p:txBody>
      </p:sp>
      <p:sp>
        <p:nvSpPr>
          <p:cNvPr id="2020324834" name="Holder 3"/>
          <p:cNvSpPr>
            <a:spLocks noGrp="1"/>
          </p:cNvSpPr>
          <p:nvPr>
            <p:ph type="body" idx="1"/>
          </p:nvPr>
        </p:nvSpPr>
        <p:spPr bwMode="auto"/>
        <p:txBody>
          <a:bodyPr lIns="0" tIns="0" rIns="0" bIns="0"/>
          <a:lstStyle>
            <a:lvl1pPr>
              <a:defRPr sz="1100" b="0" i="0">
                <a:solidFill>
                  <a:schemeClr val="tx1"/>
                </a:solidFill>
                <a:latin typeface="Calibri"/>
                <a:cs typeface="Calibri"/>
              </a:defRPr>
            </a:lvl1pPr>
          </a:lstStyle>
          <a:p>
            <a:pPr>
              <a:defRPr/>
            </a:pPr>
            <a:endParaRPr/>
          </a:p>
        </p:txBody>
      </p:sp>
      <p:sp>
        <p:nvSpPr>
          <p:cNvPr id="387226721"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522556505"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
            </a:fld>
            <a:endParaRPr/>
          </a:p>
        </p:txBody>
      </p:sp>
      <p:sp>
        <p:nvSpPr>
          <p:cNvPr id="251868225"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wo Content">
    <p:spTree>
      <p:nvGrpSpPr>
        <p:cNvPr id="1" name=""/>
        <p:cNvGrpSpPr/>
        <p:nvPr/>
      </p:nvGrpSpPr>
      <p:grpSpPr bwMode="auto">
        <a:xfrm>
          <a:off x="0" y="0"/>
          <a:ext cx="0" cy="0"/>
          <a:chOff x="0" y="0"/>
          <a:chExt cx="0" cy="0"/>
        </a:xfrm>
      </p:grpSpPr>
      <p:sp>
        <p:nvSpPr>
          <p:cNvPr id="1630906424" name="Holder 2"/>
          <p:cNvSpPr>
            <a:spLocks noGrp="1"/>
          </p:cNvSpPr>
          <p:nvPr>
            <p:ph type="title"/>
          </p:nvPr>
        </p:nvSpPr>
        <p:spPr bwMode="auto"/>
        <p:txBody>
          <a:bodyPr lIns="0" tIns="0" rIns="0" bIns="0"/>
          <a:lstStyle>
            <a:lvl1pPr>
              <a:defRPr sz="2600" b="0" i="0">
                <a:solidFill>
                  <a:schemeClr val="tx1"/>
                </a:solidFill>
                <a:latin typeface="Calibri"/>
                <a:cs typeface="Calibri"/>
              </a:defRPr>
            </a:lvl1pPr>
          </a:lstStyle>
          <a:p>
            <a:pPr>
              <a:defRPr/>
            </a:pPr>
            <a:endParaRPr/>
          </a:p>
        </p:txBody>
      </p:sp>
      <p:sp>
        <p:nvSpPr>
          <p:cNvPr id="511287961" name="Holder 3"/>
          <p:cNvSpPr>
            <a:spLocks noGrp="1"/>
          </p:cNvSpPr>
          <p:nvPr>
            <p:ph sz="half" idx="2"/>
          </p:nvPr>
        </p:nvSpPr>
        <p:spPr bwMode="auto">
          <a:xfrm>
            <a:off x="388620" y="2313432"/>
            <a:ext cx="3380994" cy="6638544"/>
          </a:xfrm>
          <a:prstGeom prst="rect">
            <a:avLst/>
          </a:prstGeom>
        </p:spPr>
        <p:txBody>
          <a:bodyPr wrap="square" lIns="0" tIns="0" rIns="0" bIns="0">
            <a:spAutoFit/>
          </a:bodyPr>
          <a:lstStyle>
            <a:lvl1pPr>
              <a:defRPr/>
            </a:lvl1pPr>
          </a:lstStyle>
          <a:p>
            <a:pPr>
              <a:defRPr/>
            </a:pPr>
            <a:endParaRPr/>
          </a:p>
        </p:txBody>
      </p:sp>
      <p:sp>
        <p:nvSpPr>
          <p:cNvPr id="2055863096" name="Holder 4"/>
          <p:cNvSpPr>
            <a:spLocks noGrp="1"/>
          </p:cNvSpPr>
          <p:nvPr>
            <p:ph sz="half" idx="3"/>
          </p:nvPr>
        </p:nvSpPr>
        <p:spPr bwMode="auto">
          <a:xfrm>
            <a:off x="4002786" y="2313432"/>
            <a:ext cx="3380994" cy="6638544"/>
          </a:xfrm>
          <a:prstGeom prst="rect">
            <a:avLst/>
          </a:prstGeom>
        </p:spPr>
        <p:txBody>
          <a:bodyPr wrap="square" lIns="0" tIns="0" rIns="0" bIns="0">
            <a:spAutoFit/>
          </a:bodyPr>
          <a:lstStyle>
            <a:lvl1pPr>
              <a:defRPr/>
            </a:lvl1pPr>
          </a:lstStyle>
          <a:p>
            <a:pPr>
              <a:defRPr/>
            </a:pPr>
            <a:endParaRPr/>
          </a:p>
        </p:txBody>
      </p:sp>
      <p:sp>
        <p:nvSpPr>
          <p:cNvPr id="24528997" name="Holder 5"/>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185603797" name="Holder 6"/>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
            </a:fld>
            <a:endParaRPr/>
          </a:p>
        </p:txBody>
      </p:sp>
      <p:sp>
        <p:nvSpPr>
          <p:cNvPr id="703793658" name="Holder 7"/>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Only">
    <p:spTree>
      <p:nvGrpSpPr>
        <p:cNvPr id="1" name=""/>
        <p:cNvGrpSpPr/>
        <p:nvPr/>
      </p:nvGrpSpPr>
      <p:grpSpPr bwMode="auto">
        <a:xfrm>
          <a:off x="0" y="0"/>
          <a:ext cx="0" cy="0"/>
          <a:chOff x="0" y="0"/>
          <a:chExt cx="0" cy="0"/>
        </a:xfrm>
      </p:grpSpPr>
      <p:sp>
        <p:nvSpPr>
          <p:cNvPr id="1395873208" name="Holder 2"/>
          <p:cNvSpPr>
            <a:spLocks noGrp="1"/>
          </p:cNvSpPr>
          <p:nvPr>
            <p:ph type="title"/>
          </p:nvPr>
        </p:nvSpPr>
        <p:spPr bwMode="auto"/>
        <p:txBody>
          <a:bodyPr lIns="0" tIns="0" rIns="0" bIns="0"/>
          <a:lstStyle>
            <a:lvl1pPr>
              <a:defRPr sz="2600" b="0" i="0">
                <a:solidFill>
                  <a:schemeClr val="tx1"/>
                </a:solidFill>
                <a:latin typeface="Calibri"/>
                <a:cs typeface="Calibri"/>
              </a:defRPr>
            </a:lvl1pPr>
          </a:lstStyle>
          <a:p>
            <a:pPr>
              <a:defRPr/>
            </a:pPr>
            <a:endParaRPr/>
          </a:p>
        </p:txBody>
      </p:sp>
      <p:sp>
        <p:nvSpPr>
          <p:cNvPr id="1779173141" name="Holder 3"/>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481442690" name="Holder 4"/>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
            </a:fld>
            <a:endParaRPr/>
          </a:p>
        </p:txBody>
      </p:sp>
      <p:sp>
        <p:nvSpPr>
          <p:cNvPr id="1684220331" name="Holder 5"/>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Blank">
    <p:spTree>
      <p:nvGrpSpPr>
        <p:cNvPr id="1" name=""/>
        <p:cNvGrpSpPr/>
        <p:nvPr/>
      </p:nvGrpSpPr>
      <p:grpSpPr bwMode="auto">
        <a:xfrm>
          <a:off x="0" y="0"/>
          <a:ext cx="0" cy="0"/>
          <a:chOff x="0" y="0"/>
          <a:chExt cx="0" cy="0"/>
        </a:xfrm>
      </p:grpSpPr>
      <p:sp>
        <p:nvSpPr>
          <p:cNvPr id="1874803474" name="Holder 2"/>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104674940" name="Holder 3"/>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
            </a:fld>
            <a:endParaRPr/>
          </a:p>
        </p:txBody>
      </p:sp>
      <p:sp>
        <p:nvSpPr>
          <p:cNvPr id="1211377263" name="Holder 4"/>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bg1"/>
        </a:solidFill>
      </p:bgPr>
    </p:bg>
    <p:spTree>
      <p:nvGrpSpPr>
        <p:cNvPr id="1" name=""/>
        <p:cNvGrpSpPr/>
        <p:nvPr/>
      </p:nvGrpSpPr>
      <p:grpSpPr bwMode="auto">
        <a:xfrm>
          <a:off x="0" y="0"/>
          <a:ext cx="0" cy="0"/>
          <a:chOff x="0" y="0"/>
          <a:chExt cx="0" cy="0"/>
        </a:xfrm>
      </p:grpSpPr>
      <p:sp>
        <p:nvSpPr>
          <p:cNvPr id="1547739391" name="Holder 2"/>
          <p:cNvSpPr>
            <a:spLocks noGrp="1"/>
          </p:cNvSpPr>
          <p:nvPr>
            <p:ph type="title"/>
          </p:nvPr>
        </p:nvSpPr>
        <p:spPr bwMode="auto">
          <a:xfrm>
            <a:off x="1608482" y="428699"/>
            <a:ext cx="4630420" cy="824865"/>
          </a:xfrm>
          <a:prstGeom prst="rect">
            <a:avLst/>
          </a:prstGeom>
        </p:spPr>
        <p:txBody>
          <a:bodyPr wrap="square" lIns="0" tIns="0" rIns="0" bIns="0">
            <a:spAutoFit/>
          </a:bodyPr>
          <a:lstStyle>
            <a:lvl1pPr>
              <a:defRPr sz="2600" b="0" i="0">
                <a:solidFill>
                  <a:schemeClr val="tx1"/>
                </a:solidFill>
                <a:latin typeface="Calibri"/>
                <a:cs typeface="Calibri"/>
              </a:defRPr>
            </a:lvl1pPr>
          </a:lstStyle>
          <a:p>
            <a:pPr>
              <a:defRPr/>
            </a:pPr>
            <a:endParaRPr/>
          </a:p>
        </p:txBody>
      </p:sp>
      <p:sp>
        <p:nvSpPr>
          <p:cNvPr id="1566174371" name="Holder 3"/>
          <p:cNvSpPr>
            <a:spLocks noGrp="1"/>
          </p:cNvSpPr>
          <p:nvPr>
            <p:ph type="body" idx="1"/>
          </p:nvPr>
        </p:nvSpPr>
        <p:spPr bwMode="auto">
          <a:xfrm>
            <a:off x="4121489" y="4334920"/>
            <a:ext cx="3406775" cy="3556000"/>
          </a:xfrm>
          <a:prstGeom prst="rect">
            <a:avLst/>
          </a:prstGeom>
        </p:spPr>
        <p:txBody>
          <a:bodyPr wrap="square" lIns="0" tIns="0" rIns="0" bIns="0">
            <a:spAutoFit/>
          </a:bodyPr>
          <a:lstStyle>
            <a:lvl1pPr>
              <a:defRPr sz="1100" b="0" i="0">
                <a:solidFill>
                  <a:schemeClr val="tx1"/>
                </a:solidFill>
                <a:latin typeface="Calibri"/>
                <a:cs typeface="Calibri"/>
              </a:defRPr>
            </a:lvl1pPr>
          </a:lstStyle>
          <a:p>
            <a:pPr>
              <a:defRPr/>
            </a:pPr>
            <a:endParaRPr/>
          </a:p>
        </p:txBody>
      </p:sp>
      <p:sp>
        <p:nvSpPr>
          <p:cNvPr id="1325677569" name="Holder 4"/>
          <p:cNvSpPr>
            <a:spLocks noGrp="1"/>
          </p:cNvSpPr>
          <p:nvPr>
            <p:ph type="ftr" sz="quarter" idx="5"/>
          </p:nvPr>
        </p:nvSpPr>
        <p:spPr bwMode="auto">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pPr>
              <a:defRPr/>
            </a:pPr>
            <a:endParaRPr/>
          </a:p>
        </p:txBody>
      </p:sp>
      <p:sp>
        <p:nvSpPr>
          <p:cNvPr id="2056179561" name="Holder 5"/>
          <p:cNvSpPr>
            <a:spLocks noGrp="1"/>
          </p:cNvSpPr>
          <p:nvPr>
            <p:ph type="dt" sz="half" idx="6"/>
          </p:nvPr>
        </p:nvSpPr>
        <p:spPr bwMode="auto">
          <a:xfrm>
            <a:off x="388620" y="9354312"/>
            <a:ext cx="1787651" cy="502920"/>
          </a:xfrm>
          <a:prstGeom prst="rect">
            <a:avLst/>
          </a:prstGeom>
        </p:spPr>
        <p:txBody>
          <a:bodyPr wrap="square" lIns="0" tIns="0" rIns="0" bIns="0">
            <a:spAutoFit/>
          </a:bodyPr>
          <a:lstStyle>
            <a:lvl1pPr algn="l">
              <a:defRPr>
                <a:solidFill>
                  <a:schemeClr val="tx1">
                    <a:tint val="75000"/>
                  </a:schemeClr>
                </a:solidFill>
              </a:defRPr>
            </a:lvl1pPr>
          </a:lstStyle>
          <a:p>
            <a:pPr>
              <a:defRPr/>
            </a:pPr>
            <a:fld id="{1D8BD707-D9CF-40AE-B4C6-C98DA3205C09}" type="datetimeFigureOut">
              <a:rPr lang="en-US"/>
              <a:t/>
            </a:fld>
            <a:endParaRPr/>
          </a:p>
        </p:txBody>
      </p:sp>
      <p:sp>
        <p:nvSpPr>
          <p:cNvPr id="880785673" name="Holder 6"/>
          <p:cNvSpPr>
            <a:spLocks noGrp="1"/>
          </p:cNvSpPr>
          <p:nvPr>
            <p:ph type="sldNum" sz="quarter" idx="7"/>
          </p:nvPr>
        </p:nvSpPr>
        <p:spPr bwMode="auto">
          <a:xfrm>
            <a:off x="5596128" y="9354312"/>
            <a:ext cx="1787651" cy="502920"/>
          </a:xfrm>
          <a:prstGeom prst="rect">
            <a:avLst/>
          </a:prstGeom>
        </p:spPr>
        <p:txBody>
          <a:bodyPr wrap="square" lIns="0" tIns="0" rIns="0" bIns="0">
            <a:spAutoFit/>
          </a:bodyPr>
          <a:lstStyle>
            <a:lvl1pPr algn="r">
              <a:defRPr>
                <a:solidFill>
                  <a:schemeClr val="tx1">
                    <a:tint val="75000"/>
                  </a:schemeClr>
                </a:solidFill>
              </a:defRPr>
            </a:lvl1pPr>
          </a:lstStyle>
          <a:p>
            <a:pPr>
              <a:defRPr/>
            </a:pPr>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804751585" name="object 2" descr="$PPTXTitle"/>
          <p:cNvSpPr txBox="1">
            <a:spLocks noGrp="1"/>
          </p:cNvSpPr>
          <p:nvPr>
            <p:ph type="title"/>
          </p:nvPr>
        </p:nvSpPr>
        <p:spPr bwMode="auto">
          <a:prstGeom prst="rect">
            <a:avLst/>
          </a:prstGeom>
        </p:spPr>
        <p:txBody>
          <a:bodyPr vert="horz" wrap="square" lIns="0" tIns="12700" rIns="0" bIns="0" rtlCol="0">
            <a:spAutoFit/>
          </a:bodyPr>
          <a:lstStyle/>
          <a:p>
            <a:pPr marR="60325" algn="ctr">
              <a:lnSpc>
                <a:spcPct val="100000"/>
              </a:lnSpc>
              <a:spcBef>
                <a:spcPts val="100"/>
              </a:spcBef>
              <a:defRPr/>
            </a:pPr>
            <a:r>
              <a:rPr spc="-55"/>
              <a:t>NUTRIVISION</a:t>
            </a:r>
            <a:r>
              <a:rPr spc="-40"/>
              <a:t> </a:t>
            </a:r>
            <a:r>
              <a:rPr spc="-25"/>
              <a:t>AI:</a:t>
            </a:r>
            <a:endParaRPr/>
          </a:p>
          <a:p>
            <a:pPr algn="ctr">
              <a:lnSpc>
                <a:spcPct val="100000"/>
              </a:lnSpc>
              <a:spcBef>
                <a:spcPts val="50"/>
              </a:spcBef>
              <a:defRPr/>
            </a:pPr>
            <a:r>
              <a:rPr/>
              <a:t>A</a:t>
            </a:r>
            <a:r>
              <a:rPr spc="-80"/>
              <a:t> </a:t>
            </a:r>
            <a:r>
              <a:rPr spc="-55"/>
              <a:t>SYSTEMATIC</a:t>
            </a:r>
            <a:r>
              <a:rPr spc="-75"/>
              <a:t> </a:t>
            </a:r>
            <a:r>
              <a:rPr spc="-55"/>
              <a:t>LITERATURE</a:t>
            </a:r>
            <a:r>
              <a:rPr spc="-75"/>
              <a:t> </a:t>
            </a:r>
            <a:r>
              <a:rPr spc="-10"/>
              <a:t>REVIEW</a:t>
            </a:r>
            <a:endParaRPr/>
          </a:p>
        </p:txBody>
      </p:sp>
      <p:sp>
        <p:nvSpPr>
          <p:cNvPr id="1829791273" name="object 3"/>
          <p:cNvSpPr txBox="1"/>
          <p:nvPr/>
        </p:nvSpPr>
        <p:spPr bwMode="auto">
          <a:xfrm>
            <a:off x="2190623" y="1604679"/>
            <a:ext cx="3394563" cy="660389"/>
          </a:xfrm>
          <a:prstGeom prst="rect">
            <a:avLst/>
          </a:prstGeom>
        </p:spPr>
        <p:txBody>
          <a:bodyPr vert="horz" wrap="square" lIns="0" tIns="12700" rIns="0" bIns="0" rtlCol="0">
            <a:spAutoFit/>
          </a:bodyPr>
          <a:lstStyle/>
          <a:p>
            <a:pPr marL="2540" algn="ctr">
              <a:lnSpc>
                <a:spcPct val="100000"/>
              </a:lnSpc>
              <a:spcBef>
                <a:spcPts val="100"/>
              </a:spcBef>
              <a:defRPr/>
            </a:pPr>
            <a:r>
              <a:rPr lang="en-IN" sz="1400">
                <a:latin typeface="Calibri"/>
                <a:cs typeface="Calibri"/>
              </a:rPr>
              <a:t>Akshay Joseph</a:t>
            </a:r>
            <a:endParaRPr sz="1400">
              <a:latin typeface="Calibri"/>
              <a:cs typeface="Calibri"/>
            </a:endParaRPr>
          </a:p>
          <a:p>
            <a:pPr marL="12065" marR="5080" algn="ctr">
              <a:lnSpc>
                <a:spcPct val="101699"/>
              </a:lnSpc>
              <a:defRPr/>
            </a:pPr>
            <a:r>
              <a:rPr sz="1400" i="1" spc="-10">
                <a:latin typeface="Calibri"/>
                <a:cs typeface="Calibri"/>
              </a:rPr>
              <a:t>Department </a:t>
            </a:r>
            <a:r>
              <a:rPr sz="1400" i="1">
                <a:latin typeface="Calibri"/>
                <a:cs typeface="Calibri"/>
              </a:rPr>
              <a:t>of</a:t>
            </a:r>
            <a:r>
              <a:rPr sz="1400" i="1" spc="-5">
                <a:latin typeface="Calibri"/>
                <a:cs typeface="Calibri"/>
              </a:rPr>
              <a:t> </a:t>
            </a:r>
            <a:r>
              <a:rPr sz="1400" i="1" spc="-10">
                <a:latin typeface="Calibri"/>
                <a:cs typeface="Calibri"/>
              </a:rPr>
              <a:t>Electronics </a:t>
            </a:r>
            <a:r>
              <a:rPr sz="1400" i="1">
                <a:latin typeface="Calibri"/>
                <a:cs typeface="Calibri"/>
              </a:rPr>
              <a:t>and</a:t>
            </a:r>
            <a:r>
              <a:rPr sz="1400" i="1" spc="-5">
                <a:latin typeface="Calibri"/>
                <a:cs typeface="Calibri"/>
              </a:rPr>
              <a:t> </a:t>
            </a:r>
            <a:r>
              <a:rPr sz="1400" i="1" spc="-10">
                <a:latin typeface="Calibri"/>
                <a:cs typeface="Calibri"/>
              </a:rPr>
              <a:t>Communication </a:t>
            </a:r>
            <a:r>
              <a:rPr sz="1400" spc="-10">
                <a:latin typeface="Calibri"/>
                <a:cs typeface="Calibri"/>
              </a:rPr>
              <a:t>Saintgits</a:t>
            </a:r>
            <a:r>
              <a:rPr sz="1400" spc="-25">
                <a:latin typeface="Calibri"/>
                <a:cs typeface="Calibri"/>
              </a:rPr>
              <a:t> </a:t>
            </a:r>
            <a:r>
              <a:rPr sz="1400">
                <a:latin typeface="Calibri"/>
                <a:cs typeface="Calibri"/>
              </a:rPr>
              <a:t>College</a:t>
            </a:r>
            <a:r>
              <a:rPr sz="1400" spc="-20">
                <a:latin typeface="Calibri"/>
                <a:cs typeface="Calibri"/>
              </a:rPr>
              <a:t> </a:t>
            </a:r>
            <a:r>
              <a:rPr sz="1400">
                <a:latin typeface="Calibri"/>
                <a:cs typeface="Calibri"/>
              </a:rPr>
              <a:t>of</a:t>
            </a:r>
            <a:r>
              <a:rPr sz="1400" spc="-25">
                <a:latin typeface="Calibri"/>
                <a:cs typeface="Calibri"/>
              </a:rPr>
              <a:t> </a:t>
            </a:r>
            <a:r>
              <a:rPr sz="1400" spc="-10">
                <a:latin typeface="Calibri"/>
                <a:cs typeface="Calibri"/>
              </a:rPr>
              <a:t>Engineering </a:t>
            </a:r>
            <a:endParaRPr sz="1400">
              <a:latin typeface="Calibri"/>
              <a:cs typeface="Calibri"/>
            </a:endParaRPr>
          </a:p>
        </p:txBody>
      </p:sp>
      <p:sp>
        <p:nvSpPr>
          <p:cNvPr id="365706937" name="object 8"/>
          <p:cNvSpPr txBox="1"/>
          <p:nvPr/>
        </p:nvSpPr>
        <p:spPr bwMode="auto">
          <a:xfrm>
            <a:off x="358479" y="2884896"/>
            <a:ext cx="3427264" cy="4328113"/>
          </a:xfrm>
          <a:prstGeom prst="rect">
            <a:avLst/>
          </a:prstGeom>
        </p:spPr>
        <p:txBody>
          <a:bodyPr vert="horz" wrap="square" lIns="0" tIns="12700" rIns="0" bIns="0" rtlCol="0">
            <a:spAutoFit/>
          </a:bodyPr>
          <a:lstStyle/>
          <a:p>
            <a:pPr marL="12700" marR="5080" algn="just">
              <a:lnSpc>
                <a:spcPct val="117000"/>
              </a:lnSpc>
              <a:spcBef>
                <a:spcPts val="100"/>
              </a:spcBef>
              <a:defRPr/>
            </a:pPr>
            <a:r>
              <a:rPr sz="1100" b="1">
                <a:latin typeface="Calibri"/>
                <a:cs typeface="Calibri"/>
              </a:rPr>
              <a:t>Abstract:</a:t>
            </a:r>
            <a:r>
              <a:rPr sz="1100" b="1" spc="75">
                <a:latin typeface="Calibri"/>
                <a:cs typeface="Calibri"/>
              </a:rPr>
              <a:t> </a:t>
            </a:r>
            <a:r>
              <a:rPr sz="1100">
                <a:latin typeface="Calibri"/>
                <a:cs typeface="Calibri"/>
              </a:rPr>
              <a:t>Unhealthy</a:t>
            </a:r>
            <a:r>
              <a:rPr sz="1100" spc="70">
                <a:latin typeface="Calibri"/>
                <a:cs typeface="Calibri"/>
              </a:rPr>
              <a:t> </a:t>
            </a:r>
            <a:r>
              <a:rPr sz="1100">
                <a:latin typeface="Calibri"/>
                <a:cs typeface="Calibri"/>
              </a:rPr>
              <a:t>eating</a:t>
            </a:r>
            <a:r>
              <a:rPr sz="1100" spc="70">
                <a:latin typeface="Calibri"/>
                <a:cs typeface="Calibri"/>
              </a:rPr>
              <a:t> </a:t>
            </a:r>
            <a:r>
              <a:rPr sz="1100">
                <a:latin typeface="Calibri"/>
                <a:cs typeface="Calibri"/>
              </a:rPr>
              <a:t>habits</a:t>
            </a:r>
            <a:r>
              <a:rPr sz="1100" spc="70">
                <a:latin typeface="Calibri"/>
                <a:cs typeface="Calibri"/>
              </a:rPr>
              <a:t> </a:t>
            </a:r>
            <a:r>
              <a:rPr sz="1100">
                <a:latin typeface="Calibri"/>
                <a:cs typeface="Calibri"/>
              </a:rPr>
              <a:t>and</a:t>
            </a:r>
            <a:r>
              <a:rPr sz="1100" spc="70">
                <a:latin typeface="Calibri"/>
                <a:cs typeface="Calibri"/>
              </a:rPr>
              <a:t> </a:t>
            </a:r>
            <a:r>
              <a:rPr sz="1100">
                <a:latin typeface="Calibri"/>
                <a:cs typeface="Calibri"/>
              </a:rPr>
              <a:t>a</a:t>
            </a:r>
            <a:r>
              <a:rPr sz="1100" spc="70">
                <a:latin typeface="Calibri"/>
                <a:cs typeface="Calibri"/>
              </a:rPr>
              <a:t> </a:t>
            </a:r>
            <a:r>
              <a:rPr sz="1100">
                <a:latin typeface="Calibri"/>
                <a:cs typeface="Calibri"/>
              </a:rPr>
              <a:t>lack</a:t>
            </a:r>
            <a:r>
              <a:rPr sz="1100" spc="70">
                <a:latin typeface="Calibri"/>
                <a:cs typeface="Calibri"/>
              </a:rPr>
              <a:t> </a:t>
            </a:r>
            <a:r>
              <a:rPr sz="1100">
                <a:latin typeface="Calibri"/>
                <a:cs typeface="Calibri"/>
              </a:rPr>
              <a:t>of</a:t>
            </a:r>
            <a:r>
              <a:rPr sz="1100" spc="70">
                <a:latin typeface="Calibri"/>
                <a:cs typeface="Calibri"/>
              </a:rPr>
              <a:t> </a:t>
            </a:r>
            <a:r>
              <a:rPr sz="1100" spc="-10">
                <a:latin typeface="Calibri"/>
                <a:cs typeface="Calibri"/>
              </a:rPr>
              <a:t>knowledge </a:t>
            </a:r>
            <a:r>
              <a:rPr sz="1100">
                <a:latin typeface="Calibri"/>
                <a:cs typeface="Calibri"/>
              </a:rPr>
              <a:t>about</a:t>
            </a:r>
            <a:r>
              <a:rPr sz="1100" spc="10">
                <a:latin typeface="Calibri"/>
                <a:cs typeface="Calibri"/>
              </a:rPr>
              <a:t> </a:t>
            </a:r>
            <a:r>
              <a:rPr sz="1100">
                <a:latin typeface="Calibri"/>
                <a:cs typeface="Calibri"/>
              </a:rPr>
              <a:t>nutrition</a:t>
            </a:r>
            <a:r>
              <a:rPr sz="1100" spc="15">
                <a:latin typeface="Calibri"/>
                <a:cs typeface="Calibri"/>
              </a:rPr>
              <a:t> </a:t>
            </a:r>
            <a:r>
              <a:rPr sz="1100">
                <a:latin typeface="Calibri"/>
                <a:cs typeface="Calibri"/>
              </a:rPr>
              <a:t>have</a:t>
            </a:r>
            <a:r>
              <a:rPr sz="1100" spc="15">
                <a:latin typeface="Calibri"/>
                <a:cs typeface="Calibri"/>
              </a:rPr>
              <a:t> </a:t>
            </a:r>
            <a:r>
              <a:rPr sz="1100">
                <a:latin typeface="Calibri"/>
                <a:cs typeface="Calibri"/>
              </a:rPr>
              <a:t>become</a:t>
            </a:r>
            <a:r>
              <a:rPr sz="1100" spc="15">
                <a:latin typeface="Calibri"/>
                <a:cs typeface="Calibri"/>
              </a:rPr>
              <a:t> </a:t>
            </a:r>
            <a:r>
              <a:rPr sz="1100">
                <a:latin typeface="Calibri"/>
                <a:cs typeface="Calibri"/>
              </a:rPr>
              <a:t>common</a:t>
            </a:r>
            <a:r>
              <a:rPr sz="1100" spc="15">
                <a:latin typeface="Calibri"/>
                <a:cs typeface="Calibri"/>
              </a:rPr>
              <a:t> </a:t>
            </a:r>
            <a:r>
              <a:rPr sz="1100">
                <a:latin typeface="Calibri"/>
                <a:cs typeface="Calibri"/>
              </a:rPr>
              <a:t>problems</a:t>
            </a:r>
            <a:r>
              <a:rPr sz="1100" spc="15">
                <a:latin typeface="Calibri"/>
                <a:cs typeface="Calibri"/>
              </a:rPr>
              <a:t> </a:t>
            </a:r>
            <a:r>
              <a:rPr sz="1100">
                <a:latin typeface="Calibri"/>
                <a:cs typeface="Calibri"/>
              </a:rPr>
              <a:t>in</a:t>
            </a:r>
            <a:r>
              <a:rPr sz="1100" spc="15">
                <a:latin typeface="Calibri"/>
                <a:cs typeface="Calibri"/>
              </a:rPr>
              <a:t> </a:t>
            </a:r>
            <a:r>
              <a:rPr sz="1100" spc="-10">
                <a:latin typeface="Calibri"/>
                <a:cs typeface="Calibri"/>
              </a:rPr>
              <a:t>society. </a:t>
            </a:r>
            <a:r>
              <a:rPr sz="1100">
                <a:latin typeface="Calibri"/>
                <a:cs typeface="Calibri"/>
              </a:rPr>
              <a:t>These</a:t>
            </a:r>
            <a:r>
              <a:rPr sz="1100" spc="195">
                <a:latin typeface="Calibri"/>
                <a:cs typeface="Calibri"/>
              </a:rPr>
              <a:t> </a:t>
            </a:r>
            <a:r>
              <a:rPr sz="1100">
                <a:latin typeface="Calibri"/>
                <a:cs typeface="Calibri"/>
              </a:rPr>
              <a:t>issues</a:t>
            </a:r>
            <a:r>
              <a:rPr sz="1100" spc="200">
                <a:latin typeface="Calibri"/>
                <a:cs typeface="Calibri"/>
              </a:rPr>
              <a:t> </a:t>
            </a:r>
            <a:r>
              <a:rPr sz="1100">
                <a:latin typeface="Calibri"/>
                <a:cs typeface="Calibri"/>
              </a:rPr>
              <a:t>contribute</a:t>
            </a:r>
            <a:r>
              <a:rPr sz="1100" spc="195">
                <a:latin typeface="Calibri"/>
                <a:cs typeface="Calibri"/>
              </a:rPr>
              <a:t> </a:t>
            </a:r>
            <a:r>
              <a:rPr sz="1100">
                <a:latin typeface="Calibri"/>
                <a:cs typeface="Calibri"/>
              </a:rPr>
              <a:t>to</a:t>
            </a:r>
            <a:r>
              <a:rPr sz="1100" spc="200">
                <a:latin typeface="Calibri"/>
                <a:cs typeface="Calibri"/>
              </a:rPr>
              <a:t> </a:t>
            </a:r>
            <a:r>
              <a:rPr sz="1100">
                <a:latin typeface="Calibri"/>
                <a:cs typeface="Calibri"/>
              </a:rPr>
              <a:t>the</a:t>
            </a:r>
            <a:r>
              <a:rPr sz="1100" spc="195">
                <a:latin typeface="Calibri"/>
                <a:cs typeface="Calibri"/>
              </a:rPr>
              <a:t> </a:t>
            </a:r>
            <a:r>
              <a:rPr sz="1100">
                <a:latin typeface="Calibri"/>
                <a:cs typeface="Calibri"/>
              </a:rPr>
              <a:t>rising</a:t>
            </a:r>
            <a:r>
              <a:rPr sz="1100" spc="200">
                <a:latin typeface="Calibri"/>
                <a:cs typeface="Calibri"/>
              </a:rPr>
              <a:t> </a:t>
            </a:r>
            <a:r>
              <a:rPr sz="1100">
                <a:latin typeface="Calibri"/>
                <a:cs typeface="Calibri"/>
              </a:rPr>
              <a:t>number</a:t>
            </a:r>
            <a:r>
              <a:rPr sz="1100" spc="195">
                <a:latin typeface="Calibri"/>
                <a:cs typeface="Calibri"/>
              </a:rPr>
              <a:t> </a:t>
            </a:r>
            <a:r>
              <a:rPr sz="1100">
                <a:latin typeface="Calibri"/>
                <a:cs typeface="Calibri"/>
              </a:rPr>
              <a:t>of</a:t>
            </a:r>
            <a:r>
              <a:rPr sz="1100" spc="200">
                <a:latin typeface="Calibri"/>
                <a:cs typeface="Calibri"/>
              </a:rPr>
              <a:t> </a:t>
            </a:r>
            <a:r>
              <a:rPr sz="1100" spc="-10">
                <a:latin typeface="Calibri"/>
                <a:cs typeface="Calibri"/>
              </a:rPr>
              <a:t>diseases </a:t>
            </a:r>
            <a:r>
              <a:rPr sz="1100">
                <a:latin typeface="Calibri"/>
                <a:cs typeface="Calibri"/>
              </a:rPr>
              <a:t>linked</a:t>
            </a:r>
            <a:r>
              <a:rPr sz="1100" spc="170">
                <a:latin typeface="Calibri"/>
                <a:cs typeface="Calibri"/>
              </a:rPr>
              <a:t> </a:t>
            </a:r>
            <a:r>
              <a:rPr sz="1100">
                <a:latin typeface="Calibri"/>
                <a:cs typeface="Calibri"/>
              </a:rPr>
              <a:t>to</a:t>
            </a:r>
            <a:r>
              <a:rPr sz="1100" spc="170">
                <a:latin typeface="Calibri"/>
                <a:cs typeface="Calibri"/>
              </a:rPr>
              <a:t> </a:t>
            </a:r>
            <a:r>
              <a:rPr sz="1100">
                <a:latin typeface="Calibri"/>
                <a:cs typeface="Calibri"/>
              </a:rPr>
              <a:t>lifestyle</a:t>
            </a:r>
            <a:r>
              <a:rPr sz="1100" spc="175">
                <a:latin typeface="Calibri"/>
                <a:cs typeface="Calibri"/>
              </a:rPr>
              <a:t> </a:t>
            </a:r>
            <a:r>
              <a:rPr sz="1100">
                <a:latin typeface="Calibri"/>
                <a:cs typeface="Calibri"/>
              </a:rPr>
              <a:t>choices.</a:t>
            </a:r>
            <a:r>
              <a:rPr sz="1100" spc="170">
                <a:latin typeface="Calibri"/>
                <a:cs typeface="Calibri"/>
              </a:rPr>
              <a:t> </a:t>
            </a:r>
            <a:r>
              <a:rPr sz="1100">
                <a:latin typeface="Calibri"/>
                <a:cs typeface="Calibri"/>
              </a:rPr>
              <a:t>Despite</a:t>
            </a:r>
            <a:r>
              <a:rPr sz="1100" spc="175">
                <a:latin typeface="Calibri"/>
                <a:cs typeface="Calibri"/>
              </a:rPr>
              <a:t> </a:t>
            </a:r>
            <a:r>
              <a:rPr sz="1100">
                <a:latin typeface="Calibri"/>
                <a:cs typeface="Calibri"/>
              </a:rPr>
              <a:t>having</a:t>
            </a:r>
            <a:r>
              <a:rPr sz="1100" spc="170">
                <a:latin typeface="Calibri"/>
                <a:cs typeface="Calibri"/>
              </a:rPr>
              <a:t> </a:t>
            </a:r>
            <a:r>
              <a:rPr sz="1100">
                <a:latin typeface="Calibri"/>
                <a:cs typeface="Calibri"/>
              </a:rPr>
              <a:t>access</a:t>
            </a:r>
            <a:r>
              <a:rPr sz="1100" spc="175">
                <a:latin typeface="Calibri"/>
                <a:cs typeface="Calibri"/>
              </a:rPr>
              <a:t> </a:t>
            </a:r>
            <a:r>
              <a:rPr sz="1100">
                <a:latin typeface="Calibri"/>
                <a:cs typeface="Calibri"/>
              </a:rPr>
              <a:t>to</a:t>
            </a:r>
            <a:r>
              <a:rPr sz="1100" spc="170">
                <a:latin typeface="Calibri"/>
                <a:cs typeface="Calibri"/>
              </a:rPr>
              <a:t> </a:t>
            </a:r>
            <a:r>
              <a:rPr sz="1100" spc="-20">
                <a:latin typeface="Calibri"/>
                <a:cs typeface="Calibri"/>
              </a:rPr>
              <a:t>food, </a:t>
            </a:r>
            <a:r>
              <a:rPr sz="1100">
                <a:latin typeface="Calibri"/>
                <a:cs typeface="Calibri"/>
              </a:rPr>
              <a:t>many</a:t>
            </a:r>
            <a:r>
              <a:rPr sz="1100" spc="-30">
                <a:latin typeface="Calibri"/>
                <a:cs typeface="Calibri"/>
              </a:rPr>
              <a:t> </a:t>
            </a:r>
            <a:r>
              <a:rPr sz="1100">
                <a:latin typeface="Calibri"/>
                <a:cs typeface="Calibri"/>
              </a:rPr>
              <a:t>people</a:t>
            </a:r>
            <a:r>
              <a:rPr sz="1100" spc="-30">
                <a:latin typeface="Calibri"/>
                <a:cs typeface="Calibri"/>
              </a:rPr>
              <a:t> </a:t>
            </a:r>
            <a:r>
              <a:rPr sz="1100">
                <a:latin typeface="Calibri"/>
                <a:cs typeface="Calibri"/>
              </a:rPr>
              <a:t>often</a:t>
            </a:r>
            <a:r>
              <a:rPr sz="1100" spc="-25">
                <a:latin typeface="Calibri"/>
                <a:cs typeface="Calibri"/>
              </a:rPr>
              <a:t> </a:t>
            </a:r>
            <a:r>
              <a:rPr sz="1100">
                <a:latin typeface="Calibri"/>
                <a:cs typeface="Calibri"/>
              </a:rPr>
              <a:t>do</a:t>
            </a:r>
            <a:r>
              <a:rPr sz="1100" spc="-30">
                <a:latin typeface="Calibri"/>
                <a:cs typeface="Calibri"/>
              </a:rPr>
              <a:t> </a:t>
            </a:r>
            <a:r>
              <a:rPr sz="1100">
                <a:latin typeface="Calibri"/>
                <a:cs typeface="Calibri"/>
              </a:rPr>
              <a:t>not</a:t>
            </a:r>
            <a:r>
              <a:rPr sz="1100" spc="-25">
                <a:latin typeface="Calibri"/>
                <a:cs typeface="Calibri"/>
              </a:rPr>
              <a:t> </a:t>
            </a:r>
            <a:r>
              <a:rPr sz="1100" spc="-10">
                <a:latin typeface="Calibri"/>
                <a:cs typeface="Calibri"/>
              </a:rPr>
              <a:t>understand</a:t>
            </a:r>
            <a:r>
              <a:rPr sz="1100" spc="-30">
                <a:latin typeface="Calibri"/>
                <a:cs typeface="Calibri"/>
              </a:rPr>
              <a:t> </a:t>
            </a:r>
            <a:r>
              <a:rPr sz="1100">
                <a:latin typeface="Calibri"/>
                <a:cs typeface="Calibri"/>
              </a:rPr>
              <a:t>the</a:t>
            </a:r>
            <a:r>
              <a:rPr sz="1100" spc="-25">
                <a:latin typeface="Calibri"/>
                <a:cs typeface="Calibri"/>
              </a:rPr>
              <a:t> </a:t>
            </a:r>
            <a:r>
              <a:rPr sz="1100" spc="-10">
                <a:latin typeface="Calibri"/>
                <a:cs typeface="Calibri"/>
              </a:rPr>
              <a:t>nutritional</a:t>
            </a:r>
            <a:r>
              <a:rPr sz="1100" spc="-30">
                <a:latin typeface="Calibri"/>
                <a:cs typeface="Calibri"/>
              </a:rPr>
              <a:t> </a:t>
            </a:r>
            <a:r>
              <a:rPr sz="1100" spc="-10">
                <a:latin typeface="Calibri"/>
                <a:cs typeface="Calibri"/>
              </a:rPr>
              <a:t>quality </a:t>
            </a:r>
            <a:r>
              <a:rPr sz="1100">
                <a:latin typeface="Calibri"/>
                <a:cs typeface="Calibri"/>
              </a:rPr>
              <a:t>of</a:t>
            </a:r>
            <a:r>
              <a:rPr sz="1100" spc="-30">
                <a:latin typeface="Calibri"/>
                <a:cs typeface="Calibri"/>
              </a:rPr>
              <a:t> </a:t>
            </a:r>
            <a:r>
              <a:rPr sz="1100">
                <a:latin typeface="Calibri"/>
                <a:cs typeface="Calibri"/>
              </a:rPr>
              <a:t>their</a:t>
            </a:r>
            <a:r>
              <a:rPr sz="1100" spc="-30">
                <a:latin typeface="Calibri"/>
                <a:cs typeface="Calibri"/>
              </a:rPr>
              <a:t> </a:t>
            </a:r>
            <a:r>
              <a:rPr sz="1100">
                <a:latin typeface="Calibri"/>
                <a:cs typeface="Calibri"/>
              </a:rPr>
              <a:t>daily</a:t>
            </a:r>
            <a:r>
              <a:rPr sz="1100" spc="-30">
                <a:latin typeface="Calibri"/>
                <a:cs typeface="Calibri"/>
              </a:rPr>
              <a:t> </a:t>
            </a:r>
            <a:r>
              <a:rPr sz="1100">
                <a:latin typeface="Calibri"/>
                <a:cs typeface="Calibri"/>
              </a:rPr>
              <a:t>meals.</a:t>
            </a:r>
            <a:r>
              <a:rPr sz="1100" spc="-30">
                <a:latin typeface="Calibri"/>
                <a:cs typeface="Calibri"/>
              </a:rPr>
              <a:t> </a:t>
            </a:r>
            <a:r>
              <a:rPr sz="1100">
                <a:latin typeface="Calibri"/>
                <a:cs typeface="Calibri"/>
              </a:rPr>
              <a:t>NutriVision</a:t>
            </a:r>
            <a:r>
              <a:rPr sz="1100" spc="-30">
                <a:latin typeface="Calibri"/>
                <a:cs typeface="Calibri"/>
              </a:rPr>
              <a:t> </a:t>
            </a:r>
            <a:r>
              <a:rPr sz="1100">
                <a:latin typeface="Calibri"/>
                <a:cs typeface="Calibri"/>
              </a:rPr>
              <a:t>tackles</a:t>
            </a:r>
            <a:r>
              <a:rPr sz="1100" spc="-30">
                <a:latin typeface="Calibri"/>
                <a:cs typeface="Calibri"/>
              </a:rPr>
              <a:t> </a:t>
            </a:r>
            <a:r>
              <a:rPr sz="1100">
                <a:latin typeface="Calibri"/>
                <a:cs typeface="Calibri"/>
              </a:rPr>
              <a:t>this</a:t>
            </a:r>
            <a:r>
              <a:rPr sz="1100" spc="-30">
                <a:latin typeface="Calibri"/>
                <a:cs typeface="Calibri"/>
              </a:rPr>
              <a:t> </a:t>
            </a:r>
            <a:r>
              <a:rPr sz="1100">
                <a:latin typeface="Calibri"/>
                <a:cs typeface="Calibri"/>
              </a:rPr>
              <a:t>issue</a:t>
            </a:r>
            <a:r>
              <a:rPr sz="1100" spc="-30">
                <a:latin typeface="Calibri"/>
                <a:cs typeface="Calibri"/>
              </a:rPr>
              <a:t> </a:t>
            </a:r>
            <a:r>
              <a:rPr sz="1100">
                <a:latin typeface="Calibri"/>
                <a:cs typeface="Calibri"/>
              </a:rPr>
              <a:t>by</a:t>
            </a:r>
            <a:r>
              <a:rPr sz="1100" spc="-30">
                <a:latin typeface="Calibri"/>
                <a:cs typeface="Calibri"/>
              </a:rPr>
              <a:t> </a:t>
            </a:r>
            <a:r>
              <a:rPr sz="1100" spc="-10">
                <a:latin typeface="Calibri"/>
                <a:cs typeface="Calibri"/>
              </a:rPr>
              <a:t>offering </a:t>
            </a:r>
            <a:r>
              <a:rPr sz="1100">
                <a:latin typeface="Calibri"/>
                <a:cs typeface="Calibri"/>
              </a:rPr>
              <a:t>a</a:t>
            </a:r>
            <a:r>
              <a:rPr sz="1100" spc="-35">
                <a:latin typeface="Calibri"/>
                <a:cs typeface="Calibri"/>
              </a:rPr>
              <a:t> </a:t>
            </a:r>
            <a:r>
              <a:rPr sz="1100">
                <a:latin typeface="Calibri"/>
                <a:cs typeface="Calibri"/>
              </a:rPr>
              <a:t>smart,</a:t>
            </a:r>
            <a:r>
              <a:rPr sz="1100" spc="-35">
                <a:latin typeface="Calibri"/>
                <a:cs typeface="Calibri"/>
              </a:rPr>
              <a:t> </a:t>
            </a:r>
            <a:r>
              <a:rPr sz="1100" spc="-10">
                <a:latin typeface="Calibri"/>
                <a:cs typeface="Calibri"/>
              </a:rPr>
              <a:t>vision-</a:t>
            </a:r>
            <a:r>
              <a:rPr sz="1100">
                <a:latin typeface="Calibri"/>
                <a:cs typeface="Calibri"/>
              </a:rPr>
              <a:t>based</a:t>
            </a:r>
            <a:r>
              <a:rPr sz="1100" spc="-35">
                <a:latin typeface="Calibri"/>
                <a:cs typeface="Calibri"/>
              </a:rPr>
              <a:t> </a:t>
            </a:r>
            <a:r>
              <a:rPr sz="1100">
                <a:latin typeface="Calibri"/>
                <a:cs typeface="Calibri"/>
              </a:rPr>
              <a:t>nutrition</a:t>
            </a:r>
            <a:r>
              <a:rPr sz="1100" spc="-35">
                <a:latin typeface="Calibri"/>
                <a:cs typeface="Calibri"/>
              </a:rPr>
              <a:t> </a:t>
            </a:r>
            <a:r>
              <a:rPr sz="1100">
                <a:latin typeface="Calibri"/>
                <a:cs typeface="Calibri"/>
              </a:rPr>
              <a:t>analysis</a:t>
            </a:r>
            <a:r>
              <a:rPr sz="1100" spc="-35">
                <a:latin typeface="Calibri"/>
                <a:cs typeface="Calibri"/>
              </a:rPr>
              <a:t> </a:t>
            </a:r>
            <a:r>
              <a:rPr sz="1100">
                <a:latin typeface="Calibri"/>
                <a:cs typeface="Calibri"/>
              </a:rPr>
              <a:t>system</a:t>
            </a:r>
            <a:r>
              <a:rPr sz="1100" spc="-30">
                <a:latin typeface="Calibri"/>
                <a:cs typeface="Calibri"/>
              </a:rPr>
              <a:t> </a:t>
            </a:r>
            <a:r>
              <a:rPr sz="1100">
                <a:latin typeface="Calibri"/>
                <a:cs typeface="Calibri"/>
              </a:rPr>
              <a:t>that</a:t>
            </a:r>
            <a:r>
              <a:rPr sz="1100" spc="-35">
                <a:latin typeface="Calibri"/>
                <a:cs typeface="Calibri"/>
              </a:rPr>
              <a:t> </a:t>
            </a:r>
            <a:r>
              <a:rPr sz="1100" spc="-10">
                <a:latin typeface="Calibri"/>
                <a:cs typeface="Calibri"/>
              </a:rPr>
              <a:t>assesses </a:t>
            </a:r>
            <a:r>
              <a:rPr sz="1100">
                <a:latin typeface="Calibri"/>
                <a:cs typeface="Calibri"/>
              </a:rPr>
              <a:t>food</a:t>
            </a:r>
            <a:r>
              <a:rPr sz="1100" spc="10">
                <a:latin typeface="Calibri"/>
                <a:cs typeface="Calibri"/>
              </a:rPr>
              <a:t> </a:t>
            </a:r>
            <a:r>
              <a:rPr sz="1100">
                <a:latin typeface="Calibri"/>
                <a:cs typeface="Calibri"/>
              </a:rPr>
              <a:t>consumption</a:t>
            </a:r>
            <a:r>
              <a:rPr sz="1100" spc="10">
                <a:latin typeface="Calibri"/>
                <a:cs typeface="Calibri"/>
              </a:rPr>
              <a:t> </a:t>
            </a:r>
            <a:r>
              <a:rPr sz="1100">
                <a:latin typeface="Calibri"/>
                <a:cs typeface="Calibri"/>
              </a:rPr>
              <a:t>in</a:t>
            </a:r>
            <a:r>
              <a:rPr sz="1100" spc="10">
                <a:latin typeface="Calibri"/>
                <a:cs typeface="Calibri"/>
              </a:rPr>
              <a:t> </a:t>
            </a:r>
            <a:r>
              <a:rPr sz="1100">
                <a:latin typeface="Calibri"/>
                <a:cs typeface="Calibri"/>
              </a:rPr>
              <a:t>real</a:t>
            </a:r>
            <a:r>
              <a:rPr sz="1100" spc="10">
                <a:latin typeface="Calibri"/>
                <a:cs typeface="Calibri"/>
              </a:rPr>
              <a:t> </a:t>
            </a:r>
            <a:r>
              <a:rPr sz="1100">
                <a:latin typeface="Calibri"/>
                <a:cs typeface="Calibri"/>
              </a:rPr>
              <a:t>time.</a:t>
            </a:r>
            <a:r>
              <a:rPr sz="1100" spc="15">
                <a:latin typeface="Calibri"/>
                <a:cs typeface="Calibri"/>
              </a:rPr>
              <a:t> </a:t>
            </a:r>
            <a:r>
              <a:rPr sz="1100">
                <a:latin typeface="Calibri"/>
                <a:cs typeface="Calibri"/>
              </a:rPr>
              <a:t>The</a:t>
            </a:r>
            <a:r>
              <a:rPr sz="1100" spc="10">
                <a:latin typeface="Calibri"/>
                <a:cs typeface="Calibri"/>
              </a:rPr>
              <a:t> </a:t>
            </a:r>
            <a:r>
              <a:rPr sz="1100">
                <a:latin typeface="Calibri"/>
                <a:cs typeface="Calibri"/>
              </a:rPr>
              <a:t>system</a:t>
            </a:r>
            <a:r>
              <a:rPr sz="1100" spc="10">
                <a:latin typeface="Calibri"/>
                <a:cs typeface="Calibri"/>
              </a:rPr>
              <a:t> </a:t>
            </a:r>
            <a:r>
              <a:rPr sz="1100">
                <a:latin typeface="Calibri"/>
                <a:cs typeface="Calibri"/>
              </a:rPr>
              <a:t>examines</a:t>
            </a:r>
            <a:r>
              <a:rPr sz="1100" spc="10">
                <a:latin typeface="Calibri"/>
                <a:cs typeface="Calibri"/>
              </a:rPr>
              <a:t> </a:t>
            </a:r>
            <a:r>
              <a:rPr sz="1100" spc="-10">
                <a:latin typeface="Calibri"/>
                <a:cs typeface="Calibri"/>
              </a:rPr>
              <a:t>meals </a:t>
            </a:r>
            <a:r>
              <a:rPr sz="1100">
                <a:latin typeface="Calibri"/>
                <a:cs typeface="Calibri"/>
              </a:rPr>
              <a:t>to</a:t>
            </a:r>
            <a:r>
              <a:rPr sz="1100" spc="120">
                <a:latin typeface="Calibri"/>
                <a:cs typeface="Calibri"/>
              </a:rPr>
              <a:t> </a:t>
            </a:r>
            <a:r>
              <a:rPr sz="1100">
                <a:latin typeface="Calibri"/>
                <a:cs typeface="Calibri"/>
              </a:rPr>
              <a:t>give</a:t>
            </a:r>
            <a:r>
              <a:rPr sz="1100" spc="120">
                <a:latin typeface="Calibri"/>
                <a:cs typeface="Calibri"/>
              </a:rPr>
              <a:t> </a:t>
            </a:r>
            <a:r>
              <a:rPr sz="1100">
                <a:latin typeface="Calibri"/>
                <a:cs typeface="Calibri"/>
              </a:rPr>
              <a:t>insights</a:t>
            </a:r>
            <a:r>
              <a:rPr sz="1100" spc="125">
                <a:latin typeface="Calibri"/>
                <a:cs typeface="Calibri"/>
              </a:rPr>
              <a:t> </a:t>
            </a:r>
            <a:r>
              <a:rPr sz="1100">
                <a:latin typeface="Calibri"/>
                <a:cs typeface="Calibri"/>
              </a:rPr>
              <a:t>into</a:t>
            </a:r>
            <a:r>
              <a:rPr sz="1100" spc="120">
                <a:latin typeface="Calibri"/>
                <a:cs typeface="Calibri"/>
              </a:rPr>
              <a:t> </a:t>
            </a:r>
            <a:r>
              <a:rPr sz="1100">
                <a:latin typeface="Calibri"/>
                <a:cs typeface="Calibri"/>
              </a:rPr>
              <a:t>meal</a:t>
            </a:r>
            <a:r>
              <a:rPr sz="1100" spc="125">
                <a:latin typeface="Calibri"/>
                <a:cs typeface="Calibri"/>
              </a:rPr>
              <a:t> </a:t>
            </a:r>
            <a:r>
              <a:rPr sz="1100">
                <a:latin typeface="Calibri"/>
                <a:cs typeface="Calibri"/>
              </a:rPr>
              <a:t>balance</a:t>
            </a:r>
            <a:r>
              <a:rPr sz="1100" spc="120">
                <a:latin typeface="Calibri"/>
                <a:cs typeface="Calibri"/>
              </a:rPr>
              <a:t> </a:t>
            </a:r>
            <a:r>
              <a:rPr sz="1100">
                <a:latin typeface="Calibri"/>
                <a:cs typeface="Calibri"/>
              </a:rPr>
              <a:t>and</a:t>
            </a:r>
            <a:r>
              <a:rPr sz="1100" spc="120">
                <a:latin typeface="Calibri"/>
                <a:cs typeface="Calibri"/>
              </a:rPr>
              <a:t> </a:t>
            </a:r>
            <a:r>
              <a:rPr sz="1100">
                <a:latin typeface="Calibri"/>
                <a:cs typeface="Calibri"/>
              </a:rPr>
              <a:t>dietary</a:t>
            </a:r>
            <a:r>
              <a:rPr sz="1100" spc="125">
                <a:latin typeface="Calibri"/>
                <a:cs typeface="Calibri"/>
              </a:rPr>
              <a:t> </a:t>
            </a:r>
            <a:r>
              <a:rPr sz="1100">
                <a:latin typeface="Calibri"/>
                <a:cs typeface="Calibri"/>
              </a:rPr>
              <a:t>gaps.</a:t>
            </a:r>
            <a:r>
              <a:rPr sz="1100" spc="120">
                <a:latin typeface="Calibri"/>
                <a:cs typeface="Calibri"/>
              </a:rPr>
              <a:t> </a:t>
            </a:r>
            <a:r>
              <a:rPr sz="1100" spc="-10">
                <a:latin typeface="Calibri"/>
                <a:cs typeface="Calibri"/>
              </a:rPr>
              <a:t>Using </a:t>
            </a:r>
            <a:r>
              <a:rPr sz="1100">
                <a:latin typeface="Calibri"/>
                <a:cs typeface="Calibri"/>
              </a:rPr>
              <a:t>Deep</a:t>
            </a:r>
            <a:r>
              <a:rPr sz="1100" spc="-10">
                <a:latin typeface="Calibri"/>
                <a:cs typeface="Calibri"/>
              </a:rPr>
              <a:t> </a:t>
            </a:r>
            <a:r>
              <a:rPr sz="1100">
                <a:latin typeface="Calibri"/>
                <a:cs typeface="Calibri"/>
              </a:rPr>
              <a:t>Learning</a:t>
            </a:r>
            <a:r>
              <a:rPr sz="1100" spc="-10">
                <a:latin typeface="Calibri"/>
                <a:cs typeface="Calibri"/>
              </a:rPr>
              <a:t> </a:t>
            </a:r>
            <a:r>
              <a:rPr sz="1100">
                <a:latin typeface="Calibri"/>
                <a:cs typeface="Calibri"/>
              </a:rPr>
              <a:t>models</a:t>
            </a:r>
            <a:r>
              <a:rPr sz="1100" spc="-5">
                <a:latin typeface="Calibri"/>
                <a:cs typeface="Calibri"/>
              </a:rPr>
              <a:t> </a:t>
            </a:r>
            <a:r>
              <a:rPr sz="1100">
                <a:latin typeface="Calibri"/>
                <a:cs typeface="Calibri"/>
              </a:rPr>
              <a:t>with</a:t>
            </a:r>
            <a:r>
              <a:rPr sz="1100" spc="-10">
                <a:latin typeface="Calibri"/>
                <a:cs typeface="Calibri"/>
              </a:rPr>
              <a:t> </a:t>
            </a:r>
            <a:r>
              <a:rPr sz="1100">
                <a:latin typeface="Calibri"/>
                <a:cs typeface="Calibri"/>
              </a:rPr>
              <a:t>Python</a:t>
            </a:r>
            <a:r>
              <a:rPr sz="1100" spc="-10">
                <a:latin typeface="Calibri"/>
                <a:cs typeface="Calibri"/>
              </a:rPr>
              <a:t> </a:t>
            </a:r>
            <a:r>
              <a:rPr sz="1100">
                <a:latin typeface="Calibri"/>
                <a:cs typeface="Calibri"/>
              </a:rPr>
              <a:t>and</a:t>
            </a:r>
            <a:r>
              <a:rPr sz="1100" spc="-5">
                <a:latin typeface="Calibri"/>
                <a:cs typeface="Calibri"/>
              </a:rPr>
              <a:t> </a:t>
            </a:r>
            <a:r>
              <a:rPr sz="1100">
                <a:latin typeface="Calibri"/>
                <a:cs typeface="Calibri"/>
              </a:rPr>
              <a:t>Pandas</a:t>
            </a:r>
            <a:r>
              <a:rPr sz="1100" spc="-10">
                <a:latin typeface="Calibri"/>
                <a:cs typeface="Calibri"/>
              </a:rPr>
              <a:t> </a:t>
            </a:r>
            <a:r>
              <a:rPr sz="1100">
                <a:latin typeface="Calibri"/>
                <a:cs typeface="Calibri"/>
              </a:rPr>
              <a:t>for</a:t>
            </a:r>
            <a:r>
              <a:rPr sz="1100" spc="-10">
                <a:latin typeface="Calibri"/>
                <a:cs typeface="Calibri"/>
              </a:rPr>
              <a:t> handling </a:t>
            </a:r>
            <a:r>
              <a:rPr sz="1100">
                <a:latin typeface="Calibri"/>
                <a:cs typeface="Calibri"/>
              </a:rPr>
              <a:t>nutritional</a:t>
            </a:r>
            <a:r>
              <a:rPr sz="1100" spc="210">
                <a:latin typeface="Calibri"/>
                <a:cs typeface="Calibri"/>
              </a:rPr>
              <a:t> </a:t>
            </a:r>
            <a:r>
              <a:rPr sz="1100">
                <a:latin typeface="Calibri"/>
                <a:cs typeface="Calibri"/>
              </a:rPr>
              <a:t>datasets,</a:t>
            </a:r>
            <a:r>
              <a:rPr sz="1100" spc="210">
                <a:latin typeface="Calibri"/>
                <a:cs typeface="Calibri"/>
              </a:rPr>
              <a:t> </a:t>
            </a:r>
            <a:r>
              <a:rPr sz="1100">
                <a:latin typeface="Calibri"/>
                <a:cs typeface="Calibri"/>
              </a:rPr>
              <a:t>the</a:t>
            </a:r>
            <a:r>
              <a:rPr sz="1100" spc="210">
                <a:latin typeface="Calibri"/>
                <a:cs typeface="Calibri"/>
              </a:rPr>
              <a:t> </a:t>
            </a:r>
            <a:r>
              <a:rPr sz="1100">
                <a:latin typeface="Calibri"/>
                <a:cs typeface="Calibri"/>
              </a:rPr>
              <a:t>system</a:t>
            </a:r>
            <a:r>
              <a:rPr sz="1100" spc="210">
                <a:latin typeface="Calibri"/>
                <a:cs typeface="Calibri"/>
              </a:rPr>
              <a:t> </a:t>
            </a:r>
            <a:r>
              <a:rPr sz="1100">
                <a:latin typeface="Calibri"/>
                <a:cs typeface="Calibri"/>
              </a:rPr>
              <a:t>analyses</a:t>
            </a:r>
            <a:r>
              <a:rPr sz="1100" spc="215">
                <a:latin typeface="Calibri"/>
                <a:cs typeface="Calibri"/>
              </a:rPr>
              <a:t> </a:t>
            </a:r>
            <a:r>
              <a:rPr sz="1100">
                <a:latin typeface="Calibri"/>
                <a:cs typeface="Calibri"/>
              </a:rPr>
              <a:t>food</a:t>
            </a:r>
            <a:r>
              <a:rPr sz="1100" spc="210">
                <a:latin typeface="Calibri"/>
                <a:cs typeface="Calibri"/>
              </a:rPr>
              <a:t> </a:t>
            </a:r>
            <a:r>
              <a:rPr sz="1100">
                <a:latin typeface="Calibri"/>
                <a:cs typeface="Calibri"/>
              </a:rPr>
              <a:t>images</a:t>
            </a:r>
            <a:r>
              <a:rPr sz="1100" spc="210">
                <a:latin typeface="Calibri"/>
                <a:cs typeface="Calibri"/>
              </a:rPr>
              <a:t> </a:t>
            </a:r>
            <a:r>
              <a:rPr sz="1100" spc="-35">
                <a:latin typeface="Calibri"/>
                <a:cs typeface="Calibri"/>
              </a:rPr>
              <a:t>to </a:t>
            </a:r>
            <a:r>
              <a:rPr sz="1100">
                <a:latin typeface="Calibri"/>
                <a:cs typeface="Calibri"/>
              </a:rPr>
              <a:t>estimate</a:t>
            </a:r>
            <a:r>
              <a:rPr sz="1100" spc="330">
                <a:latin typeface="Calibri"/>
                <a:cs typeface="Calibri"/>
              </a:rPr>
              <a:t> </a:t>
            </a:r>
            <a:r>
              <a:rPr sz="1100">
                <a:latin typeface="Calibri"/>
                <a:cs typeface="Calibri"/>
              </a:rPr>
              <a:t>nutritional</a:t>
            </a:r>
            <a:r>
              <a:rPr sz="1100" spc="335">
                <a:latin typeface="Calibri"/>
                <a:cs typeface="Calibri"/>
              </a:rPr>
              <a:t> </a:t>
            </a:r>
            <a:r>
              <a:rPr sz="1100">
                <a:latin typeface="Calibri"/>
                <a:cs typeface="Calibri"/>
              </a:rPr>
              <a:t>content</a:t>
            </a:r>
            <a:r>
              <a:rPr sz="1100" spc="335">
                <a:latin typeface="Calibri"/>
                <a:cs typeface="Calibri"/>
              </a:rPr>
              <a:t> </a:t>
            </a:r>
            <a:r>
              <a:rPr sz="1100">
                <a:latin typeface="Calibri"/>
                <a:cs typeface="Calibri"/>
              </a:rPr>
              <a:t>through</a:t>
            </a:r>
            <a:r>
              <a:rPr sz="1100" spc="335">
                <a:latin typeface="Calibri"/>
                <a:cs typeface="Calibri"/>
              </a:rPr>
              <a:t> </a:t>
            </a:r>
            <a:r>
              <a:rPr sz="1100">
                <a:latin typeface="Calibri"/>
                <a:cs typeface="Calibri"/>
              </a:rPr>
              <a:t>Data</a:t>
            </a:r>
            <a:r>
              <a:rPr sz="1100" spc="335">
                <a:latin typeface="Calibri"/>
                <a:cs typeface="Calibri"/>
              </a:rPr>
              <a:t> </a:t>
            </a:r>
            <a:r>
              <a:rPr sz="1100" spc="-10">
                <a:latin typeface="Calibri"/>
                <a:cs typeface="Calibri"/>
              </a:rPr>
              <a:t>Visuali</a:t>
            </a:r>
            <a:r>
              <a:rPr lang="en-IN" sz="1100" spc="-9">
                <a:latin typeface="Calibri"/>
                <a:cs typeface="Calibri"/>
              </a:rPr>
              <a:t>s</a:t>
            </a:r>
            <a:r>
              <a:rPr sz="1100" spc="-9">
                <a:latin typeface="Calibri"/>
                <a:cs typeface="Calibri"/>
              </a:rPr>
              <a:t>ation. </a:t>
            </a:r>
            <a:r>
              <a:rPr sz="1100">
                <a:latin typeface="Calibri"/>
                <a:cs typeface="Calibri"/>
              </a:rPr>
              <a:t>This</a:t>
            </a:r>
            <a:r>
              <a:rPr sz="1100" spc="175">
                <a:latin typeface="Calibri"/>
                <a:cs typeface="Calibri"/>
              </a:rPr>
              <a:t>  </a:t>
            </a:r>
            <a:r>
              <a:rPr sz="1100">
                <a:latin typeface="Calibri"/>
                <a:cs typeface="Calibri"/>
              </a:rPr>
              <a:t>project</a:t>
            </a:r>
            <a:r>
              <a:rPr sz="1100" spc="175">
                <a:latin typeface="Calibri"/>
                <a:cs typeface="Calibri"/>
              </a:rPr>
              <a:t>  </a:t>
            </a:r>
            <a:r>
              <a:rPr sz="1100">
                <a:latin typeface="Calibri"/>
                <a:cs typeface="Calibri"/>
              </a:rPr>
              <a:t>will</a:t>
            </a:r>
            <a:r>
              <a:rPr sz="1100" spc="175">
                <a:latin typeface="Calibri"/>
                <a:cs typeface="Calibri"/>
              </a:rPr>
              <a:t>  </a:t>
            </a:r>
            <a:r>
              <a:rPr sz="1100">
                <a:latin typeface="Calibri"/>
                <a:cs typeface="Calibri"/>
              </a:rPr>
              <a:t>uniquely</a:t>
            </a:r>
            <a:r>
              <a:rPr sz="1100" spc="175">
                <a:latin typeface="Calibri"/>
                <a:cs typeface="Calibri"/>
              </a:rPr>
              <a:t>  </a:t>
            </a:r>
            <a:r>
              <a:rPr sz="1100">
                <a:latin typeface="Calibri"/>
                <a:cs typeface="Calibri"/>
              </a:rPr>
              <a:t>integrates</a:t>
            </a:r>
            <a:r>
              <a:rPr sz="1100" spc="175">
                <a:latin typeface="Calibri"/>
                <a:cs typeface="Calibri"/>
              </a:rPr>
              <a:t>  </a:t>
            </a:r>
            <a:r>
              <a:rPr sz="1100">
                <a:latin typeface="Calibri"/>
                <a:cs typeface="Calibri"/>
              </a:rPr>
              <a:t>gamification</a:t>
            </a:r>
            <a:r>
              <a:rPr sz="1100" spc="175">
                <a:latin typeface="Calibri"/>
                <a:cs typeface="Calibri"/>
              </a:rPr>
              <a:t>  </a:t>
            </a:r>
            <a:r>
              <a:rPr sz="1100" spc="-35">
                <a:latin typeface="Calibri"/>
                <a:cs typeface="Calibri"/>
              </a:rPr>
              <a:t>by </a:t>
            </a:r>
            <a:r>
              <a:rPr sz="1100">
                <a:latin typeface="Calibri"/>
                <a:cs typeface="Calibri"/>
              </a:rPr>
              <a:t>rewarding for</a:t>
            </a:r>
            <a:r>
              <a:rPr sz="1100" spc="5">
                <a:latin typeface="Calibri"/>
                <a:cs typeface="Calibri"/>
              </a:rPr>
              <a:t> </a:t>
            </a:r>
            <a:r>
              <a:rPr sz="1100">
                <a:latin typeface="Calibri"/>
                <a:cs typeface="Calibri"/>
              </a:rPr>
              <a:t>Meal</a:t>
            </a:r>
            <a:r>
              <a:rPr sz="1100" spc="5">
                <a:latin typeface="Calibri"/>
                <a:cs typeface="Calibri"/>
              </a:rPr>
              <a:t> </a:t>
            </a:r>
            <a:r>
              <a:rPr sz="1100">
                <a:latin typeface="Calibri"/>
                <a:cs typeface="Calibri"/>
              </a:rPr>
              <a:t>Score,</a:t>
            </a:r>
            <a:r>
              <a:rPr sz="1100" spc="5">
                <a:latin typeface="Calibri"/>
                <a:cs typeface="Calibri"/>
              </a:rPr>
              <a:t> </a:t>
            </a:r>
            <a:r>
              <a:rPr sz="1100">
                <a:latin typeface="Calibri"/>
                <a:cs typeface="Calibri"/>
              </a:rPr>
              <a:t>which</a:t>
            </a:r>
            <a:r>
              <a:rPr sz="1100" spc="5">
                <a:latin typeface="Calibri"/>
                <a:cs typeface="Calibri"/>
              </a:rPr>
              <a:t> </a:t>
            </a:r>
            <a:r>
              <a:rPr sz="1100">
                <a:latin typeface="Calibri"/>
                <a:cs typeface="Calibri"/>
              </a:rPr>
              <a:t>will depend</a:t>
            </a:r>
            <a:r>
              <a:rPr sz="1100" spc="5">
                <a:latin typeface="Calibri"/>
                <a:cs typeface="Calibri"/>
              </a:rPr>
              <a:t> </a:t>
            </a:r>
            <a:r>
              <a:rPr sz="1100">
                <a:latin typeface="Calibri"/>
                <a:cs typeface="Calibri"/>
              </a:rPr>
              <a:t>on</a:t>
            </a:r>
            <a:r>
              <a:rPr sz="1100" spc="5">
                <a:latin typeface="Calibri"/>
                <a:cs typeface="Calibri"/>
              </a:rPr>
              <a:t> </a:t>
            </a:r>
            <a:r>
              <a:rPr sz="1100">
                <a:latin typeface="Calibri"/>
                <a:cs typeface="Calibri"/>
              </a:rPr>
              <a:t>factors</a:t>
            </a:r>
            <a:r>
              <a:rPr sz="1100" spc="5">
                <a:latin typeface="Calibri"/>
                <a:cs typeface="Calibri"/>
              </a:rPr>
              <a:t> </a:t>
            </a:r>
            <a:r>
              <a:rPr sz="1100" spc="-20">
                <a:latin typeface="Calibri"/>
                <a:cs typeface="Calibri"/>
              </a:rPr>
              <a:t>like </a:t>
            </a:r>
            <a:r>
              <a:rPr sz="1100">
                <a:latin typeface="Calibri"/>
                <a:cs typeface="Calibri"/>
              </a:rPr>
              <a:t>Meal</a:t>
            </a:r>
            <a:r>
              <a:rPr sz="1100" spc="165">
                <a:latin typeface="Calibri"/>
                <a:cs typeface="Calibri"/>
              </a:rPr>
              <a:t> </a:t>
            </a:r>
            <a:r>
              <a:rPr sz="1100">
                <a:latin typeface="Calibri"/>
                <a:cs typeface="Calibri"/>
              </a:rPr>
              <a:t>Quality</a:t>
            </a:r>
            <a:r>
              <a:rPr sz="1100" spc="165">
                <a:latin typeface="Calibri"/>
                <a:cs typeface="Calibri"/>
              </a:rPr>
              <a:t> </a:t>
            </a:r>
            <a:r>
              <a:rPr sz="1100">
                <a:latin typeface="Calibri"/>
                <a:cs typeface="Calibri"/>
              </a:rPr>
              <a:t>Score,</a:t>
            </a:r>
            <a:r>
              <a:rPr sz="1100" spc="165">
                <a:latin typeface="Calibri"/>
                <a:cs typeface="Calibri"/>
              </a:rPr>
              <a:t> </a:t>
            </a:r>
            <a:r>
              <a:rPr sz="1100">
                <a:latin typeface="Calibri"/>
                <a:cs typeface="Calibri"/>
              </a:rPr>
              <a:t>Balanced</a:t>
            </a:r>
            <a:r>
              <a:rPr sz="1100" spc="165">
                <a:latin typeface="Calibri"/>
                <a:cs typeface="Calibri"/>
              </a:rPr>
              <a:t> </a:t>
            </a:r>
            <a:r>
              <a:rPr sz="1100">
                <a:latin typeface="Calibri"/>
                <a:cs typeface="Calibri"/>
              </a:rPr>
              <a:t>Diet</a:t>
            </a:r>
            <a:r>
              <a:rPr sz="1100" spc="165">
                <a:latin typeface="Calibri"/>
                <a:cs typeface="Calibri"/>
              </a:rPr>
              <a:t> </a:t>
            </a:r>
            <a:r>
              <a:rPr sz="1100">
                <a:latin typeface="Calibri"/>
                <a:cs typeface="Calibri"/>
              </a:rPr>
              <a:t>Score,</a:t>
            </a:r>
            <a:r>
              <a:rPr sz="1100" spc="165">
                <a:latin typeface="Calibri"/>
                <a:cs typeface="Calibri"/>
              </a:rPr>
              <a:t> </a:t>
            </a:r>
            <a:r>
              <a:rPr sz="1100">
                <a:latin typeface="Calibri"/>
                <a:cs typeface="Calibri"/>
              </a:rPr>
              <a:t>Nutrition</a:t>
            </a:r>
            <a:r>
              <a:rPr sz="1100" spc="165">
                <a:latin typeface="Calibri"/>
                <a:cs typeface="Calibri"/>
              </a:rPr>
              <a:t> </a:t>
            </a:r>
            <a:r>
              <a:rPr sz="1100" spc="-10">
                <a:latin typeface="Calibri"/>
                <a:cs typeface="Calibri"/>
              </a:rPr>
              <a:t>Levels </a:t>
            </a:r>
            <a:r>
              <a:rPr sz="1100">
                <a:latin typeface="Calibri"/>
                <a:cs typeface="Calibri"/>
              </a:rPr>
              <a:t>and</a:t>
            </a:r>
            <a:r>
              <a:rPr sz="1100" spc="310">
                <a:latin typeface="Calibri"/>
                <a:cs typeface="Calibri"/>
              </a:rPr>
              <a:t> </a:t>
            </a:r>
            <a:r>
              <a:rPr sz="1100">
                <a:latin typeface="Calibri"/>
                <a:cs typeface="Calibri"/>
              </a:rPr>
              <a:t>simple</a:t>
            </a:r>
            <a:r>
              <a:rPr sz="1100" spc="315">
                <a:latin typeface="Calibri"/>
                <a:cs typeface="Calibri"/>
              </a:rPr>
              <a:t> </a:t>
            </a:r>
            <a:r>
              <a:rPr sz="1100">
                <a:latin typeface="Calibri"/>
                <a:cs typeface="Calibri"/>
              </a:rPr>
              <a:t>Daily/Weekly</a:t>
            </a:r>
            <a:r>
              <a:rPr sz="1100" spc="315">
                <a:latin typeface="Calibri"/>
                <a:cs typeface="Calibri"/>
              </a:rPr>
              <a:t> </a:t>
            </a:r>
            <a:r>
              <a:rPr sz="1100">
                <a:latin typeface="Calibri"/>
                <a:cs typeface="Calibri"/>
              </a:rPr>
              <a:t>Challenges.</a:t>
            </a:r>
            <a:r>
              <a:rPr sz="1100" spc="310">
                <a:latin typeface="Calibri"/>
                <a:cs typeface="Calibri"/>
              </a:rPr>
              <a:t> </a:t>
            </a:r>
            <a:r>
              <a:rPr sz="1100">
                <a:latin typeface="Calibri"/>
                <a:cs typeface="Calibri"/>
              </a:rPr>
              <a:t>This</a:t>
            </a:r>
            <a:r>
              <a:rPr sz="1100" spc="315">
                <a:latin typeface="Calibri"/>
                <a:cs typeface="Calibri"/>
              </a:rPr>
              <a:t> </a:t>
            </a:r>
            <a:r>
              <a:rPr sz="1100">
                <a:latin typeface="Calibri"/>
                <a:cs typeface="Calibri"/>
              </a:rPr>
              <a:t>approach</a:t>
            </a:r>
            <a:r>
              <a:rPr sz="1100" spc="315">
                <a:latin typeface="Calibri"/>
                <a:cs typeface="Calibri"/>
              </a:rPr>
              <a:t> </a:t>
            </a:r>
            <a:r>
              <a:rPr sz="1100" spc="-20">
                <a:latin typeface="Calibri"/>
                <a:cs typeface="Calibri"/>
              </a:rPr>
              <a:t>will </a:t>
            </a:r>
            <a:r>
              <a:rPr sz="1100">
                <a:latin typeface="Calibri"/>
                <a:cs typeface="Calibri"/>
              </a:rPr>
              <a:t>encourage</a:t>
            </a:r>
            <a:r>
              <a:rPr sz="1100" spc="254">
                <a:latin typeface="Calibri"/>
                <a:cs typeface="Calibri"/>
              </a:rPr>
              <a:t>  </a:t>
            </a:r>
            <a:r>
              <a:rPr sz="1100">
                <a:latin typeface="Calibri"/>
                <a:cs typeface="Calibri"/>
              </a:rPr>
              <a:t>sustained</a:t>
            </a:r>
            <a:r>
              <a:rPr sz="1100" spc="254">
                <a:latin typeface="Calibri"/>
                <a:cs typeface="Calibri"/>
              </a:rPr>
              <a:t>  </a:t>
            </a:r>
            <a:r>
              <a:rPr sz="1100">
                <a:latin typeface="Calibri"/>
                <a:cs typeface="Calibri"/>
              </a:rPr>
              <a:t>user</a:t>
            </a:r>
            <a:r>
              <a:rPr sz="1100" spc="260">
                <a:latin typeface="Calibri"/>
                <a:cs typeface="Calibri"/>
              </a:rPr>
              <a:t>  </a:t>
            </a:r>
            <a:r>
              <a:rPr sz="1100">
                <a:latin typeface="Calibri"/>
                <a:cs typeface="Calibri"/>
              </a:rPr>
              <a:t>engagement</a:t>
            </a:r>
            <a:r>
              <a:rPr sz="1100" spc="254">
                <a:latin typeface="Calibri"/>
                <a:cs typeface="Calibri"/>
              </a:rPr>
              <a:t>  </a:t>
            </a:r>
            <a:r>
              <a:rPr sz="1100">
                <a:latin typeface="Calibri"/>
                <a:cs typeface="Calibri"/>
              </a:rPr>
              <a:t>and</a:t>
            </a:r>
            <a:r>
              <a:rPr sz="1100" spc="260">
                <a:latin typeface="Calibri"/>
                <a:cs typeface="Calibri"/>
              </a:rPr>
              <a:t>  </a:t>
            </a:r>
            <a:r>
              <a:rPr sz="1100" spc="-10">
                <a:latin typeface="Calibri"/>
                <a:cs typeface="Calibri"/>
              </a:rPr>
              <a:t>gradual </a:t>
            </a:r>
            <a:r>
              <a:rPr sz="1100">
                <a:latin typeface="Calibri"/>
                <a:cs typeface="Calibri"/>
              </a:rPr>
              <a:t>improvement</a:t>
            </a:r>
            <a:r>
              <a:rPr sz="1100" spc="-35">
                <a:latin typeface="Calibri"/>
                <a:cs typeface="Calibri"/>
              </a:rPr>
              <a:t> </a:t>
            </a:r>
            <a:r>
              <a:rPr sz="1100">
                <a:latin typeface="Calibri"/>
                <a:cs typeface="Calibri"/>
              </a:rPr>
              <a:t>in</a:t>
            </a:r>
            <a:r>
              <a:rPr sz="1100" spc="-30">
                <a:latin typeface="Calibri"/>
                <a:cs typeface="Calibri"/>
              </a:rPr>
              <a:t> </a:t>
            </a:r>
            <a:r>
              <a:rPr sz="1100">
                <a:latin typeface="Calibri"/>
                <a:cs typeface="Calibri"/>
              </a:rPr>
              <a:t>dietary</a:t>
            </a:r>
            <a:r>
              <a:rPr sz="1100" spc="-30">
                <a:latin typeface="Calibri"/>
                <a:cs typeface="Calibri"/>
              </a:rPr>
              <a:t> </a:t>
            </a:r>
            <a:r>
              <a:rPr sz="1100" spc="-10">
                <a:latin typeface="Calibri"/>
                <a:cs typeface="Calibri"/>
              </a:rPr>
              <a:t>habits.</a:t>
            </a:r>
            <a:endParaRPr sz="1100">
              <a:latin typeface="Calibri"/>
              <a:cs typeface="Calibri"/>
            </a:endParaRPr>
          </a:p>
          <a:p>
            <a:pPr marL="12700" marR="5080" indent="449580" algn="just">
              <a:lnSpc>
                <a:spcPct val="117000"/>
              </a:lnSpc>
              <a:defRPr/>
            </a:pPr>
            <a:r>
              <a:rPr sz="1100" i="1">
                <a:latin typeface="Calibri"/>
                <a:cs typeface="Calibri"/>
              </a:rPr>
              <a:t>INDEX</a:t>
            </a:r>
            <a:r>
              <a:rPr sz="1100" i="1" spc="210">
                <a:latin typeface="Calibri"/>
                <a:cs typeface="Calibri"/>
              </a:rPr>
              <a:t>  </a:t>
            </a:r>
            <a:r>
              <a:rPr sz="1100" i="1">
                <a:latin typeface="Calibri"/>
                <a:cs typeface="Calibri"/>
              </a:rPr>
              <a:t>TERMS:</a:t>
            </a:r>
            <a:r>
              <a:rPr sz="1100" i="1" spc="210">
                <a:latin typeface="Calibri"/>
                <a:cs typeface="Calibri"/>
              </a:rPr>
              <a:t>  </a:t>
            </a:r>
            <a:r>
              <a:rPr sz="1100" i="1">
                <a:latin typeface="Calibri"/>
                <a:cs typeface="Calibri"/>
              </a:rPr>
              <a:t>food</a:t>
            </a:r>
            <a:r>
              <a:rPr sz="1100" i="1" spc="215">
                <a:latin typeface="Calibri"/>
                <a:cs typeface="Calibri"/>
              </a:rPr>
              <a:t>  </a:t>
            </a:r>
            <a:r>
              <a:rPr sz="1100" i="1">
                <a:latin typeface="Calibri"/>
                <a:cs typeface="Calibri"/>
              </a:rPr>
              <a:t>image</a:t>
            </a:r>
            <a:r>
              <a:rPr sz="1100" i="1" spc="210">
                <a:latin typeface="Calibri"/>
                <a:cs typeface="Calibri"/>
              </a:rPr>
              <a:t>  </a:t>
            </a:r>
            <a:r>
              <a:rPr sz="1100" i="1">
                <a:latin typeface="Calibri"/>
                <a:cs typeface="Calibri"/>
              </a:rPr>
              <a:t>recognition,</a:t>
            </a:r>
            <a:r>
              <a:rPr sz="1100" i="1" spc="210">
                <a:latin typeface="Calibri"/>
                <a:cs typeface="Calibri"/>
              </a:rPr>
              <a:t>  </a:t>
            </a:r>
            <a:r>
              <a:rPr sz="1100" i="1" spc="-20">
                <a:latin typeface="Calibri"/>
                <a:cs typeface="Calibri"/>
              </a:rPr>
              <a:t>deep </a:t>
            </a:r>
            <a:r>
              <a:rPr sz="1100" i="1">
                <a:latin typeface="Calibri"/>
                <a:cs typeface="Calibri"/>
              </a:rPr>
              <a:t>learning,</a:t>
            </a:r>
            <a:r>
              <a:rPr sz="1100" i="1" spc="245">
                <a:latin typeface="Calibri"/>
                <a:cs typeface="Calibri"/>
              </a:rPr>
              <a:t> </a:t>
            </a:r>
            <a:r>
              <a:rPr sz="1100" i="1">
                <a:latin typeface="Calibri"/>
                <a:cs typeface="Calibri"/>
              </a:rPr>
              <a:t>YOLO,</a:t>
            </a:r>
            <a:r>
              <a:rPr sz="1100" i="1" spc="250">
                <a:latin typeface="Calibri"/>
                <a:cs typeface="Calibri"/>
              </a:rPr>
              <a:t> </a:t>
            </a:r>
            <a:r>
              <a:rPr sz="1100" i="1">
                <a:latin typeface="Calibri"/>
                <a:cs typeface="Calibri"/>
              </a:rPr>
              <a:t>dietary</a:t>
            </a:r>
            <a:r>
              <a:rPr sz="1100" i="1" spc="250">
                <a:latin typeface="Calibri"/>
                <a:cs typeface="Calibri"/>
              </a:rPr>
              <a:t> </a:t>
            </a:r>
            <a:r>
              <a:rPr sz="1100" i="1">
                <a:latin typeface="Calibri"/>
                <a:cs typeface="Calibri"/>
              </a:rPr>
              <a:t>assessment,</a:t>
            </a:r>
            <a:r>
              <a:rPr sz="1100" i="1" spc="250">
                <a:latin typeface="Calibri"/>
                <a:cs typeface="Calibri"/>
              </a:rPr>
              <a:t> </a:t>
            </a:r>
            <a:r>
              <a:rPr sz="1100" i="1">
                <a:latin typeface="Calibri"/>
                <a:cs typeface="Calibri"/>
              </a:rPr>
              <a:t>nutrition</a:t>
            </a:r>
            <a:r>
              <a:rPr sz="1100" i="1" spc="245">
                <a:latin typeface="Calibri"/>
                <a:cs typeface="Calibri"/>
              </a:rPr>
              <a:t> </a:t>
            </a:r>
            <a:r>
              <a:rPr sz="1100" i="1" spc="-10">
                <a:latin typeface="Calibri"/>
                <a:cs typeface="Calibri"/>
              </a:rPr>
              <a:t>estimation, </a:t>
            </a:r>
            <a:r>
              <a:rPr sz="1100" i="1">
                <a:latin typeface="Calibri"/>
                <a:cs typeface="Calibri"/>
              </a:rPr>
              <a:t>gamification,</a:t>
            </a:r>
            <a:r>
              <a:rPr sz="1100" i="1" spc="235">
                <a:latin typeface="Calibri"/>
                <a:cs typeface="Calibri"/>
              </a:rPr>
              <a:t>  </a:t>
            </a:r>
            <a:r>
              <a:rPr sz="1100" i="1">
                <a:latin typeface="Calibri"/>
                <a:cs typeface="Calibri"/>
              </a:rPr>
              <a:t>meal</a:t>
            </a:r>
            <a:r>
              <a:rPr sz="1100" i="1" spc="235">
                <a:latin typeface="Calibri"/>
                <a:cs typeface="Calibri"/>
              </a:rPr>
              <a:t>  </a:t>
            </a:r>
            <a:r>
              <a:rPr sz="1100" i="1">
                <a:latin typeface="Calibri"/>
                <a:cs typeface="Calibri"/>
              </a:rPr>
              <a:t>quality</a:t>
            </a:r>
            <a:r>
              <a:rPr sz="1100" i="1" spc="235">
                <a:latin typeface="Calibri"/>
                <a:cs typeface="Calibri"/>
              </a:rPr>
              <a:t>  </a:t>
            </a:r>
            <a:r>
              <a:rPr sz="1100" i="1">
                <a:latin typeface="Calibri"/>
                <a:cs typeface="Calibri"/>
              </a:rPr>
              <a:t>scoring,</a:t>
            </a:r>
            <a:r>
              <a:rPr sz="1100" i="1" spc="240">
                <a:latin typeface="Calibri"/>
                <a:cs typeface="Calibri"/>
              </a:rPr>
              <a:t>  </a:t>
            </a:r>
            <a:r>
              <a:rPr sz="1100" i="1">
                <a:latin typeface="Calibri"/>
                <a:cs typeface="Calibri"/>
              </a:rPr>
              <a:t>computer</a:t>
            </a:r>
            <a:r>
              <a:rPr sz="1100" i="1" spc="235">
                <a:latin typeface="Calibri"/>
                <a:cs typeface="Calibri"/>
              </a:rPr>
              <a:t>  </a:t>
            </a:r>
            <a:r>
              <a:rPr sz="1100" i="1" spc="-10">
                <a:latin typeface="Calibri"/>
                <a:cs typeface="Calibri"/>
              </a:rPr>
              <a:t>vision, </a:t>
            </a:r>
            <a:r>
              <a:rPr sz="1100" i="1">
                <a:latin typeface="Calibri"/>
                <a:cs typeface="Calibri"/>
              </a:rPr>
              <a:t>precision</a:t>
            </a:r>
            <a:r>
              <a:rPr sz="1100" i="1" spc="-50">
                <a:latin typeface="Calibri"/>
                <a:cs typeface="Calibri"/>
              </a:rPr>
              <a:t> </a:t>
            </a:r>
            <a:r>
              <a:rPr sz="1100" i="1" spc="-10">
                <a:latin typeface="Calibri"/>
                <a:cs typeface="Calibri"/>
              </a:rPr>
              <a:t>nutrition</a:t>
            </a:r>
            <a:endParaRPr sz="1100">
              <a:latin typeface="Calibri"/>
              <a:cs typeface="Calibri"/>
            </a:endParaRPr>
          </a:p>
        </p:txBody>
      </p:sp>
      <p:sp>
        <p:nvSpPr>
          <p:cNvPr id="707540369" name="object 9"/>
          <p:cNvSpPr txBox="1"/>
          <p:nvPr/>
        </p:nvSpPr>
        <p:spPr bwMode="auto">
          <a:xfrm>
            <a:off x="1558608" y="7369024"/>
            <a:ext cx="1160780" cy="238760"/>
          </a:xfrm>
          <a:prstGeom prst="rect">
            <a:avLst/>
          </a:prstGeom>
        </p:spPr>
        <p:txBody>
          <a:bodyPr vert="horz" wrap="square" lIns="0" tIns="12700" rIns="0" bIns="0" rtlCol="0">
            <a:spAutoFit/>
          </a:bodyPr>
          <a:lstStyle/>
          <a:p>
            <a:pPr marL="12700">
              <a:lnSpc>
                <a:spcPct val="100000"/>
              </a:lnSpc>
              <a:spcBef>
                <a:spcPts val="100"/>
              </a:spcBef>
              <a:defRPr/>
            </a:pPr>
            <a:r>
              <a:rPr sz="1200" b="1">
                <a:latin typeface="Times New Roman"/>
                <a:cs typeface="Times New Roman"/>
              </a:rPr>
              <a:t>I</a:t>
            </a:r>
            <a:r>
              <a:rPr sz="1400" b="1">
                <a:latin typeface="Times New Roman"/>
                <a:cs typeface="Times New Roman"/>
              </a:rPr>
              <a:t>.</a:t>
            </a:r>
            <a:r>
              <a:rPr sz="1400" b="1" spc="-105">
                <a:latin typeface="Times New Roman"/>
                <a:cs typeface="Times New Roman"/>
              </a:rPr>
              <a:t> </a:t>
            </a:r>
            <a:r>
              <a:rPr sz="1200" b="1" spc="-10">
                <a:latin typeface="Calibri"/>
                <a:cs typeface="Calibri"/>
              </a:rPr>
              <a:t>INTRODUCTION</a:t>
            </a:r>
            <a:endParaRPr sz="1200">
              <a:latin typeface="Calibri"/>
              <a:cs typeface="Calibri"/>
            </a:endParaRPr>
          </a:p>
        </p:txBody>
      </p:sp>
      <p:sp>
        <p:nvSpPr>
          <p:cNvPr id="179395148" name="object 10"/>
          <p:cNvSpPr txBox="1"/>
          <p:nvPr/>
        </p:nvSpPr>
        <p:spPr bwMode="auto">
          <a:xfrm>
            <a:off x="425790" y="7583633"/>
            <a:ext cx="3425190" cy="1790700"/>
          </a:xfrm>
          <a:prstGeom prst="rect">
            <a:avLst/>
          </a:prstGeom>
        </p:spPr>
        <p:txBody>
          <a:bodyPr vert="horz" wrap="square" lIns="0" tIns="12700" rIns="0" bIns="0" rtlCol="0">
            <a:spAutoFit/>
          </a:bodyPr>
          <a:lstStyle/>
          <a:p>
            <a:pPr marL="12700" marR="5080" algn="just">
              <a:lnSpc>
                <a:spcPct val="117000"/>
              </a:lnSpc>
              <a:spcBef>
                <a:spcPts val="100"/>
              </a:spcBef>
              <a:defRPr/>
            </a:pPr>
            <a:r>
              <a:rPr sz="1100" spc="-10">
                <a:latin typeface="Calibri"/>
                <a:cs typeface="Calibri"/>
              </a:rPr>
              <a:t>Diet-</a:t>
            </a:r>
            <a:r>
              <a:rPr sz="1100">
                <a:latin typeface="Calibri"/>
                <a:cs typeface="Calibri"/>
              </a:rPr>
              <a:t>related</a:t>
            </a:r>
            <a:r>
              <a:rPr sz="1100" spc="350">
                <a:latin typeface="Calibri"/>
                <a:cs typeface="Calibri"/>
              </a:rPr>
              <a:t>  </a:t>
            </a:r>
            <a:r>
              <a:rPr sz="1100" spc="-10">
                <a:latin typeface="Calibri"/>
                <a:cs typeface="Calibri"/>
              </a:rPr>
              <a:t>non-</a:t>
            </a:r>
            <a:r>
              <a:rPr sz="1100">
                <a:latin typeface="Calibri"/>
                <a:cs typeface="Calibri"/>
              </a:rPr>
              <a:t>communicable</a:t>
            </a:r>
            <a:r>
              <a:rPr sz="1100" spc="355">
                <a:latin typeface="Calibri"/>
                <a:cs typeface="Calibri"/>
              </a:rPr>
              <a:t>  </a:t>
            </a:r>
            <a:r>
              <a:rPr sz="1100">
                <a:latin typeface="Calibri"/>
                <a:cs typeface="Calibri"/>
              </a:rPr>
              <a:t>diseases</a:t>
            </a:r>
            <a:r>
              <a:rPr sz="1100" spc="355">
                <a:latin typeface="Calibri"/>
                <a:cs typeface="Calibri"/>
              </a:rPr>
              <a:t>  </a:t>
            </a:r>
            <a:r>
              <a:rPr sz="1100">
                <a:latin typeface="Calibri"/>
                <a:cs typeface="Calibri"/>
              </a:rPr>
              <a:t>(NCDs)</a:t>
            </a:r>
            <a:r>
              <a:rPr sz="1100" spc="355">
                <a:latin typeface="Calibri"/>
                <a:cs typeface="Calibri"/>
              </a:rPr>
              <a:t>  </a:t>
            </a:r>
            <a:r>
              <a:rPr sz="1100" spc="-50">
                <a:latin typeface="Calibri"/>
                <a:cs typeface="Calibri"/>
              </a:rPr>
              <a:t>—</a:t>
            </a:r>
            <a:r>
              <a:rPr sz="1100">
                <a:latin typeface="Calibri"/>
                <a:cs typeface="Calibri"/>
              </a:rPr>
              <a:t> cardiovascular</a:t>
            </a:r>
            <a:r>
              <a:rPr sz="1100" spc="-25">
                <a:latin typeface="Calibri"/>
                <a:cs typeface="Calibri"/>
              </a:rPr>
              <a:t> </a:t>
            </a:r>
            <a:r>
              <a:rPr sz="1100">
                <a:latin typeface="Calibri"/>
                <a:cs typeface="Calibri"/>
              </a:rPr>
              <a:t>disease,</a:t>
            </a:r>
            <a:r>
              <a:rPr sz="1100" spc="-25">
                <a:latin typeface="Calibri"/>
                <a:cs typeface="Calibri"/>
              </a:rPr>
              <a:t> </a:t>
            </a:r>
            <a:r>
              <a:rPr sz="1100">
                <a:latin typeface="Calibri"/>
                <a:cs typeface="Calibri"/>
              </a:rPr>
              <a:t>type</a:t>
            </a:r>
            <a:r>
              <a:rPr sz="1100" spc="-25">
                <a:latin typeface="Calibri"/>
                <a:cs typeface="Calibri"/>
              </a:rPr>
              <a:t> </a:t>
            </a:r>
            <a:r>
              <a:rPr sz="1100">
                <a:latin typeface="Calibri"/>
                <a:cs typeface="Calibri"/>
              </a:rPr>
              <a:t>2</a:t>
            </a:r>
            <a:r>
              <a:rPr sz="1100" spc="-25">
                <a:latin typeface="Calibri"/>
                <a:cs typeface="Calibri"/>
              </a:rPr>
              <a:t> </a:t>
            </a:r>
            <a:r>
              <a:rPr sz="1100">
                <a:latin typeface="Calibri"/>
                <a:cs typeface="Calibri"/>
              </a:rPr>
              <a:t>diabetes,</a:t>
            </a:r>
            <a:r>
              <a:rPr sz="1100" spc="-25">
                <a:latin typeface="Calibri"/>
                <a:cs typeface="Calibri"/>
              </a:rPr>
              <a:t> </a:t>
            </a:r>
            <a:r>
              <a:rPr sz="1100">
                <a:latin typeface="Calibri"/>
                <a:cs typeface="Calibri"/>
              </a:rPr>
              <a:t>and</a:t>
            </a:r>
            <a:r>
              <a:rPr sz="1100" spc="-20">
                <a:latin typeface="Calibri"/>
                <a:cs typeface="Calibri"/>
              </a:rPr>
              <a:t> </a:t>
            </a:r>
            <a:r>
              <a:rPr sz="1100">
                <a:latin typeface="Calibri"/>
                <a:cs typeface="Calibri"/>
              </a:rPr>
              <a:t>various</a:t>
            </a:r>
            <a:r>
              <a:rPr sz="1100" spc="-25">
                <a:latin typeface="Calibri"/>
                <a:cs typeface="Calibri"/>
              </a:rPr>
              <a:t> </a:t>
            </a:r>
            <a:r>
              <a:rPr sz="1100" spc="-10">
                <a:latin typeface="Calibri"/>
                <a:cs typeface="Calibri"/>
              </a:rPr>
              <a:t>cancers</a:t>
            </a:r>
            <a:endParaRPr sz="1100">
              <a:latin typeface="Calibri"/>
              <a:cs typeface="Calibri"/>
            </a:endParaRPr>
          </a:p>
          <a:p>
            <a:pPr marL="12700" marR="5080" algn="just">
              <a:lnSpc>
                <a:spcPct val="117000"/>
              </a:lnSpc>
              <a:defRPr/>
            </a:pPr>
            <a:r>
              <a:rPr sz="1100">
                <a:latin typeface="Calibri"/>
                <a:cs typeface="Calibri"/>
              </a:rPr>
              <a:t>—</a:t>
            </a:r>
            <a:r>
              <a:rPr sz="1100" spc="140">
                <a:latin typeface="Calibri"/>
                <a:cs typeface="Calibri"/>
              </a:rPr>
              <a:t> </a:t>
            </a:r>
            <a:r>
              <a:rPr sz="1100">
                <a:latin typeface="Calibri"/>
                <a:cs typeface="Calibri"/>
              </a:rPr>
              <a:t>remain</a:t>
            </a:r>
            <a:r>
              <a:rPr sz="1100" spc="145">
                <a:latin typeface="Calibri"/>
                <a:cs typeface="Calibri"/>
              </a:rPr>
              <a:t> </a:t>
            </a:r>
            <a:r>
              <a:rPr sz="1100">
                <a:latin typeface="Calibri"/>
                <a:cs typeface="Calibri"/>
              </a:rPr>
              <a:t>among</a:t>
            </a:r>
            <a:r>
              <a:rPr sz="1100" spc="145">
                <a:latin typeface="Calibri"/>
                <a:cs typeface="Calibri"/>
              </a:rPr>
              <a:t> </a:t>
            </a:r>
            <a:r>
              <a:rPr sz="1100">
                <a:latin typeface="Calibri"/>
                <a:cs typeface="Calibri"/>
              </a:rPr>
              <a:t>the</a:t>
            </a:r>
            <a:r>
              <a:rPr sz="1100" spc="140">
                <a:latin typeface="Calibri"/>
                <a:cs typeface="Calibri"/>
              </a:rPr>
              <a:t> </a:t>
            </a:r>
            <a:r>
              <a:rPr sz="1100">
                <a:latin typeface="Calibri"/>
                <a:cs typeface="Calibri"/>
              </a:rPr>
              <a:t>leading</a:t>
            </a:r>
            <a:r>
              <a:rPr sz="1100" spc="145">
                <a:latin typeface="Calibri"/>
                <a:cs typeface="Calibri"/>
              </a:rPr>
              <a:t> </a:t>
            </a:r>
            <a:r>
              <a:rPr sz="1100">
                <a:latin typeface="Calibri"/>
                <a:cs typeface="Calibri"/>
              </a:rPr>
              <a:t>causes</a:t>
            </a:r>
            <a:r>
              <a:rPr sz="1100" spc="145">
                <a:latin typeface="Calibri"/>
                <a:cs typeface="Calibri"/>
              </a:rPr>
              <a:t> </a:t>
            </a:r>
            <a:r>
              <a:rPr sz="1100">
                <a:latin typeface="Calibri"/>
                <a:cs typeface="Calibri"/>
              </a:rPr>
              <a:t>of</a:t>
            </a:r>
            <a:r>
              <a:rPr sz="1100" spc="145">
                <a:latin typeface="Calibri"/>
                <a:cs typeface="Calibri"/>
              </a:rPr>
              <a:t> </a:t>
            </a:r>
            <a:r>
              <a:rPr sz="1100">
                <a:latin typeface="Calibri"/>
                <a:cs typeface="Calibri"/>
              </a:rPr>
              <a:t>death</a:t>
            </a:r>
            <a:r>
              <a:rPr sz="1100" spc="140">
                <a:latin typeface="Calibri"/>
                <a:cs typeface="Calibri"/>
              </a:rPr>
              <a:t> </a:t>
            </a:r>
            <a:r>
              <a:rPr sz="1100" spc="-10">
                <a:latin typeface="Calibri"/>
                <a:cs typeface="Calibri"/>
              </a:rPr>
              <a:t>worldwide, </a:t>
            </a:r>
            <a:r>
              <a:rPr sz="1100">
                <a:latin typeface="Calibri"/>
                <a:cs typeface="Calibri"/>
              </a:rPr>
              <a:t>and</a:t>
            </a:r>
            <a:r>
              <a:rPr sz="1100" spc="45">
                <a:latin typeface="Calibri"/>
                <a:cs typeface="Calibri"/>
              </a:rPr>
              <a:t> </a:t>
            </a:r>
            <a:r>
              <a:rPr sz="1100">
                <a:latin typeface="Calibri"/>
                <a:cs typeface="Calibri"/>
              </a:rPr>
              <a:t>unhealthy</a:t>
            </a:r>
            <a:r>
              <a:rPr sz="1100" spc="45">
                <a:latin typeface="Calibri"/>
                <a:cs typeface="Calibri"/>
              </a:rPr>
              <a:t> </a:t>
            </a:r>
            <a:r>
              <a:rPr sz="1100">
                <a:latin typeface="Calibri"/>
                <a:cs typeface="Calibri"/>
              </a:rPr>
              <a:t>diet</a:t>
            </a:r>
            <a:r>
              <a:rPr sz="1100" spc="50">
                <a:latin typeface="Calibri"/>
                <a:cs typeface="Calibri"/>
              </a:rPr>
              <a:t> </a:t>
            </a:r>
            <a:r>
              <a:rPr sz="1100">
                <a:latin typeface="Calibri"/>
                <a:cs typeface="Calibri"/>
              </a:rPr>
              <a:t>is</a:t>
            </a:r>
            <a:r>
              <a:rPr sz="1100" spc="45">
                <a:latin typeface="Calibri"/>
                <a:cs typeface="Calibri"/>
              </a:rPr>
              <a:t> </a:t>
            </a:r>
            <a:r>
              <a:rPr sz="1100">
                <a:latin typeface="Calibri"/>
                <a:cs typeface="Calibri"/>
              </a:rPr>
              <a:t>consistently</a:t>
            </a:r>
            <a:r>
              <a:rPr sz="1100" spc="45">
                <a:latin typeface="Calibri"/>
                <a:cs typeface="Calibri"/>
              </a:rPr>
              <a:t> </a:t>
            </a:r>
            <a:r>
              <a:rPr sz="1100">
                <a:latin typeface="Calibri"/>
                <a:cs typeface="Calibri"/>
              </a:rPr>
              <a:t>identified</a:t>
            </a:r>
            <a:r>
              <a:rPr sz="1100" spc="50">
                <a:latin typeface="Calibri"/>
                <a:cs typeface="Calibri"/>
              </a:rPr>
              <a:t> </a:t>
            </a:r>
            <a:r>
              <a:rPr sz="1100">
                <a:latin typeface="Calibri"/>
                <a:cs typeface="Calibri"/>
              </a:rPr>
              <a:t>as</a:t>
            </a:r>
            <a:r>
              <a:rPr sz="1100" spc="45">
                <a:latin typeface="Calibri"/>
                <a:cs typeface="Calibri"/>
              </a:rPr>
              <a:t> </a:t>
            </a:r>
            <a:r>
              <a:rPr sz="1100">
                <a:latin typeface="Calibri"/>
                <a:cs typeface="Calibri"/>
              </a:rPr>
              <a:t>one</a:t>
            </a:r>
            <a:r>
              <a:rPr sz="1100" spc="45">
                <a:latin typeface="Calibri"/>
                <a:cs typeface="Calibri"/>
              </a:rPr>
              <a:t> </a:t>
            </a:r>
            <a:r>
              <a:rPr sz="1100">
                <a:latin typeface="Calibri"/>
                <a:cs typeface="Calibri"/>
              </a:rPr>
              <a:t>of</a:t>
            </a:r>
            <a:r>
              <a:rPr sz="1100" spc="50">
                <a:latin typeface="Calibri"/>
                <a:cs typeface="Calibri"/>
              </a:rPr>
              <a:t> </a:t>
            </a:r>
            <a:r>
              <a:rPr sz="1100" spc="-10">
                <a:latin typeface="Calibri"/>
                <a:cs typeface="Calibri"/>
              </a:rPr>
              <a:t>their </a:t>
            </a:r>
            <a:r>
              <a:rPr sz="1100">
                <a:latin typeface="Calibri"/>
                <a:cs typeface="Calibri"/>
              </a:rPr>
              <a:t>major modifiable risk factors [1]. Recent global </a:t>
            </a:r>
            <a:r>
              <a:rPr sz="1100" spc="-10">
                <a:latin typeface="Calibri"/>
                <a:cs typeface="Calibri"/>
              </a:rPr>
              <a:t>burden-</a:t>
            </a:r>
            <a:r>
              <a:rPr sz="1100" spc="-25">
                <a:latin typeface="Calibri"/>
                <a:cs typeface="Calibri"/>
              </a:rPr>
              <a:t>of-</a:t>
            </a:r>
            <a:r>
              <a:rPr sz="1100" spc="-10">
                <a:latin typeface="Calibri"/>
                <a:cs typeface="Calibri"/>
              </a:rPr>
              <a:t>disease</a:t>
            </a:r>
            <a:r>
              <a:rPr sz="1100" spc="-25">
                <a:latin typeface="Calibri"/>
                <a:cs typeface="Calibri"/>
              </a:rPr>
              <a:t> </a:t>
            </a:r>
            <a:r>
              <a:rPr sz="1100" spc="-10">
                <a:latin typeface="Calibri"/>
                <a:cs typeface="Calibri"/>
              </a:rPr>
              <a:t>modeling</a:t>
            </a:r>
            <a:r>
              <a:rPr sz="1100" spc="-20">
                <a:latin typeface="Calibri"/>
                <a:cs typeface="Calibri"/>
              </a:rPr>
              <a:t> </a:t>
            </a:r>
            <a:r>
              <a:rPr sz="1100" spc="-10">
                <a:latin typeface="Calibri"/>
                <a:cs typeface="Calibri"/>
              </a:rPr>
              <a:t>shows</a:t>
            </a:r>
            <a:r>
              <a:rPr sz="1100" spc="-20">
                <a:latin typeface="Calibri"/>
                <a:cs typeface="Calibri"/>
              </a:rPr>
              <a:t> </a:t>
            </a:r>
            <a:r>
              <a:rPr sz="1100" spc="-10">
                <a:latin typeface="Calibri"/>
                <a:cs typeface="Calibri"/>
              </a:rPr>
              <a:t>dietary</a:t>
            </a:r>
            <a:r>
              <a:rPr sz="1100" spc="-25">
                <a:latin typeface="Calibri"/>
                <a:cs typeface="Calibri"/>
              </a:rPr>
              <a:t> </a:t>
            </a:r>
            <a:r>
              <a:rPr sz="1100" spc="-10">
                <a:latin typeface="Calibri"/>
                <a:cs typeface="Calibri"/>
              </a:rPr>
              <a:t>risk</a:t>
            </a:r>
            <a:r>
              <a:rPr sz="1100" spc="-20">
                <a:latin typeface="Calibri"/>
                <a:cs typeface="Calibri"/>
              </a:rPr>
              <a:t> </a:t>
            </a:r>
            <a:r>
              <a:rPr sz="1100" spc="-10">
                <a:latin typeface="Calibri"/>
                <a:cs typeface="Calibri"/>
              </a:rPr>
              <a:t>continuing</a:t>
            </a:r>
            <a:r>
              <a:rPr sz="1100" spc="-20">
                <a:latin typeface="Calibri"/>
                <a:cs typeface="Calibri"/>
              </a:rPr>
              <a:t> </a:t>
            </a:r>
            <a:r>
              <a:rPr sz="1100">
                <a:latin typeface="Calibri"/>
                <a:cs typeface="Calibri"/>
              </a:rPr>
              <a:t>to</a:t>
            </a:r>
            <a:r>
              <a:rPr sz="1100" spc="-25">
                <a:latin typeface="Calibri"/>
                <a:cs typeface="Calibri"/>
              </a:rPr>
              <a:t> </a:t>
            </a:r>
            <a:r>
              <a:rPr sz="1100" spc="-10">
                <a:latin typeface="Calibri"/>
                <a:cs typeface="Calibri"/>
              </a:rPr>
              <a:t>contribute </a:t>
            </a:r>
            <a:r>
              <a:rPr sz="1100">
                <a:latin typeface="Calibri"/>
                <a:cs typeface="Calibri"/>
              </a:rPr>
              <a:t>a substantial share of </a:t>
            </a:r>
            <a:r>
              <a:rPr sz="1100" spc="-10">
                <a:latin typeface="Calibri"/>
                <a:cs typeface="Calibri"/>
              </a:rPr>
              <a:t>NCD-</a:t>
            </a:r>
            <a:r>
              <a:rPr sz="1100">
                <a:latin typeface="Calibri"/>
                <a:cs typeface="Calibri"/>
              </a:rPr>
              <a:t>related deaths and </a:t>
            </a:r>
            <a:r>
              <a:rPr sz="1100" spc="-10">
                <a:latin typeface="Calibri"/>
                <a:cs typeface="Calibri"/>
              </a:rPr>
              <a:t>disability-</a:t>
            </a:r>
            <a:r>
              <a:rPr sz="1100">
                <a:latin typeface="Calibri"/>
                <a:cs typeface="Calibri"/>
              </a:rPr>
              <a:t>adjusted</a:t>
            </a:r>
            <a:r>
              <a:rPr sz="1100" spc="55">
                <a:latin typeface="Calibri"/>
                <a:cs typeface="Calibri"/>
              </a:rPr>
              <a:t> </a:t>
            </a:r>
            <a:r>
              <a:rPr sz="1100">
                <a:latin typeface="Calibri"/>
                <a:cs typeface="Calibri"/>
              </a:rPr>
              <a:t>life</a:t>
            </a:r>
            <a:r>
              <a:rPr sz="1100" spc="55">
                <a:latin typeface="Calibri"/>
                <a:cs typeface="Calibri"/>
              </a:rPr>
              <a:t> </a:t>
            </a:r>
            <a:r>
              <a:rPr sz="1100">
                <a:latin typeface="Calibri"/>
                <a:cs typeface="Calibri"/>
              </a:rPr>
              <a:t>years,</a:t>
            </a:r>
            <a:r>
              <a:rPr sz="1100" spc="55">
                <a:latin typeface="Calibri"/>
                <a:cs typeface="Calibri"/>
              </a:rPr>
              <a:t> </a:t>
            </a:r>
            <a:r>
              <a:rPr sz="1100">
                <a:latin typeface="Calibri"/>
                <a:cs typeface="Calibri"/>
              </a:rPr>
              <a:t>alongside</a:t>
            </a:r>
            <a:r>
              <a:rPr sz="1100" spc="60">
                <a:latin typeface="Calibri"/>
                <a:cs typeface="Calibri"/>
              </a:rPr>
              <a:t> </a:t>
            </a:r>
            <a:r>
              <a:rPr sz="1100">
                <a:latin typeface="Calibri"/>
                <a:cs typeface="Calibri"/>
              </a:rPr>
              <a:t>risk</a:t>
            </a:r>
            <a:r>
              <a:rPr sz="1100" spc="55">
                <a:latin typeface="Calibri"/>
                <a:cs typeface="Calibri"/>
              </a:rPr>
              <a:t> </a:t>
            </a:r>
            <a:r>
              <a:rPr sz="1100">
                <a:latin typeface="Calibri"/>
                <a:cs typeface="Calibri"/>
              </a:rPr>
              <a:t>factors</a:t>
            </a:r>
            <a:r>
              <a:rPr sz="1100" spc="55">
                <a:latin typeface="Calibri"/>
                <a:cs typeface="Calibri"/>
              </a:rPr>
              <a:t> </a:t>
            </a:r>
            <a:r>
              <a:rPr sz="1100">
                <a:latin typeface="Calibri"/>
                <a:cs typeface="Calibri"/>
              </a:rPr>
              <a:t>like</a:t>
            </a:r>
            <a:r>
              <a:rPr sz="1100" spc="55">
                <a:latin typeface="Calibri"/>
                <a:cs typeface="Calibri"/>
              </a:rPr>
              <a:t> </a:t>
            </a:r>
            <a:r>
              <a:rPr sz="1100">
                <a:latin typeface="Calibri"/>
                <a:cs typeface="Calibri"/>
              </a:rPr>
              <a:t>high</a:t>
            </a:r>
            <a:r>
              <a:rPr sz="1100" spc="60">
                <a:latin typeface="Calibri"/>
                <a:cs typeface="Calibri"/>
              </a:rPr>
              <a:t> </a:t>
            </a:r>
            <a:r>
              <a:rPr sz="1100">
                <a:latin typeface="Calibri"/>
                <a:cs typeface="Calibri"/>
              </a:rPr>
              <a:t>BMI</a:t>
            </a:r>
            <a:r>
              <a:rPr sz="1100" spc="55">
                <a:latin typeface="Calibri"/>
                <a:cs typeface="Calibri"/>
              </a:rPr>
              <a:t> </a:t>
            </a:r>
            <a:r>
              <a:rPr sz="1100" spc="-25">
                <a:latin typeface="Calibri"/>
                <a:cs typeface="Calibri"/>
              </a:rPr>
              <a:t>and </a:t>
            </a:r>
            <a:r>
              <a:rPr sz="1100">
                <a:latin typeface="Calibri"/>
                <a:cs typeface="Calibri"/>
              </a:rPr>
              <a:t>elevated</a:t>
            </a:r>
            <a:r>
              <a:rPr sz="1100" spc="-30">
                <a:latin typeface="Calibri"/>
                <a:cs typeface="Calibri"/>
              </a:rPr>
              <a:t> </a:t>
            </a:r>
            <a:r>
              <a:rPr sz="1100">
                <a:latin typeface="Calibri"/>
                <a:cs typeface="Calibri"/>
              </a:rPr>
              <a:t>blood</a:t>
            </a:r>
            <a:r>
              <a:rPr sz="1100" spc="-25">
                <a:latin typeface="Calibri"/>
                <a:cs typeface="Calibri"/>
              </a:rPr>
              <a:t> </a:t>
            </a:r>
            <a:r>
              <a:rPr sz="1100">
                <a:latin typeface="Calibri"/>
                <a:cs typeface="Calibri"/>
              </a:rPr>
              <a:t>glucose</a:t>
            </a:r>
            <a:r>
              <a:rPr sz="1100" spc="-25">
                <a:latin typeface="Calibri"/>
                <a:cs typeface="Calibri"/>
              </a:rPr>
              <a:t> </a:t>
            </a:r>
            <a:r>
              <a:rPr sz="1100" spc="-20">
                <a:latin typeface="Calibri"/>
                <a:cs typeface="Calibri"/>
              </a:rPr>
              <a:t>[2].</a:t>
            </a:r>
            <a:endParaRPr sz="1100">
              <a:latin typeface="Calibri"/>
              <a:cs typeface="Calibri"/>
            </a:endParaRPr>
          </a:p>
        </p:txBody>
      </p:sp>
      <p:sp>
        <p:nvSpPr>
          <p:cNvPr id="670629539" name="object 12"/>
          <p:cNvSpPr txBox="1"/>
          <p:nvPr/>
        </p:nvSpPr>
        <p:spPr bwMode="auto">
          <a:xfrm>
            <a:off x="4121489" y="2835136"/>
            <a:ext cx="3345815" cy="1398270"/>
          </a:xfrm>
          <a:prstGeom prst="rect">
            <a:avLst/>
          </a:prstGeom>
        </p:spPr>
        <p:txBody>
          <a:bodyPr vert="horz" wrap="square" lIns="0" tIns="12700" rIns="0" bIns="0" rtlCol="0">
            <a:spAutoFit/>
          </a:bodyPr>
          <a:lstStyle/>
          <a:p>
            <a:pPr marL="12700" marR="5080" indent="31115">
              <a:lnSpc>
                <a:spcPct val="117000"/>
              </a:lnSpc>
              <a:spcBef>
                <a:spcPts val="100"/>
              </a:spcBef>
              <a:defRPr/>
            </a:pPr>
            <a:r>
              <a:rPr sz="1100">
                <a:latin typeface="Calibri"/>
                <a:cs typeface="Calibri"/>
              </a:rPr>
              <a:t>A</a:t>
            </a:r>
            <a:r>
              <a:rPr sz="1100" spc="-10">
                <a:latin typeface="Calibri"/>
                <a:cs typeface="Calibri"/>
              </a:rPr>
              <a:t> </a:t>
            </a:r>
            <a:r>
              <a:rPr sz="1100">
                <a:latin typeface="Calibri"/>
                <a:cs typeface="Calibri"/>
              </a:rPr>
              <a:t>large</a:t>
            </a:r>
            <a:r>
              <a:rPr sz="1100" spc="-10">
                <a:latin typeface="Calibri"/>
                <a:cs typeface="Calibri"/>
              </a:rPr>
              <a:t> </a:t>
            </a:r>
            <a:r>
              <a:rPr sz="1100">
                <a:latin typeface="Calibri"/>
                <a:cs typeface="Calibri"/>
              </a:rPr>
              <a:t>part</a:t>
            </a:r>
            <a:r>
              <a:rPr sz="1100" spc="-10">
                <a:latin typeface="Calibri"/>
                <a:cs typeface="Calibri"/>
              </a:rPr>
              <a:t> </a:t>
            </a:r>
            <a:r>
              <a:rPr sz="1100">
                <a:latin typeface="Calibri"/>
                <a:cs typeface="Calibri"/>
              </a:rPr>
              <a:t>of</a:t>
            </a:r>
            <a:r>
              <a:rPr sz="1100" spc="-10">
                <a:latin typeface="Calibri"/>
                <a:cs typeface="Calibri"/>
              </a:rPr>
              <a:t> </a:t>
            </a:r>
            <a:r>
              <a:rPr sz="1100">
                <a:latin typeface="Calibri"/>
                <a:cs typeface="Calibri"/>
              </a:rPr>
              <a:t>the</a:t>
            </a:r>
            <a:r>
              <a:rPr sz="1100" spc="-10">
                <a:latin typeface="Calibri"/>
                <a:cs typeface="Calibri"/>
              </a:rPr>
              <a:t> </a:t>
            </a:r>
            <a:r>
              <a:rPr sz="1100">
                <a:latin typeface="Calibri"/>
                <a:cs typeface="Calibri"/>
              </a:rPr>
              <a:t>problem</a:t>
            </a:r>
            <a:r>
              <a:rPr sz="1100" spc="-10">
                <a:latin typeface="Calibri"/>
                <a:cs typeface="Calibri"/>
              </a:rPr>
              <a:t> </a:t>
            </a:r>
            <a:r>
              <a:rPr sz="1100">
                <a:latin typeface="Calibri"/>
                <a:cs typeface="Calibri"/>
              </a:rPr>
              <a:t>is</a:t>
            </a:r>
            <a:r>
              <a:rPr sz="1100" spc="-10">
                <a:latin typeface="Calibri"/>
                <a:cs typeface="Calibri"/>
              </a:rPr>
              <a:t> </a:t>
            </a:r>
            <a:r>
              <a:rPr sz="1100">
                <a:latin typeface="Calibri"/>
                <a:cs typeface="Calibri"/>
              </a:rPr>
              <a:t>not</a:t>
            </a:r>
            <a:r>
              <a:rPr sz="1100" spc="-5">
                <a:latin typeface="Calibri"/>
                <a:cs typeface="Calibri"/>
              </a:rPr>
              <a:t> </a:t>
            </a:r>
            <a:r>
              <a:rPr sz="1100">
                <a:latin typeface="Calibri"/>
                <a:cs typeface="Calibri"/>
              </a:rPr>
              <a:t>a</a:t>
            </a:r>
            <a:r>
              <a:rPr sz="1100" spc="-10">
                <a:latin typeface="Calibri"/>
                <a:cs typeface="Calibri"/>
              </a:rPr>
              <a:t> </a:t>
            </a:r>
            <a:r>
              <a:rPr sz="1100">
                <a:latin typeface="Calibri"/>
                <a:cs typeface="Calibri"/>
              </a:rPr>
              <a:t>lack</a:t>
            </a:r>
            <a:r>
              <a:rPr sz="1100" spc="-10">
                <a:latin typeface="Calibri"/>
                <a:cs typeface="Calibri"/>
              </a:rPr>
              <a:t> </a:t>
            </a:r>
            <a:r>
              <a:rPr sz="1100">
                <a:latin typeface="Calibri"/>
                <a:cs typeface="Calibri"/>
              </a:rPr>
              <a:t>of</a:t>
            </a:r>
            <a:r>
              <a:rPr sz="1100" spc="-10">
                <a:latin typeface="Calibri"/>
                <a:cs typeface="Calibri"/>
              </a:rPr>
              <a:t> </a:t>
            </a:r>
            <a:r>
              <a:rPr sz="1100">
                <a:latin typeface="Calibri"/>
                <a:cs typeface="Calibri"/>
              </a:rPr>
              <a:t>food</a:t>
            </a:r>
            <a:r>
              <a:rPr sz="1100" spc="-10">
                <a:latin typeface="Calibri"/>
                <a:cs typeface="Calibri"/>
              </a:rPr>
              <a:t> </a:t>
            </a:r>
            <a:r>
              <a:rPr sz="1100">
                <a:latin typeface="Calibri"/>
                <a:cs typeface="Calibri"/>
              </a:rPr>
              <a:t>but</a:t>
            </a:r>
            <a:r>
              <a:rPr sz="1100" spc="-10">
                <a:latin typeface="Calibri"/>
                <a:cs typeface="Calibri"/>
              </a:rPr>
              <a:t> </a:t>
            </a:r>
            <a:r>
              <a:rPr sz="1100">
                <a:latin typeface="Calibri"/>
                <a:cs typeface="Calibri"/>
              </a:rPr>
              <a:t>a</a:t>
            </a:r>
            <a:r>
              <a:rPr sz="1100" spc="-10">
                <a:latin typeface="Calibri"/>
                <a:cs typeface="Calibri"/>
              </a:rPr>
              <a:t> </a:t>
            </a:r>
            <a:r>
              <a:rPr sz="1100" spc="-20">
                <a:latin typeface="Calibri"/>
                <a:cs typeface="Calibri"/>
              </a:rPr>
              <a:t>lack </a:t>
            </a:r>
            <a:r>
              <a:rPr sz="1100">
                <a:latin typeface="Calibri"/>
                <a:cs typeface="Calibri"/>
              </a:rPr>
              <a:t>of</a:t>
            </a:r>
            <a:r>
              <a:rPr sz="1100" spc="-30">
                <a:latin typeface="Calibri"/>
                <a:cs typeface="Calibri"/>
              </a:rPr>
              <a:t> </a:t>
            </a:r>
            <a:r>
              <a:rPr sz="1100">
                <a:latin typeface="Calibri"/>
                <a:cs typeface="Calibri"/>
              </a:rPr>
              <a:t>awareness:</a:t>
            </a:r>
            <a:r>
              <a:rPr sz="1100" spc="-25">
                <a:latin typeface="Calibri"/>
                <a:cs typeface="Calibri"/>
              </a:rPr>
              <a:t> </a:t>
            </a:r>
            <a:r>
              <a:rPr sz="1100">
                <a:latin typeface="Calibri"/>
                <a:cs typeface="Calibri"/>
              </a:rPr>
              <a:t>most</a:t>
            </a:r>
            <a:r>
              <a:rPr sz="1100" spc="-25">
                <a:latin typeface="Calibri"/>
                <a:cs typeface="Calibri"/>
              </a:rPr>
              <a:t> </a:t>
            </a:r>
            <a:r>
              <a:rPr sz="1100">
                <a:latin typeface="Calibri"/>
                <a:cs typeface="Calibri"/>
              </a:rPr>
              <a:t>people</a:t>
            </a:r>
            <a:r>
              <a:rPr sz="1100" spc="-25">
                <a:latin typeface="Calibri"/>
                <a:cs typeface="Calibri"/>
              </a:rPr>
              <a:t> </a:t>
            </a:r>
            <a:r>
              <a:rPr sz="1100">
                <a:latin typeface="Calibri"/>
                <a:cs typeface="Calibri"/>
              </a:rPr>
              <a:t>have</a:t>
            </a:r>
            <a:r>
              <a:rPr sz="1100" spc="-30">
                <a:latin typeface="Calibri"/>
                <a:cs typeface="Calibri"/>
              </a:rPr>
              <a:t> </a:t>
            </a:r>
            <a:r>
              <a:rPr sz="1100">
                <a:latin typeface="Calibri"/>
                <a:cs typeface="Calibri"/>
              </a:rPr>
              <a:t>little</a:t>
            </a:r>
            <a:r>
              <a:rPr sz="1100" spc="-25">
                <a:latin typeface="Calibri"/>
                <a:cs typeface="Calibri"/>
              </a:rPr>
              <a:t> </a:t>
            </a:r>
            <a:r>
              <a:rPr sz="1100">
                <a:latin typeface="Calibri"/>
                <a:cs typeface="Calibri"/>
              </a:rPr>
              <a:t>visibility</a:t>
            </a:r>
            <a:r>
              <a:rPr sz="1100" spc="-25">
                <a:latin typeface="Calibri"/>
                <a:cs typeface="Calibri"/>
              </a:rPr>
              <a:t> </a:t>
            </a:r>
            <a:r>
              <a:rPr sz="1100" spc="-20">
                <a:latin typeface="Calibri"/>
                <a:cs typeface="Calibri"/>
              </a:rPr>
              <a:t>into</a:t>
            </a:r>
            <a:r>
              <a:rPr sz="1100" spc="500">
                <a:latin typeface="Calibri"/>
                <a:cs typeface="Calibri"/>
              </a:rPr>
              <a:t> </a:t>
            </a:r>
            <a:r>
              <a:rPr sz="1100">
                <a:latin typeface="Calibri"/>
                <a:cs typeface="Calibri"/>
              </a:rPr>
              <a:t>whether</a:t>
            </a:r>
            <a:r>
              <a:rPr sz="1100" spc="-25">
                <a:latin typeface="Calibri"/>
                <a:cs typeface="Calibri"/>
              </a:rPr>
              <a:t> </a:t>
            </a:r>
            <a:r>
              <a:rPr sz="1100">
                <a:latin typeface="Calibri"/>
                <a:cs typeface="Calibri"/>
              </a:rPr>
              <a:t>their</a:t>
            </a:r>
            <a:r>
              <a:rPr sz="1100" spc="-20">
                <a:latin typeface="Calibri"/>
                <a:cs typeface="Calibri"/>
              </a:rPr>
              <a:t> </a:t>
            </a:r>
            <a:r>
              <a:rPr sz="1100" spc="-10">
                <a:latin typeface="Calibri"/>
                <a:cs typeface="Calibri"/>
              </a:rPr>
              <a:t>day-to-</a:t>
            </a:r>
            <a:r>
              <a:rPr sz="1100">
                <a:latin typeface="Calibri"/>
                <a:cs typeface="Calibri"/>
              </a:rPr>
              <a:t>day</a:t>
            </a:r>
            <a:r>
              <a:rPr sz="1100" spc="-25">
                <a:latin typeface="Calibri"/>
                <a:cs typeface="Calibri"/>
              </a:rPr>
              <a:t> </a:t>
            </a:r>
            <a:r>
              <a:rPr sz="1100">
                <a:latin typeface="Calibri"/>
                <a:cs typeface="Calibri"/>
              </a:rPr>
              <a:t>meals</a:t>
            </a:r>
            <a:r>
              <a:rPr sz="1100" spc="-20">
                <a:latin typeface="Calibri"/>
                <a:cs typeface="Calibri"/>
              </a:rPr>
              <a:t> </a:t>
            </a:r>
            <a:r>
              <a:rPr sz="1100">
                <a:latin typeface="Calibri"/>
                <a:cs typeface="Calibri"/>
              </a:rPr>
              <a:t>are</a:t>
            </a:r>
            <a:r>
              <a:rPr sz="1100" spc="-25">
                <a:latin typeface="Calibri"/>
                <a:cs typeface="Calibri"/>
              </a:rPr>
              <a:t> </a:t>
            </a:r>
            <a:r>
              <a:rPr sz="1100">
                <a:latin typeface="Calibri"/>
                <a:cs typeface="Calibri"/>
              </a:rPr>
              <a:t>nutritionally</a:t>
            </a:r>
            <a:r>
              <a:rPr sz="1100" spc="-20">
                <a:latin typeface="Calibri"/>
                <a:cs typeface="Calibri"/>
              </a:rPr>
              <a:t> </a:t>
            </a:r>
            <a:r>
              <a:rPr sz="1100" spc="-10">
                <a:latin typeface="Calibri"/>
                <a:cs typeface="Calibri"/>
              </a:rPr>
              <a:t>balanced, </a:t>
            </a:r>
            <a:r>
              <a:rPr sz="1100">
                <a:latin typeface="Calibri"/>
                <a:cs typeface="Calibri"/>
              </a:rPr>
              <a:t>since</a:t>
            </a:r>
            <a:r>
              <a:rPr sz="1100" spc="-35">
                <a:latin typeface="Calibri"/>
                <a:cs typeface="Calibri"/>
              </a:rPr>
              <a:t> </a:t>
            </a:r>
            <a:r>
              <a:rPr sz="1100">
                <a:latin typeface="Calibri"/>
                <a:cs typeface="Calibri"/>
              </a:rPr>
              <a:t>accurately</a:t>
            </a:r>
            <a:r>
              <a:rPr sz="1100" spc="-30">
                <a:latin typeface="Calibri"/>
                <a:cs typeface="Calibri"/>
              </a:rPr>
              <a:t> </a:t>
            </a:r>
            <a:r>
              <a:rPr sz="1100">
                <a:latin typeface="Calibri"/>
                <a:cs typeface="Calibri"/>
              </a:rPr>
              <a:t>tracking</a:t>
            </a:r>
            <a:r>
              <a:rPr sz="1100" spc="-30">
                <a:latin typeface="Calibri"/>
                <a:cs typeface="Calibri"/>
              </a:rPr>
              <a:t> </a:t>
            </a:r>
            <a:r>
              <a:rPr sz="1100">
                <a:latin typeface="Calibri"/>
                <a:cs typeface="Calibri"/>
              </a:rPr>
              <a:t>dietary</a:t>
            </a:r>
            <a:r>
              <a:rPr sz="1100" spc="-30">
                <a:latin typeface="Calibri"/>
                <a:cs typeface="Calibri"/>
              </a:rPr>
              <a:t> </a:t>
            </a:r>
            <a:r>
              <a:rPr sz="1100">
                <a:latin typeface="Calibri"/>
                <a:cs typeface="Calibri"/>
              </a:rPr>
              <a:t>intake</a:t>
            </a:r>
            <a:r>
              <a:rPr sz="1100" spc="-30">
                <a:latin typeface="Calibri"/>
                <a:cs typeface="Calibri"/>
              </a:rPr>
              <a:t> </a:t>
            </a:r>
            <a:r>
              <a:rPr sz="1100">
                <a:latin typeface="Calibri"/>
                <a:cs typeface="Calibri"/>
              </a:rPr>
              <a:t>has</a:t>
            </a:r>
            <a:r>
              <a:rPr sz="1100" spc="-30">
                <a:latin typeface="Calibri"/>
                <a:cs typeface="Calibri"/>
              </a:rPr>
              <a:t> </a:t>
            </a:r>
            <a:r>
              <a:rPr sz="1100" spc="-10">
                <a:latin typeface="Calibri"/>
                <a:cs typeface="Calibri"/>
              </a:rPr>
              <a:t>traditionally </a:t>
            </a:r>
            <a:r>
              <a:rPr sz="1100">
                <a:latin typeface="Calibri"/>
                <a:cs typeface="Calibri"/>
              </a:rPr>
              <a:t>relied</a:t>
            </a:r>
            <a:r>
              <a:rPr sz="1100" spc="-25">
                <a:latin typeface="Calibri"/>
                <a:cs typeface="Calibri"/>
              </a:rPr>
              <a:t> </a:t>
            </a:r>
            <a:r>
              <a:rPr sz="1100">
                <a:latin typeface="Calibri"/>
                <a:cs typeface="Calibri"/>
              </a:rPr>
              <a:t>on</a:t>
            </a:r>
            <a:r>
              <a:rPr sz="1100" spc="-20">
                <a:latin typeface="Calibri"/>
                <a:cs typeface="Calibri"/>
              </a:rPr>
              <a:t> </a:t>
            </a:r>
            <a:r>
              <a:rPr sz="1100" spc="-10">
                <a:latin typeface="Calibri"/>
                <a:cs typeface="Calibri"/>
              </a:rPr>
              <a:t>self-</a:t>
            </a:r>
            <a:r>
              <a:rPr sz="1100">
                <a:latin typeface="Calibri"/>
                <a:cs typeface="Calibri"/>
              </a:rPr>
              <a:t>reported</a:t>
            </a:r>
            <a:r>
              <a:rPr sz="1100" spc="-20">
                <a:latin typeface="Calibri"/>
                <a:cs typeface="Calibri"/>
              </a:rPr>
              <a:t> </a:t>
            </a:r>
            <a:r>
              <a:rPr sz="1100">
                <a:latin typeface="Calibri"/>
                <a:cs typeface="Calibri"/>
              </a:rPr>
              <a:t>methods</a:t>
            </a:r>
            <a:r>
              <a:rPr sz="1100" spc="-20">
                <a:latin typeface="Calibri"/>
                <a:cs typeface="Calibri"/>
              </a:rPr>
              <a:t> </a:t>
            </a:r>
            <a:r>
              <a:rPr sz="1100">
                <a:latin typeface="Calibri"/>
                <a:cs typeface="Calibri"/>
              </a:rPr>
              <a:t>such</a:t>
            </a:r>
            <a:r>
              <a:rPr sz="1100" spc="-20">
                <a:latin typeface="Calibri"/>
                <a:cs typeface="Calibri"/>
              </a:rPr>
              <a:t> </a:t>
            </a:r>
            <a:r>
              <a:rPr sz="1100">
                <a:latin typeface="Calibri"/>
                <a:cs typeface="Calibri"/>
              </a:rPr>
              <a:t>as</a:t>
            </a:r>
            <a:r>
              <a:rPr sz="1100" spc="-20">
                <a:latin typeface="Calibri"/>
                <a:cs typeface="Calibri"/>
              </a:rPr>
              <a:t> </a:t>
            </a:r>
            <a:r>
              <a:rPr sz="1100" spc="-10">
                <a:latin typeface="Calibri"/>
                <a:cs typeface="Calibri"/>
              </a:rPr>
              <a:t>24-</a:t>
            </a:r>
            <a:r>
              <a:rPr sz="1100">
                <a:latin typeface="Calibri"/>
                <a:cs typeface="Calibri"/>
              </a:rPr>
              <a:t>hour</a:t>
            </a:r>
            <a:r>
              <a:rPr sz="1100" spc="-25">
                <a:latin typeface="Calibri"/>
                <a:cs typeface="Calibri"/>
              </a:rPr>
              <a:t> </a:t>
            </a:r>
            <a:r>
              <a:rPr sz="1100">
                <a:latin typeface="Calibri"/>
                <a:cs typeface="Calibri"/>
              </a:rPr>
              <a:t>recall</a:t>
            </a:r>
            <a:r>
              <a:rPr sz="1100" spc="-20">
                <a:latin typeface="Calibri"/>
                <a:cs typeface="Calibri"/>
              </a:rPr>
              <a:t> </a:t>
            </a:r>
            <a:r>
              <a:rPr sz="1100" spc="-25">
                <a:latin typeface="Calibri"/>
                <a:cs typeface="Calibri"/>
              </a:rPr>
              <a:t>or </a:t>
            </a:r>
            <a:r>
              <a:rPr sz="1100">
                <a:latin typeface="Calibri"/>
                <a:cs typeface="Calibri"/>
              </a:rPr>
              <a:t>food</a:t>
            </a:r>
            <a:r>
              <a:rPr sz="1100" spc="-25">
                <a:latin typeface="Calibri"/>
                <a:cs typeface="Calibri"/>
              </a:rPr>
              <a:t> </a:t>
            </a:r>
            <a:r>
              <a:rPr sz="1100">
                <a:latin typeface="Calibri"/>
                <a:cs typeface="Calibri"/>
              </a:rPr>
              <a:t>diaries,</a:t>
            </a:r>
            <a:r>
              <a:rPr sz="1100" spc="-20">
                <a:latin typeface="Calibri"/>
                <a:cs typeface="Calibri"/>
              </a:rPr>
              <a:t> </a:t>
            </a:r>
            <a:r>
              <a:rPr sz="1100">
                <a:latin typeface="Calibri"/>
                <a:cs typeface="Calibri"/>
              </a:rPr>
              <a:t>both</a:t>
            </a:r>
            <a:r>
              <a:rPr sz="1100" spc="-25">
                <a:latin typeface="Calibri"/>
                <a:cs typeface="Calibri"/>
              </a:rPr>
              <a:t> </a:t>
            </a:r>
            <a:r>
              <a:rPr sz="1100">
                <a:latin typeface="Calibri"/>
                <a:cs typeface="Calibri"/>
              </a:rPr>
              <a:t>of</a:t>
            </a:r>
            <a:r>
              <a:rPr sz="1100" spc="-20">
                <a:latin typeface="Calibri"/>
                <a:cs typeface="Calibri"/>
              </a:rPr>
              <a:t> </a:t>
            </a:r>
            <a:r>
              <a:rPr sz="1100">
                <a:latin typeface="Calibri"/>
                <a:cs typeface="Calibri"/>
              </a:rPr>
              <a:t>which</a:t>
            </a:r>
            <a:r>
              <a:rPr sz="1100" spc="-25">
                <a:latin typeface="Calibri"/>
                <a:cs typeface="Calibri"/>
              </a:rPr>
              <a:t> </a:t>
            </a:r>
            <a:r>
              <a:rPr sz="1100">
                <a:latin typeface="Calibri"/>
                <a:cs typeface="Calibri"/>
              </a:rPr>
              <a:t>are</a:t>
            </a:r>
            <a:r>
              <a:rPr sz="1100" spc="-20">
                <a:latin typeface="Calibri"/>
                <a:cs typeface="Calibri"/>
              </a:rPr>
              <a:t> </a:t>
            </a:r>
            <a:r>
              <a:rPr sz="1100">
                <a:latin typeface="Calibri"/>
                <a:cs typeface="Calibri"/>
              </a:rPr>
              <a:t>slow,</a:t>
            </a:r>
            <a:r>
              <a:rPr sz="1100" spc="-25">
                <a:latin typeface="Calibri"/>
                <a:cs typeface="Calibri"/>
              </a:rPr>
              <a:t> </a:t>
            </a:r>
            <a:r>
              <a:rPr sz="1100">
                <a:latin typeface="Calibri"/>
                <a:cs typeface="Calibri"/>
              </a:rPr>
              <a:t>subjective,</a:t>
            </a:r>
            <a:r>
              <a:rPr sz="1100" spc="-20">
                <a:latin typeface="Calibri"/>
                <a:cs typeface="Calibri"/>
              </a:rPr>
              <a:t> </a:t>
            </a:r>
            <a:r>
              <a:rPr sz="1100">
                <a:latin typeface="Calibri"/>
                <a:cs typeface="Calibri"/>
              </a:rPr>
              <a:t>and</a:t>
            </a:r>
            <a:r>
              <a:rPr sz="1100" spc="-25">
                <a:latin typeface="Calibri"/>
                <a:cs typeface="Calibri"/>
              </a:rPr>
              <a:t> </a:t>
            </a:r>
            <a:r>
              <a:rPr sz="1100" spc="-10">
                <a:latin typeface="Calibri"/>
                <a:cs typeface="Calibri"/>
              </a:rPr>
              <a:t>prone </a:t>
            </a:r>
            <a:r>
              <a:rPr sz="1100">
                <a:latin typeface="Calibri"/>
                <a:cs typeface="Calibri"/>
              </a:rPr>
              <a:t>to</a:t>
            </a:r>
            <a:r>
              <a:rPr sz="1100" spc="-15">
                <a:latin typeface="Calibri"/>
                <a:cs typeface="Calibri"/>
              </a:rPr>
              <a:t> </a:t>
            </a:r>
            <a:r>
              <a:rPr sz="1100">
                <a:latin typeface="Calibri"/>
                <a:cs typeface="Calibri"/>
              </a:rPr>
              <a:t>recall</a:t>
            </a:r>
            <a:r>
              <a:rPr sz="1100" spc="-10">
                <a:latin typeface="Calibri"/>
                <a:cs typeface="Calibri"/>
              </a:rPr>
              <a:t> </a:t>
            </a:r>
            <a:r>
              <a:rPr sz="1100">
                <a:latin typeface="Calibri"/>
                <a:cs typeface="Calibri"/>
              </a:rPr>
              <a:t>bias</a:t>
            </a:r>
            <a:r>
              <a:rPr sz="1100" spc="-15">
                <a:latin typeface="Calibri"/>
                <a:cs typeface="Calibri"/>
              </a:rPr>
              <a:t> </a:t>
            </a:r>
            <a:r>
              <a:rPr sz="1100" spc="-10">
                <a:latin typeface="Calibri"/>
                <a:cs typeface="Calibri"/>
              </a:rPr>
              <a:t>[12].</a:t>
            </a:r>
            <a:endParaRPr sz="1100">
              <a:latin typeface="Calibri"/>
              <a:cs typeface="Calibri"/>
            </a:endParaRPr>
          </a:p>
        </p:txBody>
      </p:sp>
      <p:sp>
        <p:nvSpPr>
          <p:cNvPr id="1570305546" name="object 13"/>
          <p:cNvSpPr txBox="1">
            <a:spLocks noGrp="1"/>
          </p:cNvSpPr>
          <p:nvPr>
            <p:ph type="body" idx="1"/>
          </p:nvPr>
        </p:nvSpPr>
        <p:spPr bwMode="auto">
          <a:prstGeom prst="rect">
            <a:avLst/>
          </a:prstGeom>
        </p:spPr>
        <p:txBody>
          <a:bodyPr vert="horz" wrap="square" lIns="0" tIns="12700" rIns="0" bIns="0" rtlCol="0">
            <a:spAutoFit/>
          </a:bodyPr>
          <a:lstStyle/>
          <a:p>
            <a:pPr marL="12700" marR="5080" algn="just">
              <a:lnSpc>
                <a:spcPct val="117000"/>
              </a:lnSpc>
              <a:spcBef>
                <a:spcPts val="100"/>
              </a:spcBef>
              <a:defRPr/>
            </a:pPr>
            <a:r>
              <a:rPr/>
              <a:t>These</a:t>
            </a:r>
            <a:r>
              <a:rPr spc="470"/>
              <a:t> </a:t>
            </a:r>
            <a:r>
              <a:rPr/>
              <a:t>limitations</a:t>
            </a:r>
            <a:r>
              <a:rPr spc="470"/>
              <a:t> </a:t>
            </a:r>
            <a:r>
              <a:rPr/>
              <a:t>have</a:t>
            </a:r>
            <a:r>
              <a:rPr spc="470"/>
              <a:t> </a:t>
            </a:r>
            <a:r>
              <a:rPr/>
              <a:t>motivated</a:t>
            </a:r>
            <a:r>
              <a:rPr spc="470"/>
              <a:t> </a:t>
            </a:r>
            <a:r>
              <a:rPr/>
              <a:t>a</a:t>
            </a:r>
            <a:r>
              <a:rPr spc="470"/>
              <a:t> </a:t>
            </a:r>
            <a:r>
              <a:rPr/>
              <a:t>growing</a:t>
            </a:r>
            <a:r>
              <a:rPr spc="470"/>
              <a:t> </a:t>
            </a:r>
            <a:r>
              <a:rPr/>
              <a:t>body</a:t>
            </a:r>
            <a:r>
              <a:rPr spc="470"/>
              <a:t> </a:t>
            </a:r>
            <a:r>
              <a:rPr spc="-25"/>
              <a:t>of </a:t>
            </a:r>
            <a:r>
              <a:rPr/>
              <a:t>research</a:t>
            </a:r>
            <a:r>
              <a:rPr spc="215"/>
              <a:t> </a:t>
            </a:r>
            <a:r>
              <a:rPr/>
              <a:t>applying</a:t>
            </a:r>
            <a:r>
              <a:rPr spc="215"/>
              <a:t> </a:t>
            </a:r>
            <a:r>
              <a:rPr/>
              <a:t>computer</a:t>
            </a:r>
            <a:r>
              <a:rPr spc="220"/>
              <a:t> </a:t>
            </a:r>
            <a:r>
              <a:rPr/>
              <a:t>vision</a:t>
            </a:r>
            <a:r>
              <a:rPr spc="215"/>
              <a:t> </a:t>
            </a:r>
            <a:r>
              <a:rPr/>
              <a:t>and</a:t>
            </a:r>
            <a:r>
              <a:rPr spc="215"/>
              <a:t> </a:t>
            </a:r>
            <a:r>
              <a:rPr/>
              <a:t>deep</a:t>
            </a:r>
            <a:r>
              <a:rPr spc="220"/>
              <a:t> </a:t>
            </a:r>
            <a:r>
              <a:rPr/>
              <a:t>learning</a:t>
            </a:r>
            <a:r>
              <a:rPr spc="215"/>
              <a:t> </a:t>
            </a:r>
            <a:r>
              <a:rPr spc="-25"/>
              <a:t>to </a:t>
            </a:r>
            <a:r>
              <a:rPr/>
              <a:t>automate</a:t>
            </a:r>
            <a:r>
              <a:rPr spc="204"/>
              <a:t> </a:t>
            </a:r>
            <a:r>
              <a:rPr/>
              <a:t>dietary</a:t>
            </a:r>
            <a:r>
              <a:rPr spc="204"/>
              <a:t> </a:t>
            </a:r>
            <a:r>
              <a:rPr/>
              <a:t>assessment</a:t>
            </a:r>
            <a:r>
              <a:rPr spc="204"/>
              <a:t> </a:t>
            </a:r>
            <a:r>
              <a:rPr/>
              <a:t>directly</a:t>
            </a:r>
            <a:r>
              <a:rPr spc="204"/>
              <a:t> </a:t>
            </a:r>
            <a:r>
              <a:rPr/>
              <a:t>from</a:t>
            </a:r>
            <a:r>
              <a:rPr spc="204"/>
              <a:t> </a:t>
            </a:r>
            <a:r>
              <a:rPr/>
              <a:t>food</a:t>
            </a:r>
            <a:r>
              <a:rPr spc="210"/>
              <a:t> </a:t>
            </a:r>
            <a:r>
              <a:rPr spc="-10"/>
              <a:t>images, </a:t>
            </a:r>
            <a:r>
              <a:rPr/>
              <a:t>removing</a:t>
            </a:r>
            <a:r>
              <a:rPr spc="170"/>
              <a:t> </a:t>
            </a:r>
            <a:r>
              <a:rPr/>
              <a:t>the</a:t>
            </a:r>
            <a:r>
              <a:rPr spc="170"/>
              <a:t> </a:t>
            </a:r>
            <a:r>
              <a:rPr/>
              <a:t>burden</a:t>
            </a:r>
            <a:r>
              <a:rPr spc="170"/>
              <a:t> </a:t>
            </a:r>
            <a:r>
              <a:rPr/>
              <a:t>of</a:t>
            </a:r>
            <a:r>
              <a:rPr spc="170"/>
              <a:t> </a:t>
            </a:r>
            <a:r>
              <a:rPr/>
              <a:t>manual</a:t>
            </a:r>
            <a:r>
              <a:rPr spc="170"/>
              <a:t> </a:t>
            </a:r>
            <a:r>
              <a:rPr/>
              <a:t>logging.</a:t>
            </a:r>
            <a:r>
              <a:rPr spc="170"/>
              <a:t> </a:t>
            </a:r>
            <a:r>
              <a:rPr/>
              <a:t>This</a:t>
            </a:r>
            <a:r>
              <a:rPr spc="170"/>
              <a:t> </a:t>
            </a:r>
            <a:r>
              <a:rPr/>
              <a:t>review</a:t>
            </a:r>
            <a:r>
              <a:rPr spc="170"/>
              <a:t> </a:t>
            </a:r>
            <a:r>
              <a:rPr spc="-25"/>
              <a:t>has </a:t>
            </a:r>
            <a:r>
              <a:rPr/>
              <a:t>two</a:t>
            </a:r>
            <a:r>
              <a:rPr spc="145"/>
              <a:t> </a:t>
            </a:r>
            <a:r>
              <a:rPr/>
              <a:t>complementary</a:t>
            </a:r>
            <a:r>
              <a:rPr spc="145"/>
              <a:t> </a:t>
            </a:r>
            <a:r>
              <a:rPr/>
              <a:t>aims.</a:t>
            </a:r>
            <a:r>
              <a:rPr spc="150"/>
              <a:t> </a:t>
            </a:r>
            <a:r>
              <a:rPr/>
              <a:t>First,</a:t>
            </a:r>
            <a:r>
              <a:rPr spc="145"/>
              <a:t> </a:t>
            </a:r>
            <a:r>
              <a:rPr/>
              <a:t>it</a:t>
            </a:r>
            <a:r>
              <a:rPr spc="150"/>
              <a:t> </a:t>
            </a:r>
            <a:r>
              <a:rPr/>
              <a:t>summarises</a:t>
            </a:r>
            <a:r>
              <a:rPr spc="145"/>
              <a:t> </a:t>
            </a:r>
            <a:r>
              <a:rPr/>
              <a:t>the</a:t>
            </a:r>
            <a:r>
              <a:rPr spc="150"/>
              <a:t> </a:t>
            </a:r>
            <a:r>
              <a:rPr spc="-10"/>
              <a:t>health </a:t>
            </a:r>
            <a:r>
              <a:rPr/>
              <a:t>and</a:t>
            </a:r>
            <a:r>
              <a:rPr spc="300"/>
              <a:t>  </a:t>
            </a:r>
            <a:r>
              <a:rPr spc="-10"/>
              <a:t>behavioural-</a:t>
            </a:r>
            <a:r>
              <a:rPr/>
              <a:t>science</a:t>
            </a:r>
            <a:r>
              <a:rPr spc="305"/>
              <a:t>  </a:t>
            </a:r>
            <a:r>
              <a:rPr/>
              <a:t>background</a:t>
            </a:r>
            <a:r>
              <a:rPr spc="305"/>
              <a:t>  </a:t>
            </a:r>
            <a:r>
              <a:rPr/>
              <a:t>that</a:t>
            </a:r>
            <a:r>
              <a:rPr spc="300"/>
              <a:t>  </a:t>
            </a:r>
            <a:r>
              <a:rPr spc="-10"/>
              <a:t>motivates </a:t>
            </a:r>
            <a:r>
              <a:rPr/>
              <a:t>automated</a:t>
            </a:r>
            <a:r>
              <a:rPr spc="-35"/>
              <a:t> </a:t>
            </a:r>
            <a:r>
              <a:rPr/>
              <a:t>nutrition</a:t>
            </a:r>
            <a:r>
              <a:rPr spc="-30"/>
              <a:t> </a:t>
            </a:r>
            <a:r>
              <a:rPr/>
              <a:t>assessment</a:t>
            </a:r>
            <a:r>
              <a:rPr spc="-30"/>
              <a:t> </a:t>
            </a:r>
            <a:r>
              <a:rPr/>
              <a:t>—</a:t>
            </a:r>
            <a:r>
              <a:rPr spc="-30"/>
              <a:t> </a:t>
            </a:r>
            <a:r>
              <a:rPr/>
              <a:t>the</a:t>
            </a:r>
            <a:r>
              <a:rPr spc="-30"/>
              <a:t> </a:t>
            </a:r>
            <a:r>
              <a:rPr/>
              <a:t>scale</a:t>
            </a:r>
            <a:r>
              <a:rPr spc="-35"/>
              <a:t> </a:t>
            </a:r>
            <a:r>
              <a:rPr/>
              <a:t>of</a:t>
            </a:r>
            <a:r>
              <a:rPr spc="-30"/>
              <a:t> </a:t>
            </a:r>
            <a:r>
              <a:rPr spc="-10"/>
              <a:t>diet-related </a:t>
            </a:r>
            <a:r>
              <a:rPr/>
              <a:t>disease</a:t>
            </a:r>
            <a:r>
              <a:rPr spc="50"/>
              <a:t> </a:t>
            </a:r>
            <a:r>
              <a:rPr/>
              <a:t>burden,</a:t>
            </a:r>
            <a:r>
              <a:rPr spc="55"/>
              <a:t> </a:t>
            </a:r>
            <a:r>
              <a:rPr/>
              <a:t>the</a:t>
            </a:r>
            <a:r>
              <a:rPr spc="55"/>
              <a:t> </a:t>
            </a:r>
            <a:r>
              <a:rPr/>
              <a:t>shortcomings</a:t>
            </a:r>
            <a:r>
              <a:rPr spc="50"/>
              <a:t> </a:t>
            </a:r>
            <a:r>
              <a:rPr/>
              <a:t>of</a:t>
            </a:r>
            <a:r>
              <a:rPr spc="55"/>
              <a:t> </a:t>
            </a:r>
            <a:r>
              <a:rPr/>
              <a:t>traditional</a:t>
            </a:r>
            <a:r>
              <a:rPr spc="55"/>
              <a:t> </a:t>
            </a:r>
            <a:r>
              <a:rPr spc="-10"/>
              <a:t>self-report </a:t>
            </a:r>
            <a:r>
              <a:rPr/>
              <a:t>methods,</a:t>
            </a:r>
            <a:r>
              <a:rPr spc="110"/>
              <a:t> </a:t>
            </a:r>
            <a:r>
              <a:rPr/>
              <a:t>and</a:t>
            </a:r>
            <a:r>
              <a:rPr spc="114"/>
              <a:t> </a:t>
            </a:r>
            <a:r>
              <a:rPr/>
              <a:t>existing</a:t>
            </a:r>
            <a:r>
              <a:rPr spc="110"/>
              <a:t> </a:t>
            </a:r>
            <a:r>
              <a:rPr/>
              <a:t>approaches</a:t>
            </a:r>
            <a:r>
              <a:rPr spc="114"/>
              <a:t> </a:t>
            </a:r>
            <a:r>
              <a:rPr/>
              <a:t>to</a:t>
            </a:r>
            <a:r>
              <a:rPr spc="110"/>
              <a:t> </a:t>
            </a:r>
            <a:r>
              <a:rPr/>
              <a:t>scoring</a:t>
            </a:r>
            <a:r>
              <a:rPr spc="114"/>
              <a:t> </a:t>
            </a:r>
            <a:r>
              <a:rPr/>
              <a:t>meal</a:t>
            </a:r>
            <a:r>
              <a:rPr spc="110"/>
              <a:t> </a:t>
            </a:r>
            <a:r>
              <a:rPr spc="-10"/>
              <a:t>quality </a:t>
            </a:r>
            <a:r>
              <a:rPr/>
              <a:t>and</a:t>
            </a:r>
            <a:r>
              <a:rPr spc="180"/>
              <a:t> </a:t>
            </a:r>
            <a:r>
              <a:rPr/>
              <a:t>encouraging</a:t>
            </a:r>
            <a:r>
              <a:rPr spc="180"/>
              <a:t> </a:t>
            </a:r>
            <a:r>
              <a:rPr/>
              <a:t>behaviour</a:t>
            </a:r>
            <a:r>
              <a:rPr spc="180"/>
              <a:t> </a:t>
            </a:r>
            <a:r>
              <a:rPr/>
              <a:t>change</a:t>
            </a:r>
            <a:r>
              <a:rPr spc="180"/>
              <a:t> </a:t>
            </a:r>
            <a:r>
              <a:rPr/>
              <a:t>through</a:t>
            </a:r>
            <a:r>
              <a:rPr spc="180"/>
              <a:t> </a:t>
            </a:r>
            <a:r>
              <a:rPr spc="-10"/>
              <a:t>gamification. </a:t>
            </a:r>
            <a:r>
              <a:rPr/>
              <a:t>Second,</a:t>
            </a:r>
            <a:r>
              <a:rPr spc="-5"/>
              <a:t> </a:t>
            </a:r>
            <a:r>
              <a:rPr/>
              <a:t>it surveys</a:t>
            </a:r>
            <a:r>
              <a:rPr spc="-5"/>
              <a:t> </a:t>
            </a:r>
            <a:r>
              <a:rPr/>
              <a:t>the state of</a:t>
            </a:r>
            <a:r>
              <a:rPr spc="-5"/>
              <a:t> </a:t>
            </a:r>
            <a:r>
              <a:rPr/>
              <a:t>the art in</a:t>
            </a:r>
            <a:r>
              <a:rPr spc="-5"/>
              <a:t> </a:t>
            </a:r>
            <a:r>
              <a:rPr/>
              <a:t>AI/ML methods </a:t>
            </a:r>
            <a:r>
              <a:rPr spc="-25"/>
              <a:t>for </a:t>
            </a:r>
            <a:r>
              <a:rPr/>
              <a:t>recognising</a:t>
            </a:r>
            <a:r>
              <a:rPr spc="70"/>
              <a:t> </a:t>
            </a:r>
            <a:r>
              <a:rPr/>
              <a:t>food</a:t>
            </a:r>
            <a:r>
              <a:rPr spc="75"/>
              <a:t> </a:t>
            </a:r>
            <a:r>
              <a:rPr/>
              <a:t>from</a:t>
            </a:r>
            <a:r>
              <a:rPr spc="75"/>
              <a:t> </a:t>
            </a:r>
            <a:r>
              <a:rPr/>
              <a:t>images,</a:t>
            </a:r>
            <a:r>
              <a:rPr spc="70"/>
              <a:t> </a:t>
            </a:r>
            <a:r>
              <a:rPr/>
              <a:t>estimating</a:t>
            </a:r>
            <a:r>
              <a:rPr spc="75"/>
              <a:t> </a:t>
            </a:r>
            <a:r>
              <a:rPr/>
              <a:t>portion</a:t>
            </a:r>
            <a:r>
              <a:rPr spc="75"/>
              <a:t> </a:t>
            </a:r>
            <a:r>
              <a:rPr/>
              <a:t>size</a:t>
            </a:r>
            <a:r>
              <a:rPr spc="75"/>
              <a:t> </a:t>
            </a:r>
            <a:r>
              <a:rPr spc="-25"/>
              <a:t>and </a:t>
            </a:r>
            <a:r>
              <a:rPr/>
              <a:t>nutritional</a:t>
            </a:r>
            <a:r>
              <a:rPr spc="220"/>
              <a:t> </a:t>
            </a:r>
            <a:r>
              <a:rPr/>
              <a:t>content,</a:t>
            </a:r>
            <a:r>
              <a:rPr spc="225"/>
              <a:t> </a:t>
            </a:r>
            <a:r>
              <a:rPr/>
              <a:t>and</a:t>
            </a:r>
            <a:r>
              <a:rPr spc="225"/>
              <a:t> </a:t>
            </a:r>
            <a:r>
              <a:rPr/>
              <a:t>scoring</a:t>
            </a:r>
            <a:r>
              <a:rPr spc="225"/>
              <a:t> </a:t>
            </a:r>
            <a:r>
              <a:rPr/>
              <a:t>meal</a:t>
            </a:r>
            <a:r>
              <a:rPr spc="225"/>
              <a:t> </a:t>
            </a:r>
            <a:r>
              <a:rPr/>
              <a:t>healthiness</a:t>
            </a:r>
            <a:r>
              <a:rPr spc="225"/>
              <a:t> </a:t>
            </a:r>
            <a:r>
              <a:rPr/>
              <a:t>—</a:t>
            </a:r>
            <a:r>
              <a:rPr spc="225"/>
              <a:t> </a:t>
            </a:r>
            <a:r>
              <a:rPr spc="-25"/>
              <a:t>the </a:t>
            </a:r>
            <a:r>
              <a:rPr/>
              <a:t>building</a:t>
            </a:r>
            <a:r>
              <a:rPr spc="240"/>
              <a:t> </a:t>
            </a:r>
            <a:r>
              <a:rPr/>
              <a:t>blocks</a:t>
            </a:r>
            <a:r>
              <a:rPr spc="245"/>
              <a:t> </a:t>
            </a:r>
            <a:r>
              <a:rPr/>
              <a:t>of</a:t>
            </a:r>
            <a:r>
              <a:rPr spc="240"/>
              <a:t> </a:t>
            </a:r>
            <a:r>
              <a:rPr/>
              <a:t>a</a:t>
            </a:r>
            <a:r>
              <a:rPr spc="245"/>
              <a:t> </a:t>
            </a:r>
            <a:r>
              <a:rPr/>
              <a:t>system</a:t>
            </a:r>
            <a:r>
              <a:rPr spc="240"/>
              <a:t> </a:t>
            </a:r>
            <a:r>
              <a:rPr/>
              <a:t>like</a:t>
            </a:r>
            <a:r>
              <a:rPr spc="245"/>
              <a:t> </a:t>
            </a:r>
            <a:r>
              <a:rPr/>
              <a:t>NutriVision.</a:t>
            </a:r>
            <a:r>
              <a:rPr spc="245"/>
              <a:t> </a:t>
            </a:r>
            <a:r>
              <a:rPr/>
              <a:t>The</a:t>
            </a:r>
            <a:r>
              <a:rPr spc="240"/>
              <a:t> </a:t>
            </a:r>
            <a:r>
              <a:rPr spc="-10"/>
              <a:t>review </a:t>
            </a:r>
            <a:r>
              <a:rPr/>
              <a:t>concludes</a:t>
            </a:r>
            <a:r>
              <a:rPr spc="220"/>
              <a:t> </a:t>
            </a:r>
            <a:r>
              <a:rPr/>
              <a:t>by</a:t>
            </a:r>
            <a:r>
              <a:rPr spc="225"/>
              <a:t> </a:t>
            </a:r>
            <a:r>
              <a:rPr/>
              <a:t>identifying</a:t>
            </a:r>
            <a:r>
              <a:rPr spc="225"/>
              <a:t> </a:t>
            </a:r>
            <a:r>
              <a:rPr/>
              <a:t>gaps</a:t>
            </a:r>
            <a:r>
              <a:rPr spc="225"/>
              <a:t> </a:t>
            </a:r>
            <a:r>
              <a:rPr/>
              <a:t>between</a:t>
            </a:r>
            <a:r>
              <a:rPr spc="225"/>
              <a:t> </a:t>
            </a:r>
            <a:r>
              <a:rPr/>
              <a:t>existing</a:t>
            </a:r>
            <a:r>
              <a:rPr spc="225"/>
              <a:t> </a:t>
            </a:r>
            <a:r>
              <a:rPr spc="-10"/>
              <a:t>research </a:t>
            </a:r>
            <a:r>
              <a:rPr/>
              <a:t>and</a:t>
            </a:r>
            <a:r>
              <a:rPr spc="200"/>
              <a:t> </a:t>
            </a:r>
            <a:r>
              <a:rPr/>
              <a:t>the</a:t>
            </a:r>
            <a:r>
              <a:rPr spc="200"/>
              <a:t> </a:t>
            </a:r>
            <a:r>
              <a:rPr/>
              <a:t>specific</a:t>
            </a:r>
            <a:r>
              <a:rPr spc="200"/>
              <a:t> </a:t>
            </a:r>
            <a:r>
              <a:rPr/>
              <a:t>goals</a:t>
            </a:r>
            <a:r>
              <a:rPr spc="200"/>
              <a:t> </a:t>
            </a:r>
            <a:r>
              <a:rPr/>
              <a:t>of</a:t>
            </a:r>
            <a:r>
              <a:rPr spc="200"/>
              <a:t> </a:t>
            </a:r>
            <a:r>
              <a:rPr/>
              <a:t>NutriVision,</a:t>
            </a:r>
            <a:r>
              <a:rPr spc="200"/>
              <a:t> </a:t>
            </a:r>
            <a:r>
              <a:rPr/>
              <a:t>particularly</a:t>
            </a:r>
            <a:r>
              <a:rPr spc="200"/>
              <a:t> </a:t>
            </a:r>
            <a:r>
              <a:rPr spc="-10"/>
              <a:t>around </a:t>
            </a:r>
            <a:r>
              <a:rPr/>
              <a:t>regional</a:t>
            </a:r>
            <a:r>
              <a:rPr spc="195"/>
              <a:t> </a:t>
            </a:r>
            <a:r>
              <a:rPr/>
              <a:t>(Indian)</a:t>
            </a:r>
            <a:r>
              <a:rPr spc="200"/>
              <a:t> </a:t>
            </a:r>
            <a:r>
              <a:rPr/>
              <a:t>cuisine</a:t>
            </a:r>
            <a:r>
              <a:rPr spc="195"/>
              <a:t> </a:t>
            </a:r>
            <a:r>
              <a:rPr/>
              <a:t>coverage</a:t>
            </a:r>
            <a:r>
              <a:rPr spc="200"/>
              <a:t> </a:t>
            </a:r>
            <a:r>
              <a:rPr/>
              <a:t>and</a:t>
            </a:r>
            <a:r>
              <a:rPr spc="200"/>
              <a:t> </a:t>
            </a:r>
            <a:r>
              <a:rPr/>
              <a:t>the</a:t>
            </a:r>
            <a:r>
              <a:rPr spc="195"/>
              <a:t> </a:t>
            </a:r>
            <a:r>
              <a:rPr/>
              <a:t>integration</a:t>
            </a:r>
            <a:r>
              <a:rPr spc="200"/>
              <a:t> </a:t>
            </a:r>
            <a:r>
              <a:rPr spc="-25"/>
              <a:t>of </a:t>
            </a:r>
            <a:r>
              <a:rPr/>
              <a:t>gamified</a:t>
            </a:r>
            <a:r>
              <a:rPr spc="-30"/>
              <a:t> </a:t>
            </a:r>
            <a:r>
              <a:rPr/>
              <a:t>engagement</a:t>
            </a:r>
            <a:r>
              <a:rPr spc="-30"/>
              <a:t> </a:t>
            </a:r>
            <a:r>
              <a:rPr/>
              <a:t>with</a:t>
            </a:r>
            <a:r>
              <a:rPr spc="-30"/>
              <a:t> </a:t>
            </a:r>
            <a:r>
              <a:rPr/>
              <a:t>automated</a:t>
            </a:r>
            <a:r>
              <a:rPr spc="-30"/>
              <a:t> </a:t>
            </a:r>
            <a:r>
              <a:rPr/>
              <a:t>nutrition</a:t>
            </a:r>
            <a:r>
              <a:rPr spc="-30"/>
              <a:t> </a:t>
            </a:r>
            <a:r>
              <a:rPr spc="-10"/>
              <a:t>scoring.</a:t>
            </a:r>
            <a:endParaRPr/>
          </a:p>
        </p:txBody>
      </p:sp>
      <p:sp>
        <p:nvSpPr>
          <p:cNvPr id="775047467" name="object 14"/>
          <p:cNvSpPr txBox="1"/>
          <p:nvPr/>
        </p:nvSpPr>
        <p:spPr bwMode="auto">
          <a:xfrm>
            <a:off x="4254847" y="7988741"/>
            <a:ext cx="3139440" cy="453390"/>
          </a:xfrm>
          <a:prstGeom prst="rect">
            <a:avLst/>
          </a:prstGeom>
        </p:spPr>
        <p:txBody>
          <a:bodyPr vert="horz" wrap="square" lIns="0" tIns="12700" rIns="0" bIns="0" rtlCol="0">
            <a:spAutoFit/>
          </a:bodyPr>
          <a:lstStyle/>
          <a:p>
            <a:pPr marL="88265" marR="5080" indent="-76200">
              <a:lnSpc>
                <a:spcPct val="117000"/>
              </a:lnSpc>
              <a:spcBef>
                <a:spcPts val="100"/>
              </a:spcBef>
              <a:defRPr/>
            </a:pPr>
            <a:r>
              <a:rPr sz="1200" b="1">
                <a:latin typeface="Times New Roman"/>
                <a:cs typeface="Times New Roman"/>
              </a:rPr>
              <a:t>II.</a:t>
            </a:r>
            <a:r>
              <a:rPr sz="1200" b="1" spc="-75">
                <a:latin typeface="Times New Roman"/>
                <a:cs typeface="Times New Roman"/>
              </a:rPr>
              <a:t> </a:t>
            </a:r>
            <a:r>
              <a:rPr sz="1200" b="1" spc="-10">
                <a:latin typeface="Calibri"/>
                <a:cs typeface="Calibri"/>
              </a:rPr>
              <a:t>BACKGROUND:</a:t>
            </a:r>
            <a:r>
              <a:rPr sz="1200" b="1" spc="-20">
                <a:latin typeface="Calibri"/>
                <a:cs typeface="Calibri"/>
              </a:rPr>
              <a:t> </a:t>
            </a:r>
            <a:r>
              <a:rPr sz="1200" b="1">
                <a:latin typeface="Calibri"/>
                <a:cs typeface="Calibri"/>
              </a:rPr>
              <a:t>DIETARY</a:t>
            </a:r>
            <a:r>
              <a:rPr sz="1200" b="1" spc="-20">
                <a:latin typeface="Calibri"/>
                <a:cs typeface="Calibri"/>
              </a:rPr>
              <a:t> </a:t>
            </a:r>
            <a:r>
              <a:rPr sz="1200" b="1">
                <a:latin typeface="Calibri"/>
                <a:cs typeface="Calibri"/>
              </a:rPr>
              <a:t>HEALTH</a:t>
            </a:r>
            <a:r>
              <a:rPr sz="1200" b="1" spc="-20">
                <a:latin typeface="Calibri"/>
                <a:cs typeface="Calibri"/>
              </a:rPr>
              <a:t> </a:t>
            </a:r>
            <a:r>
              <a:rPr sz="1200" b="1" spc="-10">
                <a:latin typeface="Calibri"/>
                <a:cs typeface="Calibri"/>
              </a:rPr>
              <a:t>CHALLENGES </a:t>
            </a:r>
            <a:r>
              <a:rPr sz="1200" b="1">
                <a:latin typeface="Calibri"/>
                <a:cs typeface="Calibri"/>
              </a:rPr>
              <a:t>AND</a:t>
            </a:r>
            <a:r>
              <a:rPr sz="1200" b="1" spc="-20">
                <a:latin typeface="Calibri"/>
                <a:cs typeface="Calibri"/>
              </a:rPr>
              <a:t> </a:t>
            </a:r>
            <a:r>
              <a:rPr sz="1200" b="1">
                <a:latin typeface="Calibri"/>
                <a:cs typeface="Calibri"/>
              </a:rPr>
              <a:t>THE</a:t>
            </a:r>
            <a:r>
              <a:rPr sz="1200" b="1" spc="-20">
                <a:latin typeface="Calibri"/>
                <a:cs typeface="Calibri"/>
              </a:rPr>
              <a:t> </a:t>
            </a:r>
            <a:r>
              <a:rPr sz="1200" b="1">
                <a:latin typeface="Calibri"/>
                <a:cs typeface="Calibri"/>
              </a:rPr>
              <a:t>CASE</a:t>
            </a:r>
            <a:r>
              <a:rPr sz="1200" b="1" spc="-15">
                <a:latin typeface="Calibri"/>
                <a:cs typeface="Calibri"/>
              </a:rPr>
              <a:t> </a:t>
            </a:r>
            <a:r>
              <a:rPr sz="1200" b="1">
                <a:latin typeface="Calibri"/>
                <a:cs typeface="Calibri"/>
              </a:rPr>
              <a:t>FOR</a:t>
            </a:r>
            <a:r>
              <a:rPr sz="1200" b="1" spc="-20">
                <a:latin typeface="Calibri"/>
                <a:cs typeface="Calibri"/>
              </a:rPr>
              <a:t> </a:t>
            </a:r>
            <a:r>
              <a:rPr sz="1200" b="1" spc="-10">
                <a:latin typeface="Calibri"/>
                <a:cs typeface="Calibri"/>
              </a:rPr>
              <a:t>AUTOMATED</a:t>
            </a:r>
            <a:r>
              <a:rPr sz="1200" b="1" spc="-15">
                <a:latin typeface="Calibri"/>
                <a:cs typeface="Calibri"/>
              </a:rPr>
              <a:t> </a:t>
            </a:r>
            <a:r>
              <a:rPr sz="1200" b="1" spc="-10">
                <a:latin typeface="Calibri"/>
                <a:cs typeface="Calibri"/>
              </a:rPr>
              <a:t>ASSESSMENT</a:t>
            </a:r>
            <a:endParaRPr sz="1200">
              <a:latin typeface="Calibri"/>
              <a:cs typeface="Calibri"/>
            </a:endParaRPr>
          </a:p>
        </p:txBody>
      </p:sp>
      <p:sp>
        <p:nvSpPr>
          <p:cNvPr id="255168268" name="object 15"/>
          <p:cNvSpPr txBox="1"/>
          <p:nvPr/>
        </p:nvSpPr>
        <p:spPr bwMode="auto">
          <a:xfrm>
            <a:off x="4155942" y="8574682"/>
            <a:ext cx="2097405" cy="208279"/>
          </a:xfrm>
          <a:prstGeom prst="rect">
            <a:avLst/>
          </a:prstGeom>
        </p:spPr>
        <p:txBody>
          <a:bodyPr vert="horz" wrap="square" lIns="0" tIns="12700" rIns="0" bIns="0" rtlCol="0">
            <a:spAutoFit/>
          </a:bodyPr>
          <a:lstStyle/>
          <a:p>
            <a:pPr marL="12700">
              <a:lnSpc>
                <a:spcPct val="100000"/>
              </a:lnSpc>
              <a:spcBef>
                <a:spcPts val="100"/>
              </a:spcBef>
              <a:defRPr/>
            </a:pPr>
            <a:r>
              <a:rPr sz="1200" i="1">
                <a:latin typeface="Calibri"/>
                <a:cs typeface="Calibri"/>
              </a:rPr>
              <a:t>A.</a:t>
            </a:r>
            <a:r>
              <a:rPr sz="1200" i="1" spc="-10">
                <a:latin typeface="Calibri"/>
                <a:cs typeface="Calibri"/>
              </a:rPr>
              <a:t> </a:t>
            </a:r>
            <a:r>
              <a:rPr sz="1200" i="1">
                <a:latin typeface="Calibri"/>
                <a:cs typeface="Calibri"/>
              </a:rPr>
              <a:t>Burden</a:t>
            </a:r>
            <a:r>
              <a:rPr sz="1200" i="1" spc="-5">
                <a:latin typeface="Calibri"/>
                <a:cs typeface="Calibri"/>
              </a:rPr>
              <a:t> </a:t>
            </a:r>
            <a:r>
              <a:rPr sz="1200" i="1">
                <a:latin typeface="Calibri"/>
                <a:cs typeface="Calibri"/>
              </a:rPr>
              <a:t>of</a:t>
            </a:r>
            <a:r>
              <a:rPr sz="1200" i="1" spc="-10">
                <a:latin typeface="Calibri"/>
                <a:cs typeface="Calibri"/>
              </a:rPr>
              <a:t> Diet-</a:t>
            </a:r>
            <a:r>
              <a:rPr sz="1200" i="1">
                <a:latin typeface="Calibri"/>
                <a:cs typeface="Calibri"/>
              </a:rPr>
              <a:t>Related</a:t>
            </a:r>
            <a:r>
              <a:rPr sz="1200" i="1" spc="-5">
                <a:latin typeface="Calibri"/>
                <a:cs typeface="Calibri"/>
              </a:rPr>
              <a:t> </a:t>
            </a:r>
            <a:r>
              <a:rPr sz="1200" i="1" spc="-10">
                <a:latin typeface="Calibri"/>
                <a:cs typeface="Calibri"/>
              </a:rPr>
              <a:t>Disease</a:t>
            </a:r>
            <a:endParaRPr sz="1200">
              <a:latin typeface="Calibri"/>
              <a:cs typeface="Calibri"/>
            </a:endParaRPr>
          </a:p>
        </p:txBody>
      </p:sp>
      <p:sp>
        <p:nvSpPr>
          <p:cNvPr id="1813742426" name="object 16"/>
          <p:cNvSpPr txBox="1"/>
          <p:nvPr/>
        </p:nvSpPr>
        <p:spPr bwMode="auto">
          <a:xfrm>
            <a:off x="4121489" y="8887758"/>
            <a:ext cx="3405504" cy="614045"/>
          </a:xfrm>
          <a:prstGeom prst="rect">
            <a:avLst/>
          </a:prstGeom>
        </p:spPr>
        <p:txBody>
          <a:bodyPr vert="horz" wrap="square" lIns="0" tIns="12700" rIns="0" bIns="0" rtlCol="0">
            <a:spAutoFit/>
          </a:bodyPr>
          <a:lstStyle/>
          <a:p>
            <a:pPr marL="12700" marR="5080" algn="just">
              <a:lnSpc>
                <a:spcPct val="117000"/>
              </a:lnSpc>
              <a:spcBef>
                <a:spcPts val="100"/>
              </a:spcBef>
              <a:defRPr/>
            </a:pPr>
            <a:r>
              <a:rPr sz="1100" spc="-10">
                <a:latin typeface="Calibri"/>
                <a:cs typeface="Calibri"/>
              </a:rPr>
              <a:t>Non-</a:t>
            </a:r>
            <a:r>
              <a:rPr sz="1100">
                <a:latin typeface="Calibri"/>
                <a:cs typeface="Calibri"/>
              </a:rPr>
              <a:t>communicable</a:t>
            </a:r>
            <a:r>
              <a:rPr sz="1100" spc="-10">
                <a:latin typeface="Calibri"/>
                <a:cs typeface="Calibri"/>
              </a:rPr>
              <a:t> </a:t>
            </a:r>
            <a:r>
              <a:rPr sz="1100">
                <a:latin typeface="Calibri"/>
                <a:cs typeface="Calibri"/>
              </a:rPr>
              <a:t>diseases</a:t>
            </a:r>
            <a:r>
              <a:rPr sz="1100" spc="-5">
                <a:latin typeface="Calibri"/>
                <a:cs typeface="Calibri"/>
              </a:rPr>
              <a:t> </a:t>
            </a:r>
            <a:r>
              <a:rPr sz="1100">
                <a:latin typeface="Calibri"/>
                <a:cs typeface="Calibri"/>
              </a:rPr>
              <a:t>driven</a:t>
            </a:r>
            <a:r>
              <a:rPr sz="1100" spc="-5">
                <a:latin typeface="Calibri"/>
                <a:cs typeface="Calibri"/>
              </a:rPr>
              <a:t> </a:t>
            </a:r>
            <a:r>
              <a:rPr sz="1100">
                <a:latin typeface="Calibri"/>
                <a:cs typeface="Calibri"/>
              </a:rPr>
              <a:t>substantially</a:t>
            </a:r>
            <a:r>
              <a:rPr sz="1100" spc="-5">
                <a:latin typeface="Calibri"/>
                <a:cs typeface="Calibri"/>
              </a:rPr>
              <a:t> </a:t>
            </a:r>
            <a:r>
              <a:rPr sz="1100">
                <a:latin typeface="Calibri"/>
                <a:cs typeface="Calibri"/>
              </a:rPr>
              <a:t>by</a:t>
            </a:r>
            <a:r>
              <a:rPr sz="1100" spc="-5">
                <a:latin typeface="Calibri"/>
                <a:cs typeface="Calibri"/>
              </a:rPr>
              <a:t> </a:t>
            </a:r>
            <a:r>
              <a:rPr sz="1100" spc="-10">
                <a:latin typeface="Calibri"/>
                <a:cs typeface="Calibri"/>
              </a:rPr>
              <a:t>dietary </a:t>
            </a:r>
            <a:r>
              <a:rPr sz="1100">
                <a:latin typeface="Calibri"/>
                <a:cs typeface="Calibri"/>
              </a:rPr>
              <a:t>risk</a:t>
            </a:r>
            <a:r>
              <a:rPr sz="1100" spc="165">
                <a:latin typeface="Calibri"/>
                <a:cs typeface="Calibri"/>
              </a:rPr>
              <a:t> </a:t>
            </a:r>
            <a:r>
              <a:rPr sz="1100">
                <a:latin typeface="Calibri"/>
                <a:cs typeface="Calibri"/>
              </a:rPr>
              <a:t>factors</a:t>
            </a:r>
            <a:r>
              <a:rPr sz="1100" spc="165">
                <a:latin typeface="Calibri"/>
                <a:cs typeface="Calibri"/>
              </a:rPr>
              <a:t> </a:t>
            </a:r>
            <a:r>
              <a:rPr sz="1100">
                <a:latin typeface="Calibri"/>
                <a:cs typeface="Calibri"/>
              </a:rPr>
              <a:t>account</a:t>
            </a:r>
            <a:r>
              <a:rPr sz="1100" spc="170">
                <a:latin typeface="Calibri"/>
                <a:cs typeface="Calibri"/>
              </a:rPr>
              <a:t> </a:t>
            </a:r>
            <a:r>
              <a:rPr sz="1100">
                <a:latin typeface="Calibri"/>
                <a:cs typeface="Calibri"/>
              </a:rPr>
              <a:t>for</a:t>
            </a:r>
            <a:r>
              <a:rPr sz="1100" spc="165">
                <a:latin typeface="Calibri"/>
                <a:cs typeface="Calibri"/>
              </a:rPr>
              <a:t> </a:t>
            </a:r>
            <a:r>
              <a:rPr sz="1100">
                <a:latin typeface="Calibri"/>
                <a:cs typeface="Calibri"/>
              </a:rPr>
              <a:t>a</a:t>
            </a:r>
            <a:r>
              <a:rPr sz="1100" spc="165">
                <a:latin typeface="Calibri"/>
                <a:cs typeface="Calibri"/>
              </a:rPr>
              <a:t> </a:t>
            </a:r>
            <a:r>
              <a:rPr sz="1100">
                <a:latin typeface="Calibri"/>
                <a:cs typeface="Calibri"/>
              </a:rPr>
              <a:t>large</a:t>
            </a:r>
            <a:r>
              <a:rPr sz="1100" spc="170">
                <a:latin typeface="Calibri"/>
                <a:cs typeface="Calibri"/>
              </a:rPr>
              <a:t> </a:t>
            </a:r>
            <a:r>
              <a:rPr sz="1100">
                <a:latin typeface="Calibri"/>
                <a:cs typeface="Calibri"/>
              </a:rPr>
              <a:t>share</a:t>
            </a:r>
            <a:r>
              <a:rPr sz="1100" spc="165">
                <a:latin typeface="Calibri"/>
                <a:cs typeface="Calibri"/>
              </a:rPr>
              <a:t> </a:t>
            </a:r>
            <a:r>
              <a:rPr sz="1100">
                <a:latin typeface="Calibri"/>
                <a:cs typeface="Calibri"/>
              </a:rPr>
              <a:t>of</a:t>
            </a:r>
            <a:r>
              <a:rPr sz="1100" spc="170">
                <a:latin typeface="Calibri"/>
                <a:cs typeface="Calibri"/>
              </a:rPr>
              <a:t> </a:t>
            </a:r>
            <a:r>
              <a:rPr sz="1100">
                <a:latin typeface="Calibri"/>
                <a:cs typeface="Calibri"/>
              </a:rPr>
              <a:t>global</a:t>
            </a:r>
            <a:r>
              <a:rPr sz="1100" spc="165">
                <a:latin typeface="Calibri"/>
                <a:cs typeface="Calibri"/>
              </a:rPr>
              <a:t> </a:t>
            </a:r>
            <a:r>
              <a:rPr sz="1100" spc="-10">
                <a:latin typeface="Calibri"/>
                <a:cs typeface="Calibri"/>
              </a:rPr>
              <a:t>mortality, </a:t>
            </a:r>
            <a:r>
              <a:rPr sz="1100">
                <a:latin typeface="Calibri"/>
                <a:cs typeface="Calibri"/>
              </a:rPr>
              <a:t>with</a:t>
            </a:r>
            <a:r>
              <a:rPr sz="1100" spc="-15">
                <a:latin typeface="Calibri"/>
                <a:cs typeface="Calibri"/>
              </a:rPr>
              <a:t> </a:t>
            </a:r>
            <a:r>
              <a:rPr sz="1100">
                <a:latin typeface="Calibri"/>
                <a:cs typeface="Calibri"/>
              </a:rPr>
              <a:t>unhealthy</a:t>
            </a:r>
            <a:r>
              <a:rPr sz="1100" spc="-15">
                <a:latin typeface="Calibri"/>
                <a:cs typeface="Calibri"/>
              </a:rPr>
              <a:t> </a:t>
            </a:r>
            <a:r>
              <a:rPr sz="1100">
                <a:latin typeface="Calibri"/>
                <a:cs typeface="Calibri"/>
              </a:rPr>
              <a:t>diet</a:t>
            </a:r>
            <a:r>
              <a:rPr sz="1100" spc="-15">
                <a:latin typeface="Calibri"/>
                <a:cs typeface="Calibri"/>
              </a:rPr>
              <a:t> </a:t>
            </a:r>
            <a:r>
              <a:rPr sz="1100">
                <a:latin typeface="Calibri"/>
                <a:cs typeface="Calibri"/>
              </a:rPr>
              <a:t>named</a:t>
            </a:r>
            <a:r>
              <a:rPr sz="1100" spc="-15">
                <a:latin typeface="Calibri"/>
                <a:cs typeface="Calibri"/>
              </a:rPr>
              <a:t> </a:t>
            </a:r>
            <a:r>
              <a:rPr sz="1100">
                <a:latin typeface="Calibri"/>
                <a:cs typeface="Calibri"/>
              </a:rPr>
              <a:t>as</a:t>
            </a:r>
            <a:r>
              <a:rPr sz="1100" spc="-15">
                <a:latin typeface="Calibri"/>
                <a:cs typeface="Calibri"/>
              </a:rPr>
              <a:t> </a:t>
            </a:r>
            <a:r>
              <a:rPr sz="1100">
                <a:latin typeface="Calibri"/>
                <a:cs typeface="Calibri"/>
              </a:rPr>
              <a:t>a</a:t>
            </a:r>
            <a:r>
              <a:rPr sz="1100" spc="-10">
                <a:latin typeface="Calibri"/>
                <a:cs typeface="Calibri"/>
              </a:rPr>
              <a:t> leading</a:t>
            </a:r>
            <a:endParaRPr sz="1100">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253863309" name="object 3"/>
          <p:cNvSpPr txBox="1"/>
          <p:nvPr/>
        </p:nvSpPr>
        <p:spPr bwMode="auto">
          <a:xfrm>
            <a:off x="377189" y="484301"/>
            <a:ext cx="3381099" cy="1778308"/>
          </a:xfrm>
          <a:prstGeom prst="rect">
            <a:avLst/>
          </a:prstGeom>
        </p:spPr>
        <p:txBody>
          <a:bodyPr vert="horz" wrap="square" lIns="0" tIns="12700" rIns="0" bIns="0" rtlCol="0">
            <a:spAutoFit/>
          </a:bodyPr>
          <a:lstStyle/>
          <a:p>
            <a:pPr marL="12700" marR="5080" algn="just">
              <a:lnSpc>
                <a:spcPct val="117000"/>
              </a:lnSpc>
              <a:spcBef>
                <a:spcPts val="100"/>
              </a:spcBef>
              <a:defRPr/>
            </a:pPr>
            <a:r>
              <a:rPr sz="1100">
                <a:latin typeface="Calibri"/>
                <a:cs typeface="Calibri"/>
              </a:rPr>
              <a:t>behavioural</a:t>
            </a:r>
            <a:r>
              <a:rPr sz="1100" spc="-25">
                <a:latin typeface="Calibri"/>
                <a:cs typeface="Calibri"/>
              </a:rPr>
              <a:t> </a:t>
            </a:r>
            <a:r>
              <a:rPr sz="1100">
                <a:latin typeface="Calibri"/>
                <a:cs typeface="Calibri"/>
              </a:rPr>
              <a:t>risk</a:t>
            </a:r>
            <a:r>
              <a:rPr sz="1100" spc="-25">
                <a:latin typeface="Calibri"/>
                <a:cs typeface="Calibri"/>
              </a:rPr>
              <a:t> </a:t>
            </a:r>
            <a:r>
              <a:rPr sz="1100">
                <a:latin typeface="Calibri"/>
                <a:cs typeface="Calibri"/>
              </a:rPr>
              <a:t>factor</a:t>
            </a:r>
            <a:r>
              <a:rPr sz="1100" spc="-25">
                <a:latin typeface="Calibri"/>
                <a:cs typeface="Calibri"/>
              </a:rPr>
              <a:t> </a:t>
            </a:r>
            <a:r>
              <a:rPr sz="1100">
                <a:latin typeface="Calibri"/>
                <a:cs typeface="Calibri"/>
              </a:rPr>
              <a:t>alongside</a:t>
            </a:r>
            <a:r>
              <a:rPr sz="1100" spc="-25">
                <a:latin typeface="Calibri"/>
                <a:cs typeface="Calibri"/>
              </a:rPr>
              <a:t> </a:t>
            </a:r>
            <a:r>
              <a:rPr sz="1100">
                <a:latin typeface="Calibri"/>
                <a:cs typeface="Calibri"/>
              </a:rPr>
              <a:t>tobacco</a:t>
            </a:r>
            <a:r>
              <a:rPr sz="1100" spc="-20">
                <a:latin typeface="Calibri"/>
                <a:cs typeface="Calibri"/>
              </a:rPr>
              <a:t> </a:t>
            </a:r>
            <a:r>
              <a:rPr sz="1100">
                <a:latin typeface="Calibri"/>
                <a:cs typeface="Calibri"/>
              </a:rPr>
              <a:t>use</a:t>
            </a:r>
            <a:r>
              <a:rPr sz="1100" spc="-25">
                <a:latin typeface="Calibri"/>
                <a:cs typeface="Calibri"/>
              </a:rPr>
              <a:t> </a:t>
            </a:r>
            <a:r>
              <a:rPr sz="1100">
                <a:latin typeface="Calibri"/>
                <a:cs typeface="Calibri"/>
              </a:rPr>
              <a:t>and</a:t>
            </a:r>
            <a:r>
              <a:rPr sz="1100" spc="-25">
                <a:latin typeface="Calibri"/>
                <a:cs typeface="Calibri"/>
              </a:rPr>
              <a:t> </a:t>
            </a:r>
            <a:r>
              <a:rPr sz="1100" spc="-10">
                <a:latin typeface="Calibri"/>
                <a:cs typeface="Calibri"/>
              </a:rPr>
              <a:t>physical </a:t>
            </a:r>
            <a:r>
              <a:rPr sz="1100">
                <a:latin typeface="Calibri"/>
                <a:cs typeface="Calibri"/>
              </a:rPr>
              <a:t>inactivity</a:t>
            </a:r>
            <a:r>
              <a:rPr sz="1100" spc="-25">
                <a:latin typeface="Calibri"/>
                <a:cs typeface="Calibri"/>
              </a:rPr>
              <a:t> </a:t>
            </a:r>
            <a:r>
              <a:rPr sz="1100">
                <a:latin typeface="Calibri"/>
                <a:cs typeface="Calibri"/>
              </a:rPr>
              <a:t>[1].</a:t>
            </a:r>
            <a:r>
              <a:rPr sz="1100" spc="-25">
                <a:latin typeface="Calibri"/>
                <a:cs typeface="Calibri"/>
              </a:rPr>
              <a:t> </a:t>
            </a:r>
            <a:r>
              <a:rPr sz="1100">
                <a:latin typeface="Calibri"/>
                <a:cs typeface="Calibri"/>
              </a:rPr>
              <a:t>Global</a:t>
            </a:r>
            <a:r>
              <a:rPr sz="1100" spc="-25">
                <a:latin typeface="Calibri"/>
                <a:cs typeface="Calibri"/>
              </a:rPr>
              <a:t> </a:t>
            </a:r>
            <a:r>
              <a:rPr sz="1100" spc="-10">
                <a:latin typeface="Calibri"/>
                <a:cs typeface="Calibri"/>
              </a:rPr>
              <a:t>burden-of-</a:t>
            </a:r>
            <a:r>
              <a:rPr sz="1100">
                <a:latin typeface="Calibri"/>
                <a:cs typeface="Calibri"/>
              </a:rPr>
              <a:t>disease</a:t>
            </a:r>
            <a:r>
              <a:rPr sz="1100" spc="-25">
                <a:latin typeface="Calibri"/>
                <a:cs typeface="Calibri"/>
              </a:rPr>
              <a:t> </a:t>
            </a:r>
            <a:r>
              <a:rPr sz="1100">
                <a:latin typeface="Calibri"/>
                <a:cs typeface="Calibri"/>
              </a:rPr>
              <a:t>projections</a:t>
            </a:r>
            <a:r>
              <a:rPr sz="1100" spc="-25">
                <a:latin typeface="Calibri"/>
                <a:cs typeface="Calibri"/>
              </a:rPr>
              <a:t> </a:t>
            </a:r>
            <a:r>
              <a:rPr sz="1100" spc="-10">
                <a:latin typeface="Calibri"/>
                <a:cs typeface="Calibri"/>
              </a:rPr>
              <a:t>through </a:t>
            </a:r>
            <a:r>
              <a:rPr sz="1100">
                <a:latin typeface="Calibri"/>
                <a:cs typeface="Calibri"/>
              </a:rPr>
              <a:t>2050</a:t>
            </a:r>
            <a:r>
              <a:rPr sz="1100" spc="-25">
                <a:latin typeface="Calibri"/>
                <a:cs typeface="Calibri"/>
              </a:rPr>
              <a:t> </a:t>
            </a:r>
            <a:r>
              <a:rPr sz="1100">
                <a:latin typeface="Calibri"/>
                <a:cs typeface="Calibri"/>
              </a:rPr>
              <a:t>continue</a:t>
            </a:r>
            <a:r>
              <a:rPr sz="1100" spc="-20">
                <a:latin typeface="Calibri"/>
                <a:cs typeface="Calibri"/>
              </a:rPr>
              <a:t> </a:t>
            </a:r>
            <a:r>
              <a:rPr sz="1100">
                <a:latin typeface="Calibri"/>
                <a:cs typeface="Calibri"/>
              </a:rPr>
              <a:t>to</a:t>
            </a:r>
            <a:r>
              <a:rPr sz="1100" spc="-20">
                <a:latin typeface="Calibri"/>
                <a:cs typeface="Calibri"/>
              </a:rPr>
              <a:t> </a:t>
            </a:r>
            <a:r>
              <a:rPr sz="1100">
                <a:latin typeface="Calibri"/>
                <a:cs typeface="Calibri"/>
              </a:rPr>
              <a:t>attribute</a:t>
            </a:r>
            <a:r>
              <a:rPr sz="1100" spc="-25">
                <a:latin typeface="Calibri"/>
                <a:cs typeface="Calibri"/>
              </a:rPr>
              <a:t> </a:t>
            </a:r>
            <a:r>
              <a:rPr sz="1100">
                <a:latin typeface="Calibri"/>
                <a:cs typeface="Calibri"/>
              </a:rPr>
              <a:t>a</a:t>
            </a:r>
            <a:r>
              <a:rPr sz="1100" spc="-20">
                <a:latin typeface="Calibri"/>
                <a:cs typeface="Calibri"/>
              </a:rPr>
              <a:t> </a:t>
            </a:r>
            <a:r>
              <a:rPr sz="1100">
                <a:latin typeface="Calibri"/>
                <a:cs typeface="Calibri"/>
              </a:rPr>
              <a:t>large</a:t>
            </a:r>
            <a:r>
              <a:rPr sz="1100" spc="-20">
                <a:latin typeface="Calibri"/>
                <a:cs typeface="Calibri"/>
              </a:rPr>
              <a:t> </a:t>
            </a:r>
            <a:r>
              <a:rPr sz="1100">
                <a:latin typeface="Calibri"/>
                <a:cs typeface="Calibri"/>
              </a:rPr>
              <a:t>proportion</a:t>
            </a:r>
            <a:r>
              <a:rPr sz="1100" spc="-25">
                <a:latin typeface="Calibri"/>
                <a:cs typeface="Calibri"/>
              </a:rPr>
              <a:t> of </a:t>
            </a:r>
            <a:r>
              <a:rPr sz="1100" spc="-10">
                <a:latin typeface="Calibri"/>
                <a:cs typeface="Calibri"/>
              </a:rPr>
              <a:t>cardiovascular</a:t>
            </a:r>
            <a:r>
              <a:rPr sz="1100" spc="-5">
                <a:latin typeface="Calibri"/>
                <a:cs typeface="Calibri"/>
              </a:rPr>
              <a:t> </a:t>
            </a:r>
            <a:r>
              <a:rPr sz="1100">
                <a:latin typeface="Calibri"/>
                <a:cs typeface="Calibri"/>
              </a:rPr>
              <a:t>and</a:t>
            </a:r>
            <a:r>
              <a:rPr sz="1100" spc="-5">
                <a:latin typeface="Calibri"/>
                <a:cs typeface="Calibri"/>
              </a:rPr>
              <a:t> </a:t>
            </a:r>
            <a:r>
              <a:rPr sz="1100">
                <a:latin typeface="Calibri"/>
                <a:cs typeface="Calibri"/>
              </a:rPr>
              <a:t>metabolic</a:t>
            </a:r>
            <a:r>
              <a:rPr sz="1100" spc="-5">
                <a:latin typeface="Calibri"/>
                <a:cs typeface="Calibri"/>
              </a:rPr>
              <a:t> </a:t>
            </a:r>
            <a:r>
              <a:rPr sz="1100">
                <a:latin typeface="Calibri"/>
                <a:cs typeface="Calibri"/>
              </a:rPr>
              <a:t>disease burden</a:t>
            </a:r>
            <a:r>
              <a:rPr sz="1100" spc="-5">
                <a:latin typeface="Calibri"/>
                <a:cs typeface="Calibri"/>
              </a:rPr>
              <a:t> </a:t>
            </a:r>
            <a:r>
              <a:rPr sz="1100">
                <a:latin typeface="Calibri"/>
                <a:cs typeface="Calibri"/>
              </a:rPr>
              <a:t>to</a:t>
            </a:r>
            <a:r>
              <a:rPr sz="1100" spc="-5">
                <a:latin typeface="Calibri"/>
                <a:cs typeface="Calibri"/>
              </a:rPr>
              <a:t> </a:t>
            </a:r>
            <a:r>
              <a:rPr sz="1100" spc="-10">
                <a:latin typeface="Calibri"/>
                <a:cs typeface="Calibri"/>
              </a:rPr>
              <a:t>dietary</a:t>
            </a:r>
            <a:r>
              <a:rPr sz="1100" spc="500">
                <a:latin typeface="Calibri"/>
                <a:cs typeface="Calibri"/>
              </a:rPr>
              <a:t> </a:t>
            </a:r>
            <a:r>
              <a:rPr sz="1100">
                <a:latin typeface="Calibri"/>
                <a:cs typeface="Calibri"/>
              </a:rPr>
              <a:t>risk,</a:t>
            </a:r>
            <a:r>
              <a:rPr sz="1100" spc="-20">
                <a:latin typeface="Calibri"/>
                <a:cs typeface="Calibri"/>
              </a:rPr>
              <a:t> </a:t>
            </a:r>
            <a:r>
              <a:rPr sz="1100">
                <a:latin typeface="Calibri"/>
                <a:cs typeface="Calibri"/>
              </a:rPr>
              <a:t>comparable</a:t>
            </a:r>
            <a:r>
              <a:rPr sz="1100" spc="-15">
                <a:latin typeface="Calibri"/>
                <a:cs typeface="Calibri"/>
              </a:rPr>
              <a:t> </a:t>
            </a:r>
            <a:r>
              <a:rPr sz="1100">
                <a:latin typeface="Calibri"/>
                <a:cs typeface="Calibri"/>
              </a:rPr>
              <a:t>in</a:t>
            </a:r>
            <a:r>
              <a:rPr sz="1100" spc="-15">
                <a:latin typeface="Calibri"/>
                <a:cs typeface="Calibri"/>
              </a:rPr>
              <a:t> </a:t>
            </a:r>
            <a:r>
              <a:rPr sz="1100">
                <a:latin typeface="Calibri"/>
                <a:cs typeface="Calibri"/>
              </a:rPr>
              <a:t>scale</a:t>
            </a:r>
            <a:r>
              <a:rPr sz="1100" spc="-20">
                <a:latin typeface="Calibri"/>
                <a:cs typeface="Calibri"/>
              </a:rPr>
              <a:t> </a:t>
            </a:r>
            <a:r>
              <a:rPr sz="1100">
                <a:latin typeface="Calibri"/>
                <a:cs typeface="Calibri"/>
              </a:rPr>
              <a:t>to</a:t>
            </a:r>
            <a:r>
              <a:rPr sz="1100" spc="-15">
                <a:latin typeface="Calibri"/>
                <a:cs typeface="Calibri"/>
              </a:rPr>
              <a:t> </a:t>
            </a:r>
            <a:r>
              <a:rPr sz="1100">
                <a:latin typeface="Calibri"/>
                <a:cs typeface="Calibri"/>
              </a:rPr>
              <a:t>high</a:t>
            </a:r>
            <a:r>
              <a:rPr sz="1100" spc="-15">
                <a:latin typeface="Calibri"/>
                <a:cs typeface="Calibri"/>
              </a:rPr>
              <a:t> </a:t>
            </a:r>
            <a:r>
              <a:rPr sz="1100">
                <a:latin typeface="Calibri"/>
                <a:cs typeface="Calibri"/>
              </a:rPr>
              <a:t>BMI</a:t>
            </a:r>
            <a:r>
              <a:rPr sz="1100" spc="-15">
                <a:latin typeface="Calibri"/>
                <a:cs typeface="Calibri"/>
              </a:rPr>
              <a:t> </a:t>
            </a:r>
            <a:r>
              <a:rPr sz="1100">
                <a:latin typeface="Calibri"/>
                <a:cs typeface="Calibri"/>
              </a:rPr>
              <a:t>and</a:t>
            </a:r>
            <a:r>
              <a:rPr sz="1100" spc="-20">
                <a:latin typeface="Calibri"/>
                <a:cs typeface="Calibri"/>
              </a:rPr>
              <a:t> </a:t>
            </a:r>
            <a:r>
              <a:rPr sz="1100">
                <a:latin typeface="Calibri"/>
                <a:cs typeface="Calibri"/>
              </a:rPr>
              <a:t>elevated</a:t>
            </a:r>
            <a:r>
              <a:rPr sz="1100" spc="-15">
                <a:latin typeface="Calibri"/>
                <a:cs typeface="Calibri"/>
              </a:rPr>
              <a:t> </a:t>
            </a:r>
            <a:r>
              <a:rPr sz="1100" spc="-10">
                <a:latin typeface="Calibri"/>
                <a:cs typeface="Calibri"/>
              </a:rPr>
              <a:t>fasting </a:t>
            </a:r>
            <a:r>
              <a:rPr sz="1100">
                <a:latin typeface="Calibri"/>
                <a:cs typeface="Calibri"/>
              </a:rPr>
              <a:t>glucose</a:t>
            </a:r>
            <a:r>
              <a:rPr sz="1100" spc="-20">
                <a:latin typeface="Calibri"/>
                <a:cs typeface="Calibri"/>
              </a:rPr>
              <a:t> </a:t>
            </a:r>
            <a:r>
              <a:rPr sz="1100">
                <a:latin typeface="Calibri"/>
                <a:cs typeface="Calibri"/>
              </a:rPr>
              <a:t>[2].</a:t>
            </a:r>
            <a:r>
              <a:rPr sz="1100" spc="-20">
                <a:latin typeface="Calibri"/>
                <a:cs typeface="Calibri"/>
              </a:rPr>
              <a:t> </a:t>
            </a:r>
            <a:r>
              <a:rPr sz="1100">
                <a:latin typeface="Calibri"/>
                <a:cs typeface="Calibri"/>
              </a:rPr>
              <a:t>This</a:t>
            </a:r>
            <a:r>
              <a:rPr sz="1100" spc="-15">
                <a:latin typeface="Calibri"/>
                <a:cs typeface="Calibri"/>
              </a:rPr>
              <a:t> </a:t>
            </a:r>
            <a:r>
              <a:rPr sz="1100">
                <a:latin typeface="Calibri"/>
                <a:cs typeface="Calibri"/>
              </a:rPr>
              <a:t>scale</a:t>
            </a:r>
            <a:r>
              <a:rPr sz="1100" spc="-20">
                <a:latin typeface="Calibri"/>
                <a:cs typeface="Calibri"/>
              </a:rPr>
              <a:t> </a:t>
            </a:r>
            <a:r>
              <a:rPr sz="1100">
                <a:latin typeface="Calibri"/>
                <a:cs typeface="Calibri"/>
              </a:rPr>
              <a:t>of</a:t>
            </a:r>
            <a:r>
              <a:rPr sz="1100" spc="-20">
                <a:latin typeface="Calibri"/>
                <a:cs typeface="Calibri"/>
              </a:rPr>
              <a:t> </a:t>
            </a:r>
            <a:r>
              <a:rPr sz="1100">
                <a:latin typeface="Calibri"/>
                <a:cs typeface="Calibri"/>
              </a:rPr>
              <a:t>impact</a:t>
            </a:r>
            <a:r>
              <a:rPr sz="1100" spc="-15">
                <a:latin typeface="Calibri"/>
                <a:cs typeface="Calibri"/>
              </a:rPr>
              <a:t> </a:t>
            </a:r>
            <a:r>
              <a:rPr sz="1100">
                <a:latin typeface="Calibri"/>
                <a:cs typeface="Calibri"/>
              </a:rPr>
              <a:t>is</a:t>
            </a:r>
            <a:r>
              <a:rPr sz="1100" spc="-20">
                <a:latin typeface="Calibri"/>
                <a:cs typeface="Calibri"/>
              </a:rPr>
              <a:t> </a:t>
            </a:r>
            <a:r>
              <a:rPr sz="1100">
                <a:latin typeface="Calibri"/>
                <a:cs typeface="Calibri"/>
              </a:rPr>
              <a:t>a</a:t>
            </a:r>
            <a:r>
              <a:rPr sz="1100" spc="-20">
                <a:latin typeface="Calibri"/>
                <a:cs typeface="Calibri"/>
              </a:rPr>
              <a:t> </a:t>
            </a:r>
            <a:r>
              <a:rPr sz="1100">
                <a:latin typeface="Calibri"/>
                <a:cs typeface="Calibri"/>
              </a:rPr>
              <a:t>central</a:t>
            </a:r>
            <a:r>
              <a:rPr sz="1100" spc="-15">
                <a:latin typeface="Calibri"/>
                <a:cs typeface="Calibri"/>
              </a:rPr>
              <a:t> </a:t>
            </a:r>
            <a:r>
              <a:rPr sz="1100">
                <a:latin typeface="Calibri"/>
                <a:cs typeface="Calibri"/>
              </a:rPr>
              <a:t>motivation</a:t>
            </a:r>
            <a:r>
              <a:rPr sz="1100" spc="-20">
                <a:latin typeface="Calibri"/>
                <a:cs typeface="Calibri"/>
              </a:rPr>
              <a:t> </a:t>
            </a:r>
            <a:r>
              <a:rPr sz="1100" spc="-25">
                <a:latin typeface="Calibri"/>
                <a:cs typeface="Calibri"/>
              </a:rPr>
              <a:t>for </a:t>
            </a:r>
            <a:r>
              <a:rPr sz="1100">
                <a:latin typeface="Calibri"/>
                <a:cs typeface="Calibri"/>
              </a:rPr>
              <a:t>tools</a:t>
            </a:r>
            <a:r>
              <a:rPr sz="1100" spc="-20">
                <a:latin typeface="Calibri"/>
                <a:cs typeface="Calibri"/>
              </a:rPr>
              <a:t> </a:t>
            </a:r>
            <a:r>
              <a:rPr sz="1100">
                <a:latin typeface="Calibri"/>
                <a:cs typeface="Calibri"/>
              </a:rPr>
              <a:t>that</a:t>
            </a:r>
            <a:r>
              <a:rPr sz="1100" spc="-20">
                <a:latin typeface="Calibri"/>
                <a:cs typeface="Calibri"/>
              </a:rPr>
              <a:t> </a:t>
            </a:r>
            <a:r>
              <a:rPr sz="1100">
                <a:latin typeface="Calibri"/>
                <a:cs typeface="Calibri"/>
              </a:rPr>
              <a:t>make</a:t>
            </a:r>
            <a:r>
              <a:rPr sz="1100" spc="-15">
                <a:latin typeface="Calibri"/>
                <a:cs typeface="Calibri"/>
              </a:rPr>
              <a:t> </a:t>
            </a:r>
            <a:r>
              <a:rPr sz="1100" spc="-10">
                <a:latin typeface="Calibri"/>
                <a:cs typeface="Calibri"/>
              </a:rPr>
              <a:t>everyday</a:t>
            </a:r>
            <a:r>
              <a:rPr sz="1100" spc="-20">
                <a:latin typeface="Calibri"/>
                <a:cs typeface="Calibri"/>
              </a:rPr>
              <a:t> </a:t>
            </a:r>
            <a:r>
              <a:rPr sz="1100">
                <a:latin typeface="Calibri"/>
                <a:cs typeface="Calibri"/>
              </a:rPr>
              <a:t>dietary</a:t>
            </a:r>
            <a:r>
              <a:rPr sz="1100" spc="-20">
                <a:latin typeface="Calibri"/>
                <a:cs typeface="Calibri"/>
              </a:rPr>
              <a:t> </a:t>
            </a:r>
            <a:r>
              <a:rPr sz="1100">
                <a:latin typeface="Calibri"/>
                <a:cs typeface="Calibri"/>
              </a:rPr>
              <a:t>quality</a:t>
            </a:r>
            <a:r>
              <a:rPr sz="1100" spc="-15">
                <a:latin typeface="Calibri"/>
                <a:cs typeface="Calibri"/>
              </a:rPr>
              <a:t> </a:t>
            </a:r>
            <a:r>
              <a:rPr sz="1100">
                <a:latin typeface="Calibri"/>
                <a:cs typeface="Calibri"/>
              </a:rPr>
              <a:t>visible</a:t>
            </a:r>
            <a:r>
              <a:rPr sz="1100" spc="-20">
                <a:latin typeface="Calibri"/>
                <a:cs typeface="Calibri"/>
              </a:rPr>
              <a:t> </a:t>
            </a:r>
            <a:r>
              <a:rPr sz="1100" spc="-25">
                <a:latin typeface="Calibri"/>
                <a:cs typeface="Calibri"/>
              </a:rPr>
              <a:t>to </a:t>
            </a:r>
            <a:r>
              <a:rPr sz="1100">
                <a:latin typeface="Calibri"/>
                <a:cs typeface="Calibri"/>
              </a:rPr>
              <a:t>individuals</a:t>
            </a:r>
            <a:r>
              <a:rPr sz="1100" spc="-35">
                <a:latin typeface="Calibri"/>
                <a:cs typeface="Calibri"/>
              </a:rPr>
              <a:t> </a:t>
            </a:r>
            <a:r>
              <a:rPr sz="1100">
                <a:latin typeface="Calibri"/>
                <a:cs typeface="Calibri"/>
              </a:rPr>
              <a:t>rather</a:t>
            </a:r>
            <a:r>
              <a:rPr sz="1100" spc="-30">
                <a:latin typeface="Calibri"/>
                <a:cs typeface="Calibri"/>
              </a:rPr>
              <a:t> </a:t>
            </a:r>
            <a:r>
              <a:rPr sz="1100">
                <a:latin typeface="Calibri"/>
                <a:cs typeface="Calibri"/>
              </a:rPr>
              <a:t>than</a:t>
            </a:r>
            <a:r>
              <a:rPr sz="1100" spc="-35">
                <a:latin typeface="Calibri"/>
                <a:cs typeface="Calibri"/>
              </a:rPr>
              <a:t> </a:t>
            </a:r>
            <a:r>
              <a:rPr sz="1100">
                <a:latin typeface="Calibri"/>
                <a:cs typeface="Calibri"/>
              </a:rPr>
              <a:t>something</a:t>
            </a:r>
            <a:r>
              <a:rPr sz="1100" spc="-30">
                <a:latin typeface="Calibri"/>
                <a:cs typeface="Calibri"/>
              </a:rPr>
              <a:t> </a:t>
            </a:r>
            <a:r>
              <a:rPr sz="1100">
                <a:latin typeface="Calibri"/>
                <a:cs typeface="Calibri"/>
              </a:rPr>
              <a:t>assessed</a:t>
            </a:r>
            <a:r>
              <a:rPr sz="1100" spc="-35">
                <a:latin typeface="Calibri"/>
                <a:cs typeface="Calibri"/>
              </a:rPr>
              <a:t> </a:t>
            </a:r>
            <a:r>
              <a:rPr sz="1100" spc="-20">
                <a:latin typeface="Calibri"/>
                <a:cs typeface="Calibri"/>
              </a:rPr>
              <a:t>only </a:t>
            </a:r>
            <a:r>
              <a:rPr sz="1100" spc="-10">
                <a:latin typeface="Calibri"/>
                <a:cs typeface="Calibri"/>
              </a:rPr>
              <a:t>retrospectively</a:t>
            </a:r>
            <a:r>
              <a:rPr sz="1100" spc="25">
                <a:latin typeface="Calibri"/>
                <a:cs typeface="Calibri"/>
              </a:rPr>
              <a:t> </a:t>
            </a:r>
            <a:r>
              <a:rPr sz="1100">
                <a:latin typeface="Calibri"/>
                <a:cs typeface="Calibri"/>
              </a:rPr>
              <a:t>by</a:t>
            </a:r>
            <a:r>
              <a:rPr sz="1100" spc="25">
                <a:latin typeface="Calibri"/>
                <a:cs typeface="Calibri"/>
              </a:rPr>
              <a:t> </a:t>
            </a:r>
            <a:r>
              <a:rPr sz="1100" spc="-10">
                <a:latin typeface="Calibri"/>
                <a:cs typeface="Calibri"/>
              </a:rPr>
              <a:t>clinicians.</a:t>
            </a:r>
            <a:endParaRPr sz="1100">
              <a:latin typeface="Calibri"/>
              <a:cs typeface="Calibri"/>
            </a:endParaRPr>
          </a:p>
        </p:txBody>
      </p:sp>
      <p:sp>
        <p:nvSpPr>
          <p:cNvPr id="519227257" name="object 4"/>
          <p:cNvSpPr txBox="1"/>
          <p:nvPr/>
        </p:nvSpPr>
        <p:spPr bwMode="auto">
          <a:xfrm>
            <a:off x="377189" y="2404175"/>
            <a:ext cx="2972435" cy="208279"/>
          </a:xfrm>
          <a:prstGeom prst="rect">
            <a:avLst/>
          </a:prstGeom>
        </p:spPr>
        <p:txBody>
          <a:bodyPr vert="horz" wrap="square" lIns="0" tIns="12700" rIns="0" bIns="0" rtlCol="0">
            <a:spAutoFit/>
          </a:bodyPr>
          <a:lstStyle/>
          <a:p>
            <a:pPr marL="12700">
              <a:lnSpc>
                <a:spcPct val="100000"/>
              </a:lnSpc>
              <a:spcBef>
                <a:spcPts val="100"/>
              </a:spcBef>
              <a:defRPr/>
            </a:pPr>
            <a:r>
              <a:rPr sz="1200" i="1">
                <a:latin typeface="Calibri"/>
                <a:cs typeface="Calibri"/>
              </a:rPr>
              <a:t>B.</a:t>
            </a:r>
            <a:r>
              <a:rPr sz="1200" i="1" spc="-35">
                <a:latin typeface="Calibri"/>
                <a:cs typeface="Calibri"/>
              </a:rPr>
              <a:t> </a:t>
            </a:r>
            <a:r>
              <a:rPr sz="1200" i="1">
                <a:latin typeface="Calibri"/>
                <a:cs typeface="Calibri"/>
              </a:rPr>
              <a:t>Limitations</a:t>
            </a:r>
            <a:r>
              <a:rPr sz="1200" i="1" spc="-25">
                <a:latin typeface="Calibri"/>
                <a:cs typeface="Calibri"/>
              </a:rPr>
              <a:t> </a:t>
            </a:r>
            <a:r>
              <a:rPr sz="1200" i="1">
                <a:latin typeface="Calibri"/>
                <a:cs typeface="Calibri"/>
              </a:rPr>
              <a:t>of</a:t>
            </a:r>
            <a:r>
              <a:rPr sz="1200" i="1" spc="-20">
                <a:latin typeface="Calibri"/>
                <a:cs typeface="Calibri"/>
              </a:rPr>
              <a:t> </a:t>
            </a:r>
            <a:r>
              <a:rPr sz="1200" i="1">
                <a:latin typeface="Calibri"/>
                <a:cs typeface="Calibri"/>
              </a:rPr>
              <a:t>Traditional</a:t>
            </a:r>
            <a:r>
              <a:rPr sz="1200" i="1" spc="-25">
                <a:latin typeface="Calibri"/>
                <a:cs typeface="Calibri"/>
              </a:rPr>
              <a:t> </a:t>
            </a:r>
            <a:r>
              <a:rPr sz="1200" i="1">
                <a:latin typeface="Calibri"/>
                <a:cs typeface="Calibri"/>
              </a:rPr>
              <a:t>Dietary</a:t>
            </a:r>
            <a:r>
              <a:rPr sz="1200" i="1" spc="-20">
                <a:latin typeface="Calibri"/>
                <a:cs typeface="Calibri"/>
              </a:rPr>
              <a:t> </a:t>
            </a:r>
            <a:r>
              <a:rPr sz="1200" i="1" spc="-10">
                <a:latin typeface="Calibri"/>
                <a:cs typeface="Calibri"/>
              </a:rPr>
              <a:t>Assessment</a:t>
            </a:r>
            <a:endParaRPr sz="1200">
              <a:latin typeface="Calibri"/>
              <a:cs typeface="Calibri"/>
            </a:endParaRPr>
          </a:p>
        </p:txBody>
      </p:sp>
      <p:sp>
        <p:nvSpPr>
          <p:cNvPr id="1100772165" name="object 5"/>
          <p:cNvSpPr txBox="1"/>
          <p:nvPr/>
        </p:nvSpPr>
        <p:spPr bwMode="auto">
          <a:xfrm>
            <a:off x="377189" y="2717250"/>
            <a:ext cx="3320138" cy="1582169"/>
          </a:xfrm>
          <a:prstGeom prst="rect">
            <a:avLst/>
          </a:prstGeom>
        </p:spPr>
        <p:txBody>
          <a:bodyPr vert="horz" wrap="square" lIns="0" tIns="12700" rIns="0" bIns="0" rtlCol="0">
            <a:spAutoFit/>
          </a:bodyPr>
          <a:lstStyle/>
          <a:p>
            <a:pPr marL="12700" marR="5080" algn="just">
              <a:lnSpc>
                <a:spcPct val="117000"/>
              </a:lnSpc>
              <a:spcBef>
                <a:spcPts val="100"/>
              </a:spcBef>
              <a:defRPr/>
            </a:pPr>
            <a:r>
              <a:rPr sz="1100">
                <a:latin typeface="Calibri"/>
                <a:cs typeface="Calibri"/>
              </a:rPr>
              <a:t>The</a:t>
            </a:r>
            <a:r>
              <a:rPr sz="1100" spc="-25">
                <a:latin typeface="Calibri"/>
                <a:cs typeface="Calibri"/>
              </a:rPr>
              <a:t> </a:t>
            </a:r>
            <a:r>
              <a:rPr sz="1100">
                <a:latin typeface="Calibri"/>
                <a:cs typeface="Calibri"/>
              </a:rPr>
              <a:t>dominant</a:t>
            </a:r>
            <a:r>
              <a:rPr sz="1100" spc="-25">
                <a:latin typeface="Calibri"/>
                <a:cs typeface="Calibri"/>
              </a:rPr>
              <a:t> </a:t>
            </a:r>
            <a:r>
              <a:rPr sz="1100">
                <a:latin typeface="Calibri"/>
                <a:cs typeface="Calibri"/>
              </a:rPr>
              <a:t>method</a:t>
            </a:r>
            <a:r>
              <a:rPr sz="1100" spc="-25">
                <a:latin typeface="Calibri"/>
                <a:cs typeface="Calibri"/>
              </a:rPr>
              <a:t> </a:t>
            </a:r>
            <a:r>
              <a:rPr sz="1100">
                <a:latin typeface="Calibri"/>
                <a:cs typeface="Calibri"/>
              </a:rPr>
              <a:t>for</a:t>
            </a:r>
            <a:r>
              <a:rPr sz="1100" spc="-25">
                <a:latin typeface="Calibri"/>
                <a:cs typeface="Calibri"/>
              </a:rPr>
              <a:t> </a:t>
            </a:r>
            <a:r>
              <a:rPr sz="1100">
                <a:latin typeface="Calibri"/>
                <a:cs typeface="Calibri"/>
              </a:rPr>
              <a:t>assessing</a:t>
            </a:r>
            <a:r>
              <a:rPr sz="1100" spc="-25">
                <a:latin typeface="Calibri"/>
                <a:cs typeface="Calibri"/>
              </a:rPr>
              <a:t> </a:t>
            </a:r>
            <a:r>
              <a:rPr sz="1100">
                <a:latin typeface="Calibri"/>
                <a:cs typeface="Calibri"/>
              </a:rPr>
              <a:t>what</a:t>
            </a:r>
            <a:r>
              <a:rPr sz="1100" spc="-25">
                <a:latin typeface="Calibri"/>
                <a:cs typeface="Calibri"/>
              </a:rPr>
              <a:t> </a:t>
            </a:r>
            <a:r>
              <a:rPr sz="1100">
                <a:latin typeface="Calibri"/>
                <a:cs typeface="Calibri"/>
              </a:rPr>
              <a:t>people</a:t>
            </a:r>
            <a:r>
              <a:rPr sz="1100" spc="-25">
                <a:latin typeface="Calibri"/>
                <a:cs typeface="Calibri"/>
              </a:rPr>
              <a:t> </a:t>
            </a:r>
            <a:r>
              <a:rPr sz="1100">
                <a:latin typeface="Calibri"/>
                <a:cs typeface="Calibri"/>
              </a:rPr>
              <a:t>eat,</a:t>
            </a:r>
            <a:r>
              <a:rPr sz="1100" spc="-25">
                <a:latin typeface="Calibri"/>
                <a:cs typeface="Calibri"/>
              </a:rPr>
              <a:t> 24-</a:t>
            </a:r>
            <a:r>
              <a:rPr sz="1100">
                <a:latin typeface="Calibri"/>
                <a:cs typeface="Calibri"/>
              </a:rPr>
              <a:t>hour</a:t>
            </a:r>
            <a:r>
              <a:rPr sz="1100" spc="-30">
                <a:latin typeface="Calibri"/>
                <a:cs typeface="Calibri"/>
              </a:rPr>
              <a:t> </a:t>
            </a:r>
            <a:r>
              <a:rPr sz="1100">
                <a:latin typeface="Calibri"/>
                <a:cs typeface="Calibri"/>
              </a:rPr>
              <a:t>dietary</a:t>
            </a:r>
            <a:r>
              <a:rPr sz="1100" spc="-25">
                <a:latin typeface="Calibri"/>
                <a:cs typeface="Calibri"/>
              </a:rPr>
              <a:t> </a:t>
            </a:r>
            <a:r>
              <a:rPr sz="1100">
                <a:latin typeface="Calibri"/>
                <a:cs typeface="Calibri"/>
              </a:rPr>
              <a:t>recall,</a:t>
            </a:r>
            <a:r>
              <a:rPr sz="1100" spc="-25">
                <a:latin typeface="Calibri"/>
                <a:cs typeface="Calibri"/>
              </a:rPr>
              <a:t> </a:t>
            </a:r>
            <a:r>
              <a:rPr sz="1100">
                <a:latin typeface="Calibri"/>
                <a:cs typeface="Calibri"/>
              </a:rPr>
              <a:t>requires</a:t>
            </a:r>
            <a:r>
              <a:rPr sz="1100" spc="-25">
                <a:latin typeface="Calibri"/>
                <a:cs typeface="Calibri"/>
              </a:rPr>
              <a:t> </a:t>
            </a:r>
            <a:r>
              <a:rPr sz="1100">
                <a:latin typeface="Calibri"/>
                <a:cs typeface="Calibri"/>
              </a:rPr>
              <a:t>participants</a:t>
            </a:r>
            <a:r>
              <a:rPr sz="1100" spc="-25">
                <a:latin typeface="Calibri"/>
                <a:cs typeface="Calibri"/>
              </a:rPr>
              <a:t> </a:t>
            </a:r>
            <a:r>
              <a:rPr sz="1100">
                <a:latin typeface="Calibri"/>
                <a:cs typeface="Calibri"/>
              </a:rPr>
              <a:t>to</a:t>
            </a:r>
            <a:r>
              <a:rPr sz="1100" spc="-30">
                <a:latin typeface="Calibri"/>
                <a:cs typeface="Calibri"/>
              </a:rPr>
              <a:t> </a:t>
            </a:r>
            <a:r>
              <a:rPr sz="1100">
                <a:latin typeface="Calibri"/>
                <a:cs typeface="Calibri"/>
              </a:rPr>
              <a:t>recall</a:t>
            </a:r>
            <a:r>
              <a:rPr sz="1100" spc="-25">
                <a:latin typeface="Calibri"/>
                <a:cs typeface="Calibri"/>
              </a:rPr>
              <a:t> and </a:t>
            </a:r>
            <a:r>
              <a:rPr sz="1100">
                <a:latin typeface="Calibri"/>
                <a:cs typeface="Calibri"/>
              </a:rPr>
              <a:t>estimate</a:t>
            </a:r>
            <a:r>
              <a:rPr sz="1100" spc="-25">
                <a:latin typeface="Calibri"/>
                <a:cs typeface="Calibri"/>
              </a:rPr>
              <a:t> </a:t>
            </a:r>
            <a:r>
              <a:rPr sz="1100">
                <a:latin typeface="Calibri"/>
                <a:cs typeface="Calibri"/>
              </a:rPr>
              <a:t>portion</a:t>
            </a:r>
            <a:r>
              <a:rPr sz="1100" spc="-25">
                <a:latin typeface="Calibri"/>
                <a:cs typeface="Calibri"/>
              </a:rPr>
              <a:t> </a:t>
            </a:r>
            <a:r>
              <a:rPr sz="1100">
                <a:latin typeface="Calibri"/>
                <a:cs typeface="Calibri"/>
              </a:rPr>
              <a:t>sizes</a:t>
            </a:r>
            <a:r>
              <a:rPr sz="1100" spc="-25">
                <a:latin typeface="Calibri"/>
                <a:cs typeface="Calibri"/>
              </a:rPr>
              <a:t> </a:t>
            </a:r>
            <a:r>
              <a:rPr sz="1100">
                <a:latin typeface="Calibri"/>
                <a:cs typeface="Calibri"/>
              </a:rPr>
              <a:t>from</a:t>
            </a:r>
            <a:r>
              <a:rPr sz="1100" spc="-20">
                <a:latin typeface="Calibri"/>
                <a:cs typeface="Calibri"/>
              </a:rPr>
              <a:t> </a:t>
            </a:r>
            <a:r>
              <a:rPr sz="1100">
                <a:latin typeface="Calibri"/>
                <a:cs typeface="Calibri"/>
              </a:rPr>
              <a:t>memory,</a:t>
            </a:r>
            <a:r>
              <a:rPr sz="1100" spc="-25">
                <a:latin typeface="Calibri"/>
                <a:cs typeface="Calibri"/>
              </a:rPr>
              <a:t> </a:t>
            </a:r>
            <a:r>
              <a:rPr sz="1100">
                <a:latin typeface="Calibri"/>
                <a:cs typeface="Calibri"/>
              </a:rPr>
              <a:t>which</a:t>
            </a:r>
            <a:r>
              <a:rPr sz="1100" spc="-25">
                <a:latin typeface="Calibri"/>
                <a:cs typeface="Calibri"/>
              </a:rPr>
              <a:t> </a:t>
            </a:r>
            <a:r>
              <a:rPr sz="1100" spc="-10">
                <a:latin typeface="Calibri"/>
                <a:cs typeface="Calibri"/>
              </a:rPr>
              <a:t>introduces </a:t>
            </a:r>
            <a:r>
              <a:rPr sz="1100">
                <a:latin typeface="Calibri"/>
                <a:cs typeface="Calibri"/>
              </a:rPr>
              <a:t>both</a:t>
            </a:r>
            <a:r>
              <a:rPr sz="1100" spc="-25">
                <a:latin typeface="Calibri"/>
                <a:cs typeface="Calibri"/>
              </a:rPr>
              <a:t> </a:t>
            </a:r>
            <a:r>
              <a:rPr sz="1100">
                <a:latin typeface="Calibri"/>
                <a:cs typeface="Calibri"/>
              </a:rPr>
              <a:t>random</a:t>
            </a:r>
            <a:r>
              <a:rPr sz="1100" spc="-20">
                <a:latin typeface="Calibri"/>
                <a:cs typeface="Calibri"/>
              </a:rPr>
              <a:t> </a:t>
            </a:r>
            <a:r>
              <a:rPr sz="1100">
                <a:latin typeface="Calibri"/>
                <a:cs typeface="Calibri"/>
              </a:rPr>
              <a:t>error</a:t>
            </a:r>
            <a:r>
              <a:rPr sz="1100" spc="-20">
                <a:latin typeface="Calibri"/>
                <a:cs typeface="Calibri"/>
              </a:rPr>
              <a:t> </a:t>
            </a:r>
            <a:r>
              <a:rPr sz="1100">
                <a:latin typeface="Calibri"/>
                <a:cs typeface="Calibri"/>
              </a:rPr>
              <a:t>and</a:t>
            </a:r>
            <a:r>
              <a:rPr sz="1100" spc="-25">
                <a:latin typeface="Calibri"/>
                <a:cs typeface="Calibri"/>
              </a:rPr>
              <a:t> </a:t>
            </a:r>
            <a:r>
              <a:rPr sz="1100">
                <a:latin typeface="Calibri"/>
                <a:cs typeface="Calibri"/>
              </a:rPr>
              <a:t>systematic</a:t>
            </a:r>
            <a:r>
              <a:rPr sz="1100" spc="-20">
                <a:latin typeface="Calibri"/>
                <a:cs typeface="Calibri"/>
              </a:rPr>
              <a:t> </a:t>
            </a:r>
            <a:r>
              <a:rPr sz="1100" spc="-10">
                <a:latin typeface="Calibri"/>
                <a:cs typeface="Calibri"/>
              </a:rPr>
              <a:t>under-</a:t>
            </a:r>
            <a:r>
              <a:rPr sz="1100">
                <a:latin typeface="Calibri"/>
                <a:cs typeface="Calibri"/>
              </a:rPr>
              <a:t>reporting</a:t>
            </a:r>
            <a:r>
              <a:rPr sz="1100" spc="-20">
                <a:latin typeface="Calibri"/>
                <a:cs typeface="Calibri"/>
              </a:rPr>
              <a:t> </a:t>
            </a:r>
            <a:r>
              <a:rPr sz="1100" spc="-10">
                <a:latin typeface="Calibri"/>
                <a:cs typeface="Calibri"/>
              </a:rPr>
              <a:t>bias, </a:t>
            </a:r>
            <a:r>
              <a:rPr sz="1100">
                <a:latin typeface="Calibri"/>
                <a:cs typeface="Calibri"/>
              </a:rPr>
              <a:t>especially</a:t>
            </a:r>
            <a:r>
              <a:rPr sz="1100" spc="-30">
                <a:latin typeface="Calibri"/>
                <a:cs typeface="Calibri"/>
              </a:rPr>
              <a:t> </a:t>
            </a:r>
            <a:r>
              <a:rPr sz="1100">
                <a:latin typeface="Calibri"/>
                <a:cs typeface="Calibri"/>
              </a:rPr>
              <a:t>for</a:t>
            </a:r>
            <a:r>
              <a:rPr sz="1100" spc="-25">
                <a:latin typeface="Calibri"/>
                <a:cs typeface="Calibri"/>
              </a:rPr>
              <a:t> </a:t>
            </a:r>
            <a:r>
              <a:rPr sz="1100">
                <a:latin typeface="Calibri"/>
                <a:cs typeface="Calibri"/>
              </a:rPr>
              <a:t>portion</a:t>
            </a:r>
            <a:r>
              <a:rPr sz="1100" spc="-25">
                <a:latin typeface="Calibri"/>
                <a:cs typeface="Calibri"/>
              </a:rPr>
              <a:t> </a:t>
            </a:r>
            <a:r>
              <a:rPr sz="1100">
                <a:latin typeface="Calibri"/>
                <a:cs typeface="Calibri"/>
              </a:rPr>
              <a:t>size</a:t>
            </a:r>
            <a:r>
              <a:rPr sz="1100" spc="-25">
                <a:latin typeface="Calibri"/>
                <a:cs typeface="Calibri"/>
              </a:rPr>
              <a:t> </a:t>
            </a:r>
            <a:r>
              <a:rPr sz="1100">
                <a:latin typeface="Calibri"/>
                <a:cs typeface="Calibri"/>
              </a:rPr>
              <a:t>[12].</a:t>
            </a:r>
            <a:r>
              <a:rPr sz="1100" spc="-25">
                <a:latin typeface="Calibri"/>
                <a:cs typeface="Calibri"/>
              </a:rPr>
              <a:t> </a:t>
            </a:r>
            <a:r>
              <a:rPr sz="1100">
                <a:latin typeface="Calibri"/>
                <a:cs typeface="Calibri"/>
              </a:rPr>
              <a:t>This</a:t>
            </a:r>
            <a:r>
              <a:rPr sz="1100" spc="-25">
                <a:latin typeface="Calibri"/>
                <a:cs typeface="Calibri"/>
              </a:rPr>
              <a:t> </a:t>
            </a:r>
            <a:r>
              <a:rPr sz="1100">
                <a:latin typeface="Calibri"/>
                <a:cs typeface="Calibri"/>
              </a:rPr>
              <a:t>has</a:t>
            </a:r>
            <a:r>
              <a:rPr sz="1100" spc="-25">
                <a:latin typeface="Calibri"/>
                <a:cs typeface="Calibri"/>
              </a:rPr>
              <a:t> </a:t>
            </a:r>
            <a:r>
              <a:rPr sz="1100">
                <a:latin typeface="Calibri"/>
                <a:cs typeface="Calibri"/>
              </a:rPr>
              <a:t>directly</a:t>
            </a:r>
            <a:r>
              <a:rPr sz="1100" spc="-25">
                <a:latin typeface="Calibri"/>
                <a:cs typeface="Calibri"/>
              </a:rPr>
              <a:t> </a:t>
            </a:r>
            <a:r>
              <a:rPr sz="1100" spc="-10">
                <a:latin typeface="Calibri"/>
                <a:cs typeface="Calibri"/>
              </a:rPr>
              <a:t>motivated vision-</a:t>
            </a:r>
            <a:r>
              <a:rPr sz="1100">
                <a:latin typeface="Calibri"/>
                <a:cs typeface="Calibri"/>
              </a:rPr>
              <a:t>based</a:t>
            </a:r>
            <a:r>
              <a:rPr sz="1100" spc="-20">
                <a:latin typeface="Calibri"/>
                <a:cs typeface="Calibri"/>
              </a:rPr>
              <a:t> </a:t>
            </a:r>
            <a:r>
              <a:rPr sz="1100">
                <a:latin typeface="Calibri"/>
                <a:cs typeface="Calibri"/>
              </a:rPr>
              <a:t>alternatives</a:t>
            </a:r>
            <a:r>
              <a:rPr sz="1100" spc="-15">
                <a:latin typeface="Calibri"/>
                <a:cs typeface="Calibri"/>
              </a:rPr>
              <a:t> </a:t>
            </a:r>
            <a:r>
              <a:rPr sz="1100">
                <a:latin typeface="Calibri"/>
                <a:cs typeface="Calibri"/>
              </a:rPr>
              <a:t>that</a:t>
            </a:r>
            <a:r>
              <a:rPr sz="1100" spc="-15">
                <a:latin typeface="Calibri"/>
                <a:cs typeface="Calibri"/>
              </a:rPr>
              <a:t> </a:t>
            </a:r>
            <a:r>
              <a:rPr sz="1100">
                <a:latin typeface="Calibri"/>
                <a:cs typeface="Calibri"/>
              </a:rPr>
              <a:t>estimate</a:t>
            </a:r>
            <a:r>
              <a:rPr sz="1100" spc="-15">
                <a:latin typeface="Calibri"/>
                <a:cs typeface="Calibri"/>
              </a:rPr>
              <a:t> </a:t>
            </a:r>
            <a:r>
              <a:rPr sz="1100">
                <a:latin typeface="Calibri"/>
                <a:cs typeface="Calibri"/>
              </a:rPr>
              <a:t>what</a:t>
            </a:r>
            <a:r>
              <a:rPr sz="1100" spc="-15">
                <a:latin typeface="Calibri"/>
                <a:cs typeface="Calibri"/>
              </a:rPr>
              <a:t> </a:t>
            </a:r>
            <a:r>
              <a:rPr sz="1100">
                <a:latin typeface="Calibri"/>
                <a:cs typeface="Calibri"/>
              </a:rPr>
              <a:t>was</a:t>
            </a:r>
            <a:r>
              <a:rPr sz="1100" spc="-15">
                <a:latin typeface="Calibri"/>
                <a:cs typeface="Calibri"/>
              </a:rPr>
              <a:t> </a:t>
            </a:r>
            <a:r>
              <a:rPr sz="1100" spc="-10">
                <a:latin typeface="Calibri"/>
                <a:cs typeface="Calibri"/>
              </a:rPr>
              <a:t>eaten, </a:t>
            </a:r>
            <a:r>
              <a:rPr sz="1100">
                <a:latin typeface="Calibri"/>
                <a:cs typeface="Calibri"/>
              </a:rPr>
              <a:t>and</a:t>
            </a:r>
            <a:r>
              <a:rPr sz="1100" spc="-20">
                <a:latin typeface="Calibri"/>
                <a:cs typeface="Calibri"/>
              </a:rPr>
              <a:t> </a:t>
            </a:r>
            <a:r>
              <a:rPr sz="1100">
                <a:latin typeface="Calibri"/>
                <a:cs typeface="Calibri"/>
              </a:rPr>
              <a:t>how</a:t>
            </a:r>
            <a:r>
              <a:rPr sz="1100" spc="-20">
                <a:latin typeface="Calibri"/>
                <a:cs typeface="Calibri"/>
              </a:rPr>
              <a:t> </a:t>
            </a:r>
            <a:r>
              <a:rPr sz="1100">
                <a:latin typeface="Calibri"/>
                <a:cs typeface="Calibri"/>
              </a:rPr>
              <a:t>much,</a:t>
            </a:r>
            <a:r>
              <a:rPr sz="1100" spc="-20">
                <a:latin typeface="Calibri"/>
                <a:cs typeface="Calibri"/>
              </a:rPr>
              <a:t> </a:t>
            </a:r>
            <a:r>
              <a:rPr sz="1100">
                <a:latin typeface="Calibri"/>
                <a:cs typeface="Calibri"/>
              </a:rPr>
              <a:t>directly</a:t>
            </a:r>
            <a:r>
              <a:rPr sz="1100" spc="-15">
                <a:latin typeface="Calibri"/>
                <a:cs typeface="Calibri"/>
              </a:rPr>
              <a:t> </a:t>
            </a:r>
            <a:r>
              <a:rPr sz="1100">
                <a:latin typeface="Calibri"/>
                <a:cs typeface="Calibri"/>
              </a:rPr>
              <a:t>from</a:t>
            </a:r>
            <a:r>
              <a:rPr sz="1100" spc="-20">
                <a:latin typeface="Calibri"/>
                <a:cs typeface="Calibri"/>
              </a:rPr>
              <a:t> </a:t>
            </a:r>
            <a:r>
              <a:rPr sz="1100">
                <a:latin typeface="Calibri"/>
                <a:cs typeface="Calibri"/>
              </a:rPr>
              <a:t>a</a:t>
            </a:r>
            <a:r>
              <a:rPr sz="1100" spc="-20">
                <a:latin typeface="Calibri"/>
                <a:cs typeface="Calibri"/>
              </a:rPr>
              <a:t> </a:t>
            </a:r>
            <a:r>
              <a:rPr sz="1100">
                <a:latin typeface="Calibri"/>
                <a:cs typeface="Calibri"/>
              </a:rPr>
              <a:t>photograph</a:t>
            </a:r>
            <a:r>
              <a:rPr sz="1100" spc="-15">
                <a:latin typeface="Calibri"/>
                <a:cs typeface="Calibri"/>
              </a:rPr>
              <a:t> </a:t>
            </a:r>
            <a:r>
              <a:rPr sz="1100">
                <a:latin typeface="Calibri"/>
                <a:cs typeface="Calibri"/>
              </a:rPr>
              <a:t>rather</a:t>
            </a:r>
            <a:r>
              <a:rPr sz="1100" spc="-20">
                <a:latin typeface="Calibri"/>
                <a:cs typeface="Calibri"/>
              </a:rPr>
              <a:t> </a:t>
            </a:r>
            <a:r>
              <a:rPr sz="1100">
                <a:latin typeface="Calibri"/>
                <a:cs typeface="Calibri"/>
              </a:rPr>
              <a:t>than</a:t>
            </a:r>
            <a:r>
              <a:rPr sz="1100" spc="-20">
                <a:latin typeface="Calibri"/>
                <a:cs typeface="Calibri"/>
              </a:rPr>
              <a:t> </a:t>
            </a:r>
            <a:r>
              <a:rPr sz="1100" spc="-50">
                <a:latin typeface="Calibri"/>
                <a:cs typeface="Calibri"/>
              </a:rPr>
              <a:t>a</a:t>
            </a:r>
            <a:r>
              <a:rPr sz="1100">
                <a:latin typeface="Calibri"/>
                <a:cs typeface="Calibri"/>
              </a:rPr>
              <a:t> subjective</a:t>
            </a:r>
            <a:r>
              <a:rPr sz="1100" spc="-40">
                <a:latin typeface="Calibri"/>
                <a:cs typeface="Calibri"/>
              </a:rPr>
              <a:t> </a:t>
            </a:r>
            <a:r>
              <a:rPr sz="1100">
                <a:latin typeface="Calibri"/>
                <a:cs typeface="Calibri"/>
              </a:rPr>
              <a:t>report</a:t>
            </a:r>
            <a:r>
              <a:rPr sz="1100" spc="-40">
                <a:latin typeface="Calibri"/>
                <a:cs typeface="Calibri"/>
              </a:rPr>
              <a:t> </a:t>
            </a:r>
            <a:r>
              <a:rPr sz="1100">
                <a:latin typeface="Calibri"/>
                <a:cs typeface="Calibri"/>
              </a:rPr>
              <a:t>[12],</a:t>
            </a:r>
            <a:r>
              <a:rPr sz="1100" spc="-40">
                <a:latin typeface="Calibri"/>
                <a:cs typeface="Calibri"/>
              </a:rPr>
              <a:t> </a:t>
            </a:r>
            <a:r>
              <a:rPr sz="1100" spc="-10">
                <a:latin typeface="Calibri"/>
                <a:cs typeface="Calibri"/>
              </a:rPr>
              <a:t>[13].</a:t>
            </a:r>
            <a:endParaRPr sz="1100">
              <a:latin typeface="Calibri"/>
              <a:cs typeface="Calibri"/>
            </a:endParaRPr>
          </a:p>
        </p:txBody>
      </p:sp>
      <p:sp>
        <p:nvSpPr>
          <p:cNvPr id="412855473" name="object 6"/>
          <p:cNvSpPr txBox="1"/>
          <p:nvPr/>
        </p:nvSpPr>
        <p:spPr bwMode="auto">
          <a:xfrm>
            <a:off x="377189" y="4441012"/>
            <a:ext cx="2500630" cy="208279"/>
          </a:xfrm>
          <a:prstGeom prst="rect">
            <a:avLst/>
          </a:prstGeom>
        </p:spPr>
        <p:txBody>
          <a:bodyPr vert="horz" wrap="square" lIns="0" tIns="12700" rIns="0" bIns="0" rtlCol="0">
            <a:spAutoFit/>
          </a:bodyPr>
          <a:lstStyle/>
          <a:p>
            <a:pPr marL="12700">
              <a:lnSpc>
                <a:spcPct val="100000"/>
              </a:lnSpc>
              <a:spcBef>
                <a:spcPts val="100"/>
              </a:spcBef>
              <a:defRPr/>
            </a:pPr>
            <a:r>
              <a:rPr sz="1200" i="1">
                <a:latin typeface="Calibri"/>
                <a:cs typeface="Calibri"/>
              </a:rPr>
              <a:t>C.</a:t>
            </a:r>
            <a:r>
              <a:rPr sz="1200" i="1" spc="-20">
                <a:latin typeface="Calibri"/>
                <a:cs typeface="Calibri"/>
              </a:rPr>
              <a:t> </a:t>
            </a:r>
            <a:r>
              <a:rPr sz="1200" i="1">
                <a:latin typeface="Calibri"/>
                <a:cs typeface="Calibri"/>
              </a:rPr>
              <a:t>Meal</a:t>
            </a:r>
            <a:r>
              <a:rPr sz="1200" i="1" spc="-15">
                <a:latin typeface="Calibri"/>
                <a:cs typeface="Calibri"/>
              </a:rPr>
              <a:t> </a:t>
            </a:r>
            <a:r>
              <a:rPr sz="1200" i="1">
                <a:latin typeface="Calibri"/>
                <a:cs typeface="Calibri"/>
              </a:rPr>
              <a:t>Quality</a:t>
            </a:r>
            <a:r>
              <a:rPr sz="1200" i="1" spc="-20">
                <a:latin typeface="Calibri"/>
                <a:cs typeface="Calibri"/>
              </a:rPr>
              <a:t> </a:t>
            </a:r>
            <a:r>
              <a:rPr sz="1200" i="1">
                <a:latin typeface="Calibri"/>
                <a:cs typeface="Calibri"/>
              </a:rPr>
              <a:t>and</a:t>
            </a:r>
            <a:r>
              <a:rPr sz="1200" i="1" spc="-15">
                <a:latin typeface="Calibri"/>
                <a:cs typeface="Calibri"/>
              </a:rPr>
              <a:t> </a:t>
            </a:r>
            <a:r>
              <a:rPr sz="1200" i="1">
                <a:latin typeface="Calibri"/>
                <a:cs typeface="Calibri"/>
              </a:rPr>
              <a:t>Diet</a:t>
            </a:r>
            <a:r>
              <a:rPr sz="1200" i="1" spc="-15">
                <a:latin typeface="Calibri"/>
                <a:cs typeface="Calibri"/>
              </a:rPr>
              <a:t> </a:t>
            </a:r>
            <a:r>
              <a:rPr sz="1200" i="1">
                <a:latin typeface="Calibri"/>
                <a:cs typeface="Calibri"/>
              </a:rPr>
              <a:t>Quality</a:t>
            </a:r>
            <a:r>
              <a:rPr sz="1200" i="1" spc="-20">
                <a:latin typeface="Calibri"/>
                <a:cs typeface="Calibri"/>
              </a:rPr>
              <a:t> </a:t>
            </a:r>
            <a:r>
              <a:rPr sz="1200" i="1" spc="-10">
                <a:latin typeface="Calibri"/>
                <a:cs typeface="Calibri"/>
              </a:rPr>
              <a:t>Scoring</a:t>
            </a:r>
            <a:endParaRPr sz="1200">
              <a:latin typeface="Calibri"/>
              <a:cs typeface="Calibri"/>
            </a:endParaRPr>
          </a:p>
        </p:txBody>
      </p:sp>
      <p:sp>
        <p:nvSpPr>
          <p:cNvPr id="15400968" name="object 7"/>
          <p:cNvSpPr txBox="1"/>
          <p:nvPr/>
        </p:nvSpPr>
        <p:spPr bwMode="auto">
          <a:xfrm>
            <a:off x="377189" y="4754086"/>
            <a:ext cx="3389355" cy="3935835"/>
          </a:xfrm>
          <a:prstGeom prst="rect">
            <a:avLst/>
          </a:prstGeom>
        </p:spPr>
        <p:txBody>
          <a:bodyPr vert="horz" wrap="square" lIns="0" tIns="12700" rIns="0" bIns="0" rtlCol="0">
            <a:spAutoFit/>
          </a:bodyPr>
          <a:lstStyle/>
          <a:p>
            <a:pPr marL="12700" marR="5080" algn="just">
              <a:lnSpc>
                <a:spcPct val="117000"/>
              </a:lnSpc>
              <a:spcBef>
                <a:spcPts val="100"/>
              </a:spcBef>
              <a:defRPr/>
            </a:pPr>
            <a:r>
              <a:rPr sz="1100">
                <a:latin typeface="Calibri"/>
                <a:cs typeface="Calibri"/>
              </a:rPr>
              <a:t>A</a:t>
            </a:r>
            <a:r>
              <a:rPr sz="1100" spc="-20">
                <a:latin typeface="Calibri"/>
                <a:cs typeface="Calibri"/>
              </a:rPr>
              <a:t> </a:t>
            </a:r>
            <a:r>
              <a:rPr sz="1100">
                <a:latin typeface="Calibri"/>
                <a:cs typeface="Calibri"/>
              </a:rPr>
              <a:t>separate</a:t>
            </a:r>
            <a:r>
              <a:rPr sz="1100" spc="-15">
                <a:latin typeface="Calibri"/>
                <a:cs typeface="Calibri"/>
              </a:rPr>
              <a:t> </a:t>
            </a:r>
            <a:r>
              <a:rPr sz="1100">
                <a:latin typeface="Calibri"/>
                <a:cs typeface="Calibri"/>
              </a:rPr>
              <a:t>strand</a:t>
            </a:r>
            <a:r>
              <a:rPr sz="1100" spc="-15">
                <a:latin typeface="Calibri"/>
                <a:cs typeface="Calibri"/>
              </a:rPr>
              <a:t> </a:t>
            </a:r>
            <a:r>
              <a:rPr sz="1100">
                <a:latin typeface="Calibri"/>
                <a:cs typeface="Calibri"/>
              </a:rPr>
              <a:t>of</a:t>
            </a:r>
            <a:r>
              <a:rPr sz="1100" spc="-15">
                <a:latin typeface="Calibri"/>
                <a:cs typeface="Calibri"/>
              </a:rPr>
              <a:t> </a:t>
            </a:r>
            <a:r>
              <a:rPr sz="1100">
                <a:latin typeface="Calibri"/>
                <a:cs typeface="Calibri"/>
              </a:rPr>
              <a:t>nutrition</a:t>
            </a:r>
            <a:r>
              <a:rPr sz="1100" spc="-15">
                <a:latin typeface="Calibri"/>
                <a:cs typeface="Calibri"/>
              </a:rPr>
              <a:t> </a:t>
            </a:r>
            <a:r>
              <a:rPr sz="1100" spc="-10">
                <a:latin typeface="Calibri"/>
                <a:cs typeface="Calibri"/>
              </a:rPr>
              <a:t>research</a:t>
            </a:r>
            <a:r>
              <a:rPr sz="1100" spc="-15">
                <a:latin typeface="Calibri"/>
                <a:cs typeface="Calibri"/>
              </a:rPr>
              <a:t> </a:t>
            </a:r>
            <a:r>
              <a:rPr sz="1100">
                <a:latin typeface="Calibri"/>
                <a:cs typeface="Calibri"/>
              </a:rPr>
              <a:t>has</a:t>
            </a:r>
            <a:r>
              <a:rPr sz="1100" spc="-15">
                <a:latin typeface="Calibri"/>
                <a:cs typeface="Calibri"/>
              </a:rPr>
              <a:t> </a:t>
            </a:r>
            <a:r>
              <a:rPr sz="1100">
                <a:latin typeface="Calibri"/>
                <a:cs typeface="Calibri"/>
              </a:rPr>
              <a:t>focused</a:t>
            </a:r>
            <a:r>
              <a:rPr sz="1100" spc="-15">
                <a:latin typeface="Calibri"/>
                <a:cs typeface="Calibri"/>
              </a:rPr>
              <a:t> </a:t>
            </a:r>
            <a:r>
              <a:rPr sz="1100" spc="-25">
                <a:latin typeface="Calibri"/>
                <a:cs typeface="Calibri"/>
              </a:rPr>
              <a:t>on </a:t>
            </a:r>
            <a:r>
              <a:rPr sz="1100">
                <a:latin typeface="Calibri"/>
                <a:cs typeface="Calibri"/>
              </a:rPr>
              <a:t>turning</a:t>
            </a:r>
            <a:r>
              <a:rPr sz="1100" spc="-25">
                <a:latin typeface="Calibri"/>
                <a:cs typeface="Calibri"/>
              </a:rPr>
              <a:t> </a:t>
            </a:r>
            <a:r>
              <a:rPr sz="1100">
                <a:latin typeface="Calibri"/>
                <a:cs typeface="Calibri"/>
              </a:rPr>
              <a:t>raw</a:t>
            </a:r>
            <a:r>
              <a:rPr sz="1100" spc="-20">
                <a:latin typeface="Calibri"/>
                <a:cs typeface="Calibri"/>
              </a:rPr>
              <a:t> </a:t>
            </a:r>
            <a:r>
              <a:rPr sz="1100">
                <a:latin typeface="Calibri"/>
                <a:cs typeface="Calibri"/>
              </a:rPr>
              <a:t>nutrient</a:t>
            </a:r>
            <a:r>
              <a:rPr sz="1100" spc="-20">
                <a:latin typeface="Calibri"/>
                <a:cs typeface="Calibri"/>
              </a:rPr>
              <a:t> </a:t>
            </a:r>
            <a:r>
              <a:rPr sz="1100">
                <a:latin typeface="Calibri"/>
                <a:cs typeface="Calibri"/>
              </a:rPr>
              <a:t>intake</a:t>
            </a:r>
            <a:r>
              <a:rPr sz="1100" spc="-25">
                <a:latin typeface="Calibri"/>
                <a:cs typeface="Calibri"/>
              </a:rPr>
              <a:t> </a:t>
            </a:r>
            <a:r>
              <a:rPr sz="1100">
                <a:latin typeface="Calibri"/>
                <a:cs typeface="Calibri"/>
              </a:rPr>
              <a:t>into</a:t>
            </a:r>
            <a:r>
              <a:rPr sz="1100" spc="-20">
                <a:latin typeface="Calibri"/>
                <a:cs typeface="Calibri"/>
              </a:rPr>
              <a:t> </a:t>
            </a:r>
            <a:r>
              <a:rPr sz="1100">
                <a:latin typeface="Calibri"/>
                <a:cs typeface="Calibri"/>
              </a:rPr>
              <a:t>a</a:t>
            </a:r>
            <a:r>
              <a:rPr sz="1100" spc="-20">
                <a:latin typeface="Calibri"/>
                <a:cs typeface="Calibri"/>
              </a:rPr>
              <a:t> </a:t>
            </a:r>
            <a:r>
              <a:rPr sz="1100">
                <a:latin typeface="Calibri"/>
                <a:cs typeface="Calibri"/>
              </a:rPr>
              <a:t>single</a:t>
            </a:r>
            <a:r>
              <a:rPr sz="1100" spc="-20">
                <a:latin typeface="Calibri"/>
                <a:cs typeface="Calibri"/>
              </a:rPr>
              <a:t> </a:t>
            </a:r>
            <a:r>
              <a:rPr sz="1100" spc="-10">
                <a:latin typeface="Calibri"/>
                <a:cs typeface="Calibri"/>
              </a:rPr>
              <a:t>interpretable </a:t>
            </a:r>
            <a:r>
              <a:rPr sz="1100">
                <a:latin typeface="Calibri"/>
                <a:cs typeface="Calibri"/>
              </a:rPr>
              <a:t>quality</a:t>
            </a:r>
            <a:r>
              <a:rPr sz="1100" spc="-25">
                <a:latin typeface="Calibri"/>
                <a:cs typeface="Calibri"/>
              </a:rPr>
              <a:t> </a:t>
            </a:r>
            <a:r>
              <a:rPr sz="1100">
                <a:latin typeface="Calibri"/>
                <a:cs typeface="Calibri"/>
              </a:rPr>
              <a:t>score.</a:t>
            </a:r>
            <a:r>
              <a:rPr sz="1100" spc="-20">
                <a:latin typeface="Calibri"/>
                <a:cs typeface="Calibri"/>
              </a:rPr>
              <a:t> </a:t>
            </a:r>
            <a:r>
              <a:rPr sz="1100">
                <a:latin typeface="Calibri"/>
                <a:cs typeface="Calibri"/>
              </a:rPr>
              <a:t>The</a:t>
            </a:r>
            <a:r>
              <a:rPr sz="1100" spc="-20">
                <a:latin typeface="Calibri"/>
                <a:cs typeface="Calibri"/>
              </a:rPr>
              <a:t> </a:t>
            </a:r>
            <a:r>
              <a:rPr sz="1100">
                <a:latin typeface="Calibri"/>
                <a:cs typeface="Calibri"/>
              </a:rPr>
              <a:t>Meal</a:t>
            </a:r>
            <a:r>
              <a:rPr sz="1100" spc="-25">
                <a:latin typeface="Calibri"/>
                <a:cs typeface="Calibri"/>
              </a:rPr>
              <a:t> </a:t>
            </a:r>
            <a:r>
              <a:rPr sz="1100">
                <a:latin typeface="Calibri"/>
                <a:cs typeface="Calibri"/>
              </a:rPr>
              <a:t>Balance</a:t>
            </a:r>
            <a:r>
              <a:rPr sz="1100" spc="-20">
                <a:latin typeface="Calibri"/>
                <a:cs typeface="Calibri"/>
              </a:rPr>
              <a:t> </a:t>
            </a:r>
            <a:r>
              <a:rPr sz="1100">
                <a:latin typeface="Calibri"/>
                <a:cs typeface="Calibri"/>
              </a:rPr>
              <a:t>Index</a:t>
            </a:r>
            <a:r>
              <a:rPr sz="1100" spc="-20">
                <a:latin typeface="Calibri"/>
                <a:cs typeface="Calibri"/>
              </a:rPr>
              <a:t> </a:t>
            </a:r>
            <a:r>
              <a:rPr sz="1100">
                <a:latin typeface="Calibri"/>
                <a:cs typeface="Calibri"/>
              </a:rPr>
              <a:t>(MBI)</a:t>
            </a:r>
            <a:r>
              <a:rPr sz="1100" spc="-25">
                <a:latin typeface="Calibri"/>
                <a:cs typeface="Calibri"/>
              </a:rPr>
              <a:t> </a:t>
            </a:r>
            <a:r>
              <a:rPr sz="1100">
                <a:latin typeface="Calibri"/>
                <a:cs typeface="Calibri"/>
              </a:rPr>
              <a:t>scores</a:t>
            </a:r>
            <a:r>
              <a:rPr sz="1100" spc="-20">
                <a:latin typeface="Calibri"/>
                <a:cs typeface="Calibri"/>
              </a:rPr>
              <a:t> </a:t>
            </a:r>
            <a:r>
              <a:rPr sz="1100">
                <a:latin typeface="Calibri"/>
                <a:cs typeface="Calibri"/>
              </a:rPr>
              <a:t>a</a:t>
            </a:r>
            <a:r>
              <a:rPr sz="1100" spc="-20">
                <a:latin typeface="Calibri"/>
                <a:cs typeface="Calibri"/>
              </a:rPr>
              <a:t> meal </a:t>
            </a:r>
            <a:r>
              <a:rPr sz="1100">
                <a:latin typeface="Calibri"/>
                <a:cs typeface="Calibri"/>
              </a:rPr>
              <a:t>from</a:t>
            </a:r>
            <a:r>
              <a:rPr sz="1100" spc="-20">
                <a:latin typeface="Calibri"/>
                <a:cs typeface="Calibri"/>
              </a:rPr>
              <a:t> 0–</a:t>
            </a:r>
            <a:r>
              <a:rPr sz="1100">
                <a:latin typeface="Calibri"/>
                <a:cs typeface="Calibri"/>
              </a:rPr>
              <a:t>100</a:t>
            </a:r>
            <a:r>
              <a:rPr sz="1100" spc="-20">
                <a:latin typeface="Calibri"/>
                <a:cs typeface="Calibri"/>
              </a:rPr>
              <a:t> </a:t>
            </a:r>
            <a:r>
              <a:rPr sz="1100">
                <a:latin typeface="Calibri"/>
                <a:cs typeface="Calibri"/>
              </a:rPr>
              <a:t>based</a:t>
            </a:r>
            <a:r>
              <a:rPr sz="1100" spc="-15">
                <a:latin typeface="Calibri"/>
                <a:cs typeface="Calibri"/>
              </a:rPr>
              <a:t> </a:t>
            </a:r>
            <a:r>
              <a:rPr sz="1100">
                <a:latin typeface="Calibri"/>
                <a:cs typeface="Calibri"/>
              </a:rPr>
              <a:t>on</a:t>
            </a:r>
            <a:r>
              <a:rPr sz="1100" spc="-20">
                <a:latin typeface="Calibri"/>
                <a:cs typeface="Calibri"/>
              </a:rPr>
              <a:t> </a:t>
            </a:r>
            <a:r>
              <a:rPr sz="1100">
                <a:latin typeface="Calibri"/>
                <a:cs typeface="Calibri"/>
              </a:rPr>
              <a:t>shortfall</a:t>
            </a:r>
            <a:r>
              <a:rPr sz="1100" spc="-15">
                <a:latin typeface="Calibri"/>
                <a:cs typeface="Calibri"/>
              </a:rPr>
              <a:t> </a:t>
            </a:r>
            <a:r>
              <a:rPr sz="1100">
                <a:latin typeface="Calibri"/>
                <a:cs typeface="Calibri"/>
              </a:rPr>
              <a:t>and</a:t>
            </a:r>
            <a:r>
              <a:rPr sz="1100" spc="-20">
                <a:latin typeface="Calibri"/>
                <a:cs typeface="Calibri"/>
              </a:rPr>
              <a:t> </a:t>
            </a:r>
            <a:r>
              <a:rPr sz="1100">
                <a:latin typeface="Calibri"/>
                <a:cs typeface="Calibri"/>
              </a:rPr>
              <a:t>excess</a:t>
            </a:r>
            <a:r>
              <a:rPr sz="1100" spc="-20">
                <a:latin typeface="Calibri"/>
                <a:cs typeface="Calibri"/>
              </a:rPr>
              <a:t> </a:t>
            </a:r>
            <a:r>
              <a:rPr sz="1100">
                <a:latin typeface="Calibri"/>
                <a:cs typeface="Calibri"/>
              </a:rPr>
              <a:t>nutrients</a:t>
            </a:r>
            <a:r>
              <a:rPr sz="1100" spc="-15">
                <a:latin typeface="Calibri"/>
                <a:cs typeface="Calibri"/>
              </a:rPr>
              <a:t> </a:t>
            </a:r>
            <a:r>
              <a:rPr sz="1100" spc="-10">
                <a:latin typeface="Calibri"/>
                <a:cs typeface="Calibri"/>
              </a:rPr>
              <a:t>relative </a:t>
            </a:r>
            <a:r>
              <a:rPr sz="1100">
                <a:latin typeface="Calibri"/>
                <a:cs typeface="Calibri"/>
              </a:rPr>
              <a:t>to</a:t>
            </a:r>
            <a:r>
              <a:rPr sz="1100" spc="-20">
                <a:latin typeface="Calibri"/>
                <a:cs typeface="Calibri"/>
              </a:rPr>
              <a:t> </a:t>
            </a:r>
            <a:r>
              <a:rPr sz="1100">
                <a:latin typeface="Calibri"/>
                <a:cs typeface="Calibri"/>
              </a:rPr>
              <a:t>its</a:t>
            </a:r>
            <a:r>
              <a:rPr sz="1100" spc="-20">
                <a:latin typeface="Calibri"/>
                <a:cs typeface="Calibri"/>
              </a:rPr>
              <a:t> </a:t>
            </a:r>
            <a:r>
              <a:rPr sz="1100">
                <a:latin typeface="Calibri"/>
                <a:cs typeface="Calibri"/>
              </a:rPr>
              <a:t>energy</a:t>
            </a:r>
            <a:r>
              <a:rPr sz="1100" spc="-15">
                <a:latin typeface="Calibri"/>
                <a:cs typeface="Calibri"/>
              </a:rPr>
              <a:t> </a:t>
            </a:r>
            <a:r>
              <a:rPr sz="1100">
                <a:latin typeface="Calibri"/>
                <a:cs typeface="Calibri"/>
              </a:rPr>
              <a:t>content,</a:t>
            </a:r>
            <a:r>
              <a:rPr sz="1100" spc="-20">
                <a:latin typeface="Calibri"/>
                <a:cs typeface="Calibri"/>
              </a:rPr>
              <a:t> </a:t>
            </a:r>
            <a:r>
              <a:rPr sz="1100">
                <a:latin typeface="Calibri"/>
                <a:cs typeface="Calibri"/>
              </a:rPr>
              <a:t>and</a:t>
            </a:r>
            <a:r>
              <a:rPr sz="1100" spc="-20">
                <a:latin typeface="Calibri"/>
                <a:cs typeface="Calibri"/>
              </a:rPr>
              <a:t> </a:t>
            </a:r>
            <a:r>
              <a:rPr sz="1100">
                <a:latin typeface="Calibri"/>
                <a:cs typeface="Calibri"/>
              </a:rPr>
              <a:t>has</a:t>
            </a:r>
            <a:r>
              <a:rPr sz="1100" spc="-15">
                <a:latin typeface="Calibri"/>
                <a:cs typeface="Calibri"/>
              </a:rPr>
              <a:t> </a:t>
            </a:r>
            <a:r>
              <a:rPr sz="1100">
                <a:latin typeface="Calibri"/>
                <a:cs typeface="Calibri"/>
              </a:rPr>
              <a:t>been</a:t>
            </a:r>
            <a:r>
              <a:rPr sz="1100" spc="-20">
                <a:latin typeface="Calibri"/>
                <a:cs typeface="Calibri"/>
              </a:rPr>
              <a:t> </a:t>
            </a:r>
            <a:r>
              <a:rPr sz="1100">
                <a:latin typeface="Calibri"/>
                <a:cs typeface="Calibri"/>
              </a:rPr>
              <a:t>validated</a:t>
            </a:r>
            <a:r>
              <a:rPr sz="1100" spc="-15">
                <a:latin typeface="Calibri"/>
                <a:cs typeface="Calibri"/>
              </a:rPr>
              <a:t> </a:t>
            </a:r>
            <a:r>
              <a:rPr sz="1100" spc="-10">
                <a:latin typeface="Calibri"/>
                <a:cs typeface="Calibri"/>
              </a:rPr>
              <a:t>against </a:t>
            </a:r>
            <a:r>
              <a:rPr sz="1100">
                <a:latin typeface="Calibri"/>
                <a:cs typeface="Calibri"/>
              </a:rPr>
              <a:t>national</a:t>
            </a:r>
            <a:r>
              <a:rPr sz="1100" spc="-35">
                <a:latin typeface="Calibri"/>
                <a:cs typeface="Calibri"/>
              </a:rPr>
              <a:t> </a:t>
            </a:r>
            <a:r>
              <a:rPr sz="1100">
                <a:latin typeface="Calibri"/>
                <a:cs typeface="Calibri"/>
              </a:rPr>
              <a:t>dietary</a:t>
            </a:r>
            <a:r>
              <a:rPr sz="1100" spc="-30">
                <a:latin typeface="Calibri"/>
                <a:cs typeface="Calibri"/>
              </a:rPr>
              <a:t> </a:t>
            </a:r>
            <a:r>
              <a:rPr sz="1100">
                <a:latin typeface="Calibri"/>
                <a:cs typeface="Calibri"/>
              </a:rPr>
              <a:t>survey</a:t>
            </a:r>
            <a:r>
              <a:rPr sz="1100" spc="-30">
                <a:latin typeface="Calibri"/>
                <a:cs typeface="Calibri"/>
              </a:rPr>
              <a:t> </a:t>
            </a:r>
            <a:r>
              <a:rPr sz="1100">
                <a:latin typeface="Calibri"/>
                <a:cs typeface="Calibri"/>
              </a:rPr>
              <a:t>data,</a:t>
            </a:r>
            <a:r>
              <a:rPr sz="1100" spc="-35">
                <a:latin typeface="Calibri"/>
                <a:cs typeface="Calibri"/>
              </a:rPr>
              <a:t> </a:t>
            </a:r>
            <a:r>
              <a:rPr sz="1100">
                <a:latin typeface="Calibri"/>
                <a:cs typeface="Calibri"/>
              </a:rPr>
              <a:t>showing</a:t>
            </a:r>
            <a:r>
              <a:rPr sz="1100" spc="-30">
                <a:latin typeface="Calibri"/>
                <a:cs typeface="Calibri"/>
              </a:rPr>
              <a:t> </a:t>
            </a:r>
            <a:r>
              <a:rPr sz="1100">
                <a:latin typeface="Calibri"/>
                <a:cs typeface="Calibri"/>
              </a:rPr>
              <a:t>meals</a:t>
            </a:r>
            <a:r>
              <a:rPr sz="1100" spc="-30">
                <a:latin typeface="Calibri"/>
                <a:cs typeface="Calibri"/>
              </a:rPr>
              <a:t> </a:t>
            </a:r>
            <a:r>
              <a:rPr sz="1100" spc="-20">
                <a:latin typeface="Calibri"/>
                <a:cs typeface="Calibri"/>
              </a:rPr>
              <a:t>from </a:t>
            </a:r>
            <a:r>
              <a:rPr sz="1100" spc="-10">
                <a:latin typeface="Calibri"/>
                <a:cs typeface="Calibri"/>
              </a:rPr>
              <a:t>professionally</a:t>
            </a:r>
            <a:r>
              <a:rPr sz="1100" spc="-15">
                <a:latin typeface="Calibri"/>
                <a:cs typeface="Calibri"/>
              </a:rPr>
              <a:t> </a:t>
            </a:r>
            <a:r>
              <a:rPr sz="1100">
                <a:latin typeface="Calibri"/>
                <a:cs typeface="Calibri"/>
              </a:rPr>
              <a:t>designed</a:t>
            </a:r>
            <a:r>
              <a:rPr sz="1100" spc="-10">
                <a:latin typeface="Calibri"/>
                <a:cs typeface="Calibri"/>
              </a:rPr>
              <a:t> </a:t>
            </a:r>
            <a:r>
              <a:rPr sz="1100">
                <a:latin typeface="Calibri"/>
                <a:cs typeface="Calibri"/>
              </a:rPr>
              <a:t>menus</a:t>
            </a:r>
            <a:r>
              <a:rPr sz="1100" spc="-15">
                <a:latin typeface="Calibri"/>
                <a:cs typeface="Calibri"/>
              </a:rPr>
              <a:t> </a:t>
            </a:r>
            <a:r>
              <a:rPr sz="1100">
                <a:latin typeface="Calibri"/>
                <a:cs typeface="Calibri"/>
              </a:rPr>
              <a:t>scoring</a:t>
            </a:r>
            <a:r>
              <a:rPr sz="1100" spc="-10">
                <a:latin typeface="Calibri"/>
                <a:cs typeface="Calibri"/>
              </a:rPr>
              <a:t> </a:t>
            </a:r>
            <a:r>
              <a:rPr sz="1100">
                <a:latin typeface="Calibri"/>
                <a:cs typeface="Calibri"/>
              </a:rPr>
              <a:t>substantially</a:t>
            </a:r>
            <a:r>
              <a:rPr sz="1100" spc="-10">
                <a:latin typeface="Calibri"/>
                <a:cs typeface="Calibri"/>
              </a:rPr>
              <a:t> higher </a:t>
            </a:r>
            <a:r>
              <a:rPr sz="1100">
                <a:latin typeface="Calibri"/>
                <a:cs typeface="Calibri"/>
              </a:rPr>
              <a:t>than</a:t>
            </a:r>
            <a:r>
              <a:rPr sz="1100" spc="-20">
                <a:latin typeface="Calibri"/>
                <a:cs typeface="Calibri"/>
              </a:rPr>
              <a:t> </a:t>
            </a:r>
            <a:r>
              <a:rPr sz="1100">
                <a:latin typeface="Calibri"/>
                <a:cs typeface="Calibri"/>
              </a:rPr>
              <a:t>typical</a:t>
            </a:r>
            <a:r>
              <a:rPr sz="1100" spc="-20">
                <a:latin typeface="Calibri"/>
                <a:cs typeface="Calibri"/>
              </a:rPr>
              <a:t> </a:t>
            </a:r>
            <a:r>
              <a:rPr sz="1100" spc="-10">
                <a:latin typeface="Calibri"/>
                <a:cs typeface="Calibri"/>
              </a:rPr>
              <a:t>self-</a:t>
            </a:r>
            <a:r>
              <a:rPr sz="1100">
                <a:latin typeface="Calibri"/>
                <a:cs typeface="Calibri"/>
              </a:rPr>
              <a:t>reported</a:t>
            </a:r>
            <a:r>
              <a:rPr sz="1100" spc="-20">
                <a:latin typeface="Calibri"/>
                <a:cs typeface="Calibri"/>
              </a:rPr>
              <a:t> </a:t>
            </a:r>
            <a:r>
              <a:rPr sz="1100">
                <a:latin typeface="Calibri"/>
                <a:cs typeface="Calibri"/>
              </a:rPr>
              <a:t>meals</a:t>
            </a:r>
            <a:r>
              <a:rPr sz="1100" spc="-20">
                <a:latin typeface="Calibri"/>
                <a:cs typeface="Calibri"/>
              </a:rPr>
              <a:t> </a:t>
            </a:r>
            <a:r>
              <a:rPr sz="1100">
                <a:latin typeface="Calibri"/>
                <a:cs typeface="Calibri"/>
              </a:rPr>
              <a:t>[15].</a:t>
            </a:r>
            <a:r>
              <a:rPr sz="1100" spc="-20">
                <a:latin typeface="Calibri"/>
                <a:cs typeface="Calibri"/>
              </a:rPr>
              <a:t> </a:t>
            </a:r>
            <a:r>
              <a:rPr sz="1100">
                <a:latin typeface="Calibri"/>
                <a:cs typeface="Calibri"/>
              </a:rPr>
              <a:t>A</a:t>
            </a:r>
            <a:r>
              <a:rPr sz="1100" spc="-20">
                <a:latin typeface="Calibri"/>
                <a:cs typeface="Calibri"/>
              </a:rPr>
              <a:t> </a:t>
            </a:r>
            <a:r>
              <a:rPr sz="1100">
                <a:latin typeface="Calibri"/>
                <a:cs typeface="Calibri"/>
              </a:rPr>
              <a:t>related</a:t>
            </a:r>
            <a:r>
              <a:rPr sz="1100" spc="-20">
                <a:latin typeface="Calibri"/>
                <a:cs typeface="Calibri"/>
              </a:rPr>
              <a:t> </a:t>
            </a:r>
            <a:r>
              <a:rPr sz="1100" spc="-10">
                <a:latin typeface="Calibri"/>
                <a:cs typeface="Calibri"/>
              </a:rPr>
              <a:t>nutrient-</a:t>
            </a:r>
            <a:r>
              <a:rPr sz="1100">
                <a:latin typeface="Calibri"/>
                <a:cs typeface="Calibri"/>
              </a:rPr>
              <a:t>based</a:t>
            </a:r>
            <a:r>
              <a:rPr sz="1100" spc="-25">
                <a:latin typeface="Calibri"/>
                <a:cs typeface="Calibri"/>
              </a:rPr>
              <a:t> </a:t>
            </a:r>
            <a:r>
              <a:rPr sz="1100">
                <a:latin typeface="Calibri"/>
                <a:cs typeface="Calibri"/>
              </a:rPr>
              <a:t>scoring</a:t>
            </a:r>
            <a:r>
              <a:rPr sz="1100" spc="-25">
                <a:latin typeface="Calibri"/>
                <a:cs typeface="Calibri"/>
              </a:rPr>
              <a:t> </a:t>
            </a:r>
            <a:r>
              <a:rPr sz="1100">
                <a:latin typeface="Calibri"/>
                <a:cs typeface="Calibri"/>
              </a:rPr>
              <a:t>approach</a:t>
            </a:r>
            <a:r>
              <a:rPr sz="1100" spc="-25">
                <a:latin typeface="Calibri"/>
                <a:cs typeface="Calibri"/>
              </a:rPr>
              <a:t> </a:t>
            </a:r>
            <a:r>
              <a:rPr sz="1100">
                <a:latin typeface="Calibri"/>
                <a:cs typeface="Calibri"/>
              </a:rPr>
              <a:t>has</a:t>
            </a:r>
            <a:r>
              <a:rPr sz="1100" spc="-20">
                <a:latin typeface="Calibri"/>
                <a:cs typeface="Calibri"/>
              </a:rPr>
              <a:t> </a:t>
            </a:r>
            <a:r>
              <a:rPr sz="1100">
                <a:latin typeface="Calibri"/>
                <a:cs typeface="Calibri"/>
              </a:rPr>
              <a:t>since</a:t>
            </a:r>
            <a:r>
              <a:rPr sz="1100" spc="-25">
                <a:latin typeface="Calibri"/>
                <a:cs typeface="Calibri"/>
              </a:rPr>
              <a:t> </a:t>
            </a:r>
            <a:r>
              <a:rPr sz="1100">
                <a:latin typeface="Calibri"/>
                <a:cs typeface="Calibri"/>
              </a:rPr>
              <a:t>been</a:t>
            </a:r>
            <a:r>
              <a:rPr sz="1100" spc="-25">
                <a:latin typeface="Calibri"/>
                <a:cs typeface="Calibri"/>
              </a:rPr>
              <a:t> </a:t>
            </a:r>
            <a:r>
              <a:rPr sz="1100">
                <a:latin typeface="Calibri"/>
                <a:cs typeface="Calibri"/>
              </a:rPr>
              <a:t>validated</a:t>
            </a:r>
            <a:r>
              <a:rPr sz="1100" spc="-20">
                <a:latin typeface="Calibri"/>
                <a:cs typeface="Calibri"/>
              </a:rPr>
              <a:t> </a:t>
            </a:r>
            <a:r>
              <a:rPr sz="1100">
                <a:latin typeface="Calibri"/>
                <a:cs typeface="Calibri"/>
              </a:rPr>
              <a:t>for</a:t>
            </a:r>
            <a:r>
              <a:rPr sz="1100" spc="-25">
                <a:latin typeface="Calibri"/>
                <a:cs typeface="Calibri"/>
              </a:rPr>
              <a:t> </a:t>
            </a:r>
            <a:r>
              <a:rPr sz="1100" spc="-10">
                <a:latin typeface="Calibri"/>
                <a:cs typeface="Calibri"/>
              </a:rPr>
              <a:t>other </a:t>
            </a:r>
            <a:r>
              <a:rPr sz="1100">
                <a:latin typeface="Calibri"/>
                <a:cs typeface="Calibri"/>
              </a:rPr>
              <a:t>populations</a:t>
            </a:r>
            <a:r>
              <a:rPr sz="1100" spc="-5">
                <a:latin typeface="Calibri"/>
                <a:cs typeface="Calibri"/>
              </a:rPr>
              <a:t> </a:t>
            </a:r>
            <a:r>
              <a:rPr sz="1100">
                <a:latin typeface="Calibri"/>
                <a:cs typeface="Calibri"/>
              </a:rPr>
              <a:t>using the</a:t>
            </a:r>
            <a:r>
              <a:rPr sz="1100" spc="-5">
                <a:latin typeface="Calibri"/>
                <a:cs typeface="Calibri"/>
              </a:rPr>
              <a:t> </a:t>
            </a:r>
            <a:r>
              <a:rPr sz="1100">
                <a:latin typeface="Calibri"/>
                <a:cs typeface="Calibri"/>
              </a:rPr>
              <a:t>same </a:t>
            </a:r>
            <a:r>
              <a:rPr sz="1100" spc="-10">
                <a:latin typeface="Calibri"/>
                <a:cs typeface="Calibri"/>
              </a:rPr>
              <a:t>shortfall/excess</a:t>
            </a:r>
            <a:r>
              <a:rPr sz="1100">
                <a:latin typeface="Calibri"/>
                <a:cs typeface="Calibri"/>
              </a:rPr>
              <a:t> logic</a:t>
            </a:r>
            <a:r>
              <a:rPr sz="1100" spc="-5">
                <a:latin typeface="Calibri"/>
                <a:cs typeface="Calibri"/>
              </a:rPr>
              <a:t> </a:t>
            </a:r>
            <a:r>
              <a:rPr sz="1100" spc="-10">
                <a:latin typeface="Calibri"/>
                <a:cs typeface="Calibri"/>
              </a:rPr>
              <a:t>[16].</a:t>
            </a:r>
            <a:endParaRPr sz="1100">
              <a:latin typeface="Calibri"/>
              <a:cs typeface="Calibri"/>
            </a:endParaRPr>
          </a:p>
          <a:p>
            <a:pPr marL="12700" marR="116205" algn="just">
              <a:lnSpc>
                <a:spcPct val="117000"/>
              </a:lnSpc>
              <a:defRPr/>
            </a:pPr>
            <a:r>
              <a:rPr sz="1100">
                <a:latin typeface="Calibri"/>
                <a:cs typeface="Calibri"/>
              </a:rPr>
              <a:t>Separately,</a:t>
            </a:r>
            <a:r>
              <a:rPr sz="1100" spc="-35">
                <a:latin typeface="Calibri"/>
                <a:cs typeface="Calibri"/>
              </a:rPr>
              <a:t> </a:t>
            </a:r>
            <a:r>
              <a:rPr sz="1100">
                <a:latin typeface="Calibri"/>
                <a:cs typeface="Calibri"/>
              </a:rPr>
              <a:t>a</a:t>
            </a:r>
            <a:r>
              <a:rPr sz="1100" spc="-30">
                <a:latin typeface="Calibri"/>
                <a:cs typeface="Calibri"/>
              </a:rPr>
              <a:t> </a:t>
            </a:r>
            <a:r>
              <a:rPr sz="1100">
                <a:latin typeface="Calibri"/>
                <a:cs typeface="Calibri"/>
              </a:rPr>
              <a:t>system</a:t>
            </a:r>
            <a:r>
              <a:rPr sz="1100" spc="-35">
                <a:latin typeface="Calibri"/>
                <a:cs typeface="Calibri"/>
              </a:rPr>
              <a:t> </a:t>
            </a:r>
            <a:r>
              <a:rPr sz="1100">
                <a:latin typeface="Calibri"/>
                <a:cs typeface="Calibri"/>
              </a:rPr>
              <a:t>for</a:t>
            </a:r>
            <a:r>
              <a:rPr sz="1100" spc="-30">
                <a:latin typeface="Calibri"/>
                <a:cs typeface="Calibri"/>
              </a:rPr>
              <a:t> </a:t>
            </a:r>
            <a:r>
              <a:rPr sz="1100">
                <a:latin typeface="Calibri"/>
                <a:cs typeface="Calibri"/>
              </a:rPr>
              <a:t>automatically</a:t>
            </a:r>
            <a:r>
              <a:rPr sz="1100" spc="-35">
                <a:latin typeface="Calibri"/>
                <a:cs typeface="Calibri"/>
              </a:rPr>
              <a:t> </a:t>
            </a:r>
            <a:r>
              <a:rPr sz="1100">
                <a:latin typeface="Calibri"/>
                <a:cs typeface="Calibri"/>
              </a:rPr>
              <a:t>screening</a:t>
            </a:r>
            <a:r>
              <a:rPr sz="1100" spc="-30">
                <a:latin typeface="Calibri"/>
                <a:cs typeface="Calibri"/>
              </a:rPr>
              <a:t> </a:t>
            </a:r>
            <a:r>
              <a:rPr sz="1100" spc="-20">
                <a:latin typeface="Calibri"/>
                <a:cs typeface="Calibri"/>
              </a:rPr>
              <a:t>meal </a:t>
            </a:r>
            <a:r>
              <a:rPr sz="1100">
                <a:latin typeface="Calibri"/>
                <a:cs typeface="Calibri"/>
              </a:rPr>
              <a:t>images</a:t>
            </a:r>
            <a:r>
              <a:rPr sz="1100" spc="-25">
                <a:latin typeface="Calibri"/>
                <a:cs typeface="Calibri"/>
              </a:rPr>
              <a:t> </a:t>
            </a:r>
            <a:r>
              <a:rPr sz="1100">
                <a:latin typeface="Calibri"/>
                <a:cs typeface="Calibri"/>
              </a:rPr>
              <a:t>for</a:t>
            </a:r>
            <a:r>
              <a:rPr sz="1100" spc="-20">
                <a:latin typeface="Calibri"/>
                <a:cs typeface="Calibri"/>
              </a:rPr>
              <a:t> </a:t>
            </a:r>
            <a:r>
              <a:rPr sz="1100">
                <a:latin typeface="Calibri"/>
                <a:cs typeface="Calibri"/>
              </a:rPr>
              <a:t>"healthiness"</a:t>
            </a:r>
            <a:r>
              <a:rPr sz="1100" spc="-20">
                <a:latin typeface="Calibri"/>
                <a:cs typeface="Calibri"/>
              </a:rPr>
              <a:t> </a:t>
            </a:r>
            <a:r>
              <a:rPr sz="1100" spc="-10">
                <a:latin typeface="Calibri"/>
                <a:cs typeface="Calibri"/>
              </a:rPr>
              <a:t>derived</a:t>
            </a:r>
            <a:r>
              <a:rPr sz="1100" spc="-20">
                <a:latin typeface="Calibri"/>
                <a:cs typeface="Calibri"/>
              </a:rPr>
              <a:t> </a:t>
            </a:r>
            <a:r>
              <a:rPr sz="1100">
                <a:latin typeface="Calibri"/>
                <a:cs typeface="Calibri"/>
              </a:rPr>
              <a:t>a</a:t>
            </a:r>
            <a:r>
              <a:rPr sz="1100" spc="-25">
                <a:latin typeface="Calibri"/>
                <a:cs typeface="Calibri"/>
              </a:rPr>
              <a:t> </a:t>
            </a:r>
            <a:r>
              <a:rPr sz="1100">
                <a:latin typeface="Calibri"/>
                <a:cs typeface="Calibri"/>
              </a:rPr>
              <a:t>numeric</a:t>
            </a:r>
            <a:r>
              <a:rPr sz="1100" spc="-20">
                <a:latin typeface="Calibri"/>
                <a:cs typeface="Calibri"/>
              </a:rPr>
              <a:t> </a:t>
            </a:r>
            <a:r>
              <a:rPr sz="1100" spc="-10">
                <a:latin typeface="Calibri"/>
                <a:cs typeface="Calibri"/>
              </a:rPr>
              <a:t>healthiness </a:t>
            </a:r>
            <a:r>
              <a:rPr sz="1100">
                <a:latin typeface="Calibri"/>
                <a:cs typeface="Calibri"/>
              </a:rPr>
              <a:t>score</a:t>
            </a:r>
            <a:r>
              <a:rPr sz="1100" spc="-35">
                <a:latin typeface="Calibri"/>
                <a:cs typeface="Calibri"/>
              </a:rPr>
              <a:t> </a:t>
            </a:r>
            <a:r>
              <a:rPr sz="1100">
                <a:latin typeface="Calibri"/>
                <a:cs typeface="Calibri"/>
              </a:rPr>
              <a:t>directly</a:t>
            </a:r>
            <a:r>
              <a:rPr sz="1100" spc="-25">
                <a:latin typeface="Calibri"/>
                <a:cs typeface="Calibri"/>
              </a:rPr>
              <a:t> </a:t>
            </a:r>
            <a:r>
              <a:rPr sz="1100">
                <a:latin typeface="Calibri"/>
                <a:cs typeface="Calibri"/>
              </a:rPr>
              <a:t>from</a:t>
            </a:r>
            <a:r>
              <a:rPr sz="1100" spc="-25">
                <a:latin typeface="Calibri"/>
                <a:cs typeface="Calibri"/>
              </a:rPr>
              <a:t> </a:t>
            </a:r>
            <a:r>
              <a:rPr sz="1100">
                <a:latin typeface="Calibri"/>
                <a:cs typeface="Calibri"/>
              </a:rPr>
              <a:t>meal</a:t>
            </a:r>
            <a:r>
              <a:rPr sz="1100" spc="-25">
                <a:latin typeface="Calibri"/>
                <a:cs typeface="Calibri"/>
              </a:rPr>
              <a:t> </a:t>
            </a:r>
            <a:r>
              <a:rPr sz="1100">
                <a:latin typeface="Calibri"/>
                <a:cs typeface="Calibri"/>
              </a:rPr>
              <a:t>photographs</a:t>
            </a:r>
            <a:r>
              <a:rPr sz="1100" spc="-25">
                <a:latin typeface="Calibri"/>
                <a:cs typeface="Calibri"/>
              </a:rPr>
              <a:t> </a:t>
            </a:r>
            <a:r>
              <a:rPr sz="1100">
                <a:latin typeface="Calibri"/>
                <a:cs typeface="Calibri"/>
              </a:rPr>
              <a:t>and</a:t>
            </a:r>
            <a:r>
              <a:rPr sz="1100" spc="-25">
                <a:latin typeface="Calibri"/>
                <a:cs typeface="Calibri"/>
              </a:rPr>
              <a:t> </a:t>
            </a:r>
            <a:r>
              <a:rPr sz="1100">
                <a:latin typeface="Calibri"/>
                <a:cs typeface="Calibri"/>
              </a:rPr>
              <a:t>validated</a:t>
            </a:r>
            <a:r>
              <a:rPr sz="1100" spc="-20">
                <a:latin typeface="Calibri"/>
                <a:cs typeface="Calibri"/>
              </a:rPr>
              <a:t> </a:t>
            </a:r>
            <a:r>
              <a:rPr sz="1100" spc="-25">
                <a:latin typeface="Calibri"/>
                <a:cs typeface="Calibri"/>
              </a:rPr>
              <a:t>it </a:t>
            </a:r>
            <a:r>
              <a:rPr sz="1100">
                <a:latin typeface="Calibri"/>
                <a:cs typeface="Calibri"/>
              </a:rPr>
              <a:t>against</a:t>
            </a:r>
            <a:r>
              <a:rPr sz="1100" spc="-20">
                <a:latin typeface="Calibri"/>
                <a:cs typeface="Calibri"/>
              </a:rPr>
              <a:t> </a:t>
            </a:r>
            <a:r>
              <a:rPr sz="1100">
                <a:latin typeface="Calibri"/>
                <a:cs typeface="Calibri"/>
              </a:rPr>
              <a:t>dietitian</a:t>
            </a:r>
            <a:r>
              <a:rPr sz="1100" spc="-15">
                <a:latin typeface="Calibri"/>
                <a:cs typeface="Calibri"/>
              </a:rPr>
              <a:t> </a:t>
            </a:r>
            <a:r>
              <a:rPr sz="1100">
                <a:latin typeface="Calibri"/>
                <a:cs typeface="Calibri"/>
              </a:rPr>
              <a:t>rankings</a:t>
            </a:r>
            <a:r>
              <a:rPr sz="1100" spc="-20">
                <a:latin typeface="Calibri"/>
                <a:cs typeface="Calibri"/>
              </a:rPr>
              <a:t> </a:t>
            </a:r>
            <a:r>
              <a:rPr sz="1100">
                <a:latin typeface="Calibri"/>
                <a:cs typeface="Calibri"/>
              </a:rPr>
              <a:t>and</a:t>
            </a:r>
            <a:r>
              <a:rPr sz="1100" spc="-15">
                <a:latin typeface="Calibri"/>
                <a:cs typeface="Calibri"/>
              </a:rPr>
              <a:t> </a:t>
            </a:r>
            <a:r>
              <a:rPr sz="1100" spc="-10">
                <a:latin typeface="Calibri"/>
                <a:cs typeface="Calibri"/>
              </a:rPr>
              <a:t>ground-</a:t>
            </a:r>
            <a:r>
              <a:rPr sz="1100">
                <a:latin typeface="Calibri"/>
                <a:cs typeface="Calibri"/>
              </a:rPr>
              <a:t>truth</a:t>
            </a:r>
            <a:r>
              <a:rPr sz="1100" spc="-20">
                <a:latin typeface="Calibri"/>
                <a:cs typeface="Calibri"/>
              </a:rPr>
              <a:t> </a:t>
            </a:r>
            <a:r>
              <a:rPr sz="1100">
                <a:latin typeface="Calibri"/>
                <a:cs typeface="Calibri"/>
              </a:rPr>
              <a:t>nutrition</a:t>
            </a:r>
            <a:r>
              <a:rPr sz="1100" spc="-15">
                <a:latin typeface="Calibri"/>
                <a:cs typeface="Calibri"/>
              </a:rPr>
              <a:t> </a:t>
            </a:r>
            <a:r>
              <a:rPr sz="1100" spc="-20">
                <a:latin typeface="Calibri"/>
                <a:cs typeface="Calibri"/>
              </a:rPr>
              <a:t>data</a:t>
            </a:r>
            <a:endParaRPr sz="1100">
              <a:latin typeface="Calibri"/>
              <a:cs typeface="Calibri"/>
            </a:endParaRPr>
          </a:p>
          <a:p>
            <a:pPr marL="12700" marR="52069" algn="just">
              <a:lnSpc>
                <a:spcPct val="117000"/>
              </a:lnSpc>
              <a:defRPr/>
            </a:pPr>
            <a:r>
              <a:rPr sz="1100">
                <a:latin typeface="Calibri"/>
                <a:cs typeface="Calibri"/>
              </a:rPr>
              <a:t>[14]</a:t>
            </a:r>
            <a:r>
              <a:rPr sz="1100" spc="-15">
                <a:latin typeface="Calibri"/>
                <a:cs typeface="Calibri"/>
              </a:rPr>
              <a:t> </a:t>
            </a:r>
            <a:r>
              <a:rPr sz="1100">
                <a:latin typeface="Calibri"/>
                <a:cs typeface="Calibri"/>
              </a:rPr>
              <a:t>—</a:t>
            </a:r>
            <a:r>
              <a:rPr sz="1100" spc="-15">
                <a:latin typeface="Calibri"/>
                <a:cs typeface="Calibri"/>
              </a:rPr>
              <a:t> </a:t>
            </a:r>
            <a:r>
              <a:rPr sz="1100">
                <a:latin typeface="Calibri"/>
                <a:cs typeface="Calibri"/>
              </a:rPr>
              <a:t>this</a:t>
            </a:r>
            <a:r>
              <a:rPr sz="1100" spc="-15">
                <a:latin typeface="Calibri"/>
                <a:cs typeface="Calibri"/>
              </a:rPr>
              <a:t> </a:t>
            </a:r>
            <a:r>
              <a:rPr sz="1100">
                <a:latin typeface="Calibri"/>
                <a:cs typeface="Calibri"/>
              </a:rPr>
              <a:t>is</a:t>
            </a:r>
            <a:r>
              <a:rPr sz="1100" spc="-15">
                <a:latin typeface="Calibri"/>
                <a:cs typeface="Calibri"/>
              </a:rPr>
              <a:t> </a:t>
            </a:r>
            <a:r>
              <a:rPr sz="1100">
                <a:latin typeface="Calibri"/>
                <a:cs typeface="Calibri"/>
              </a:rPr>
              <a:t>conceptually</a:t>
            </a:r>
            <a:r>
              <a:rPr sz="1100" spc="-10">
                <a:latin typeface="Calibri"/>
                <a:cs typeface="Calibri"/>
              </a:rPr>
              <a:t> </a:t>
            </a:r>
            <a:r>
              <a:rPr sz="1100">
                <a:latin typeface="Calibri"/>
                <a:cs typeface="Calibri"/>
              </a:rPr>
              <a:t>close</a:t>
            </a:r>
            <a:r>
              <a:rPr sz="1100" spc="-15">
                <a:latin typeface="Calibri"/>
                <a:cs typeface="Calibri"/>
              </a:rPr>
              <a:t> </a:t>
            </a:r>
            <a:r>
              <a:rPr sz="1100">
                <a:latin typeface="Calibri"/>
                <a:cs typeface="Calibri"/>
              </a:rPr>
              <a:t>to</a:t>
            </a:r>
            <a:r>
              <a:rPr sz="1100" spc="-15">
                <a:latin typeface="Calibri"/>
                <a:cs typeface="Calibri"/>
              </a:rPr>
              <a:t> </a:t>
            </a:r>
            <a:r>
              <a:rPr sz="1100">
                <a:latin typeface="Calibri"/>
                <a:cs typeface="Calibri"/>
              </a:rPr>
              <a:t>what</a:t>
            </a:r>
            <a:r>
              <a:rPr sz="1100" spc="-15">
                <a:latin typeface="Calibri"/>
                <a:cs typeface="Calibri"/>
              </a:rPr>
              <a:t> </a:t>
            </a:r>
            <a:r>
              <a:rPr sz="1100">
                <a:latin typeface="Calibri"/>
                <a:cs typeface="Calibri"/>
              </a:rPr>
              <a:t>a</a:t>
            </a:r>
            <a:r>
              <a:rPr sz="1100" spc="-15">
                <a:latin typeface="Calibri"/>
                <a:cs typeface="Calibri"/>
              </a:rPr>
              <a:t> </a:t>
            </a:r>
            <a:r>
              <a:rPr sz="1100">
                <a:latin typeface="Calibri"/>
                <a:cs typeface="Calibri"/>
              </a:rPr>
              <a:t>Meal</a:t>
            </a:r>
            <a:r>
              <a:rPr sz="1100" spc="-10">
                <a:latin typeface="Calibri"/>
                <a:cs typeface="Calibri"/>
              </a:rPr>
              <a:t> Quality </a:t>
            </a:r>
            <a:r>
              <a:rPr sz="1100">
                <a:latin typeface="Calibri"/>
                <a:cs typeface="Calibri"/>
              </a:rPr>
              <a:t>Score</a:t>
            </a:r>
            <a:r>
              <a:rPr sz="1100" spc="-20">
                <a:latin typeface="Calibri"/>
                <a:cs typeface="Calibri"/>
              </a:rPr>
              <a:t> </a:t>
            </a:r>
            <a:r>
              <a:rPr sz="1100">
                <a:latin typeface="Calibri"/>
                <a:cs typeface="Calibri"/>
              </a:rPr>
              <a:t>computed</a:t>
            </a:r>
            <a:r>
              <a:rPr sz="1100" spc="-15">
                <a:latin typeface="Calibri"/>
                <a:cs typeface="Calibri"/>
              </a:rPr>
              <a:t> </a:t>
            </a:r>
            <a:r>
              <a:rPr sz="1100">
                <a:latin typeface="Calibri"/>
                <a:cs typeface="Calibri"/>
              </a:rPr>
              <a:t>from</a:t>
            </a:r>
            <a:r>
              <a:rPr sz="1100" spc="-15">
                <a:latin typeface="Calibri"/>
                <a:cs typeface="Calibri"/>
              </a:rPr>
              <a:t> </a:t>
            </a:r>
            <a:r>
              <a:rPr sz="1100">
                <a:latin typeface="Calibri"/>
                <a:cs typeface="Calibri"/>
              </a:rPr>
              <a:t>a</a:t>
            </a:r>
            <a:r>
              <a:rPr sz="1100" spc="-15">
                <a:latin typeface="Calibri"/>
                <a:cs typeface="Calibri"/>
              </a:rPr>
              <a:t> </a:t>
            </a:r>
            <a:r>
              <a:rPr sz="1100">
                <a:latin typeface="Calibri"/>
                <a:cs typeface="Calibri"/>
              </a:rPr>
              <a:t>detected</a:t>
            </a:r>
            <a:r>
              <a:rPr sz="1100" spc="-15">
                <a:latin typeface="Calibri"/>
                <a:cs typeface="Calibri"/>
              </a:rPr>
              <a:t> </a:t>
            </a:r>
            <a:r>
              <a:rPr sz="1100">
                <a:latin typeface="Calibri"/>
                <a:cs typeface="Calibri"/>
              </a:rPr>
              <a:t>image</a:t>
            </a:r>
            <a:r>
              <a:rPr sz="1100" spc="-15">
                <a:latin typeface="Calibri"/>
                <a:cs typeface="Calibri"/>
              </a:rPr>
              <a:t> </a:t>
            </a:r>
            <a:r>
              <a:rPr sz="1100">
                <a:latin typeface="Calibri"/>
                <a:cs typeface="Calibri"/>
              </a:rPr>
              <a:t>would</a:t>
            </a:r>
            <a:r>
              <a:rPr sz="1100" spc="-15">
                <a:latin typeface="Calibri"/>
                <a:cs typeface="Calibri"/>
              </a:rPr>
              <a:t> </a:t>
            </a:r>
            <a:r>
              <a:rPr sz="1100">
                <a:latin typeface="Calibri"/>
                <a:cs typeface="Calibri"/>
              </a:rPr>
              <a:t>need</a:t>
            </a:r>
            <a:r>
              <a:rPr sz="1100" spc="-20">
                <a:latin typeface="Calibri"/>
                <a:cs typeface="Calibri"/>
              </a:rPr>
              <a:t> </a:t>
            </a:r>
            <a:r>
              <a:rPr sz="1100">
                <a:latin typeface="Calibri"/>
                <a:cs typeface="Calibri"/>
              </a:rPr>
              <a:t>to</a:t>
            </a:r>
            <a:r>
              <a:rPr sz="1100" spc="-15">
                <a:latin typeface="Calibri"/>
                <a:cs typeface="Calibri"/>
              </a:rPr>
              <a:t> </a:t>
            </a:r>
            <a:r>
              <a:rPr sz="1100" spc="-25">
                <a:latin typeface="Calibri"/>
                <a:cs typeface="Calibri"/>
              </a:rPr>
              <a:t>do. </a:t>
            </a:r>
            <a:r>
              <a:rPr sz="1100">
                <a:latin typeface="Calibri"/>
                <a:cs typeface="Calibri"/>
              </a:rPr>
              <a:t>These</a:t>
            </a:r>
            <a:r>
              <a:rPr sz="1100" spc="-25">
                <a:latin typeface="Calibri"/>
                <a:cs typeface="Calibri"/>
              </a:rPr>
              <a:t> </a:t>
            </a:r>
            <a:r>
              <a:rPr sz="1100">
                <a:latin typeface="Calibri"/>
                <a:cs typeface="Calibri"/>
              </a:rPr>
              <a:t>scoring</a:t>
            </a:r>
            <a:r>
              <a:rPr sz="1100" spc="-25">
                <a:latin typeface="Calibri"/>
                <a:cs typeface="Calibri"/>
              </a:rPr>
              <a:t> </a:t>
            </a:r>
            <a:r>
              <a:rPr sz="1100">
                <a:latin typeface="Calibri"/>
                <a:cs typeface="Calibri"/>
              </a:rPr>
              <a:t>frameworks</a:t>
            </a:r>
            <a:r>
              <a:rPr sz="1100" spc="-25">
                <a:latin typeface="Calibri"/>
                <a:cs typeface="Calibri"/>
              </a:rPr>
              <a:t> </a:t>
            </a:r>
            <a:r>
              <a:rPr sz="1100">
                <a:latin typeface="Calibri"/>
                <a:cs typeface="Calibri"/>
              </a:rPr>
              <a:t>give</a:t>
            </a:r>
            <a:r>
              <a:rPr sz="1100" spc="-20">
                <a:latin typeface="Calibri"/>
                <a:cs typeface="Calibri"/>
              </a:rPr>
              <a:t> </a:t>
            </a:r>
            <a:r>
              <a:rPr sz="1100">
                <a:latin typeface="Calibri"/>
                <a:cs typeface="Calibri"/>
              </a:rPr>
              <a:t>a</a:t>
            </a:r>
            <a:r>
              <a:rPr sz="1100" spc="-25">
                <a:latin typeface="Calibri"/>
                <a:cs typeface="Calibri"/>
              </a:rPr>
              <a:t> </a:t>
            </a:r>
            <a:r>
              <a:rPr sz="1100">
                <a:latin typeface="Calibri"/>
                <a:cs typeface="Calibri"/>
              </a:rPr>
              <a:t>grounded</a:t>
            </a:r>
            <a:r>
              <a:rPr sz="1100" spc="-25">
                <a:latin typeface="Calibri"/>
                <a:cs typeface="Calibri"/>
              </a:rPr>
              <a:t> </a:t>
            </a:r>
            <a:r>
              <a:rPr sz="1100">
                <a:latin typeface="Calibri"/>
                <a:cs typeface="Calibri"/>
              </a:rPr>
              <a:t>basis</a:t>
            </a:r>
            <a:r>
              <a:rPr sz="1100" spc="-20">
                <a:latin typeface="Calibri"/>
                <a:cs typeface="Calibri"/>
              </a:rPr>
              <a:t> </a:t>
            </a:r>
            <a:r>
              <a:rPr sz="1100" spc="-25">
                <a:latin typeface="Calibri"/>
                <a:cs typeface="Calibri"/>
              </a:rPr>
              <a:t>for </a:t>
            </a:r>
            <a:r>
              <a:rPr sz="1100">
                <a:latin typeface="Calibri"/>
                <a:cs typeface="Calibri"/>
              </a:rPr>
              <a:t>defining</a:t>
            </a:r>
            <a:r>
              <a:rPr sz="1100" spc="-30">
                <a:latin typeface="Calibri"/>
                <a:cs typeface="Calibri"/>
              </a:rPr>
              <a:t> </a:t>
            </a:r>
            <a:r>
              <a:rPr sz="1100">
                <a:latin typeface="Calibri"/>
                <a:cs typeface="Calibri"/>
              </a:rPr>
              <a:t>metrics</a:t>
            </a:r>
            <a:r>
              <a:rPr sz="1100" spc="-25">
                <a:latin typeface="Calibri"/>
                <a:cs typeface="Calibri"/>
              </a:rPr>
              <a:t> </a:t>
            </a:r>
            <a:r>
              <a:rPr sz="1100">
                <a:latin typeface="Calibri"/>
                <a:cs typeface="Calibri"/>
              </a:rPr>
              <a:t>like</a:t>
            </a:r>
            <a:r>
              <a:rPr sz="1100" spc="-30">
                <a:latin typeface="Calibri"/>
                <a:cs typeface="Calibri"/>
              </a:rPr>
              <a:t> </a:t>
            </a:r>
            <a:r>
              <a:rPr sz="1100">
                <a:latin typeface="Calibri"/>
                <a:cs typeface="Calibri"/>
              </a:rPr>
              <a:t>NutriVision's</a:t>
            </a:r>
            <a:r>
              <a:rPr sz="1100" spc="-25">
                <a:latin typeface="Calibri"/>
                <a:cs typeface="Calibri"/>
              </a:rPr>
              <a:t> </a:t>
            </a:r>
            <a:r>
              <a:rPr sz="1100">
                <a:latin typeface="Calibri"/>
                <a:cs typeface="Calibri"/>
              </a:rPr>
              <a:t>Meal</a:t>
            </a:r>
            <a:r>
              <a:rPr sz="1100" spc="-30">
                <a:latin typeface="Calibri"/>
                <a:cs typeface="Calibri"/>
              </a:rPr>
              <a:t> </a:t>
            </a:r>
            <a:r>
              <a:rPr sz="1100">
                <a:latin typeface="Calibri"/>
                <a:cs typeface="Calibri"/>
              </a:rPr>
              <a:t>Quality</a:t>
            </a:r>
            <a:r>
              <a:rPr sz="1100" spc="-25">
                <a:latin typeface="Calibri"/>
                <a:cs typeface="Calibri"/>
              </a:rPr>
              <a:t> </a:t>
            </a:r>
            <a:r>
              <a:rPr sz="1100">
                <a:latin typeface="Calibri"/>
                <a:cs typeface="Calibri"/>
              </a:rPr>
              <a:t>Score</a:t>
            </a:r>
            <a:r>
              <a:rPr sz="1100" spc="-25">
                <a:latin typeface="Calibri"/>
                <a:cs typeface="Calibri"/>
              </a:rPr>
              <a:t> and </a:t>
            </a:r>
            <a:r>
              <a:rPr sz="1100">
                <a:latin typeface="Calibri"/>
                <a:cs typeface="Calibri"/>
              </a:rPr>
              <a:t>Balanced</a:t>
            </a:r>
            <a:r>
              <a:rPr sz="1100" spc="-25">
                <a:latin typeface="Calibri"/>
                <a:cs typeface="Calibri"/>
              </a:rPr>
              <a:t> </a:t>
            </a:r>
            <a:r>
              <a:rPr sz="1100">
                <a:latin typeface="Calibri"/>
                <a:cs typeface="Calibri"/>
              </a:rPr>
              <a:t>Diet</a:t>
            </a:r>
            <a:r>
              <a:rPr sz="1100" spc="-20">
                <a:latin typeface="Calibri"/>
                <a:cs typeface="Calibri"/>
              </a:rPr>
              <a:t> </a:t>
            </a:r>
            <a:r>
              <a:rPr sz="1100">
                <a:latin typeface="Calibri"/>
                <a:cs typeface="Calibri"/>
              </a:rPr>
              <a:t>Score,</a:t>
            </a:r>
            <a:r>
              <a:rPr sz="1100" spc="-20">
                <a:latin typeface="Calibri"/>
                <a:cs typeface="Calibri"/>
              </a:rPr>
              <a:t> </a:t>
            </a:r>
            <a:r>
              <a:rPr sz="1100">
                <a:latin typeface="Calibri"/>
                <a:cs typeface="Calibri"/>
              </a:rPr>
              <a:t>rather</a:t>
            </a:r>
            <a:r>
              <a:rPr sz="1100" spc="-20">
                <a:latin typeface="Calibri"/>
                <a:cs typeface="Calibri"/>
              </a:rPr>
              <a:t> </a:t>
            </a:r>
            <a:r>
              <a:rPr sz="1100">
                <a:latin typeface="Calibri"/>
                <a:cs typeface="Calibri"/>
              </a:rPr>
              <a:t>than</a:t>
            </a:r>
            <a:r>
              <a:rPr sz="1100" spc="-20">
                <a:latin typeface="Calibri"/>
                <a:cs typeface="Calibri"/>
              </a:rPr>
              <a:t> </a:t>
            </a:r>
            <a:r>
              <a:rPr sz="1100">
                <a:latin typeface="Calibri"/>
                <a:cs typeface="Calibri"/>
              </a:rPr>
              <a:t>inventing</a:t>
            </a:r>
            <a:r>
              <a:rPr sz="1100" spc="-20">
                <a:latin typeface="Calibri"/>
                <a:cs typeface="Calibri"/>
              </a:rPr>
              <a:t> </a:t>
            </a:r>
            <a:r>
              <a:rPr sz="1100">
                <a:latin typeface="Calibri"/>
                <a:cs typeface="Calibri"/>
              </a:rPr>
              <a:t>an</a:t>
            </a:r>
            <a:r>
              <a:rPr sz="1100" spc="-20">
                <a:latin typeface="Calibri"/>
                <a:cs typeface="Calibri"/>
              </a:rPr>
              <a:t> </a:t>
            </a:r>
            <a:r>
              <a:rPr sz="1100">
                <a:latin typeface="Calibri"/>
                <a:cs typeface="Calibri"/>
              </a:rPr>
              <a:t>ad</a:t>
            </a:r>
            <a:r>
              <a:rPr sz="1100" spc="-20">
                <a:latin typeface="Calibri"/>
                <a:cs typeface="Calibri"/>
              </a:rPr>
              <a:t> </a:t>
            </a:r>
            <a:r>
              <a:rPr sz="1100" spc="-25">
                <a:latin typeface="Calibri"/>
                <a:cs typeface="Calibri"/>
              </a:rPr>
              <a:t>hoc </a:t>
            </a:r>
            <a:r>
              <a:rPr sz="1100" spc="-10">
                <a:latin typeface="Calibri"/>
                <a:cs typeface="Calibri"/>
              </a:rPr>
              <a:t>formula.</a:t>
            </a:r>
            <a:endParaRPr sz="1100">
              <a:latin typeface="Calibri"/>
              <a:cs typeface="Calibri"/>
            </a:endParaRPr>
          </a:p>
        </p:txBody>
      </p:sp>
      <p:sp>
        <p:nvSpPr>
          <p:cNvPr id="791340797" name="object 9"/>
          <p:cNvSpPr txBox="1"/>
          <p:nvPr/>
        </p:nvSpPr>
        <p:spPr bwMode="auto">
          <a:xfrm>
            <a:off x="4121489" y="512167"/>
            <a:ext cx="2414270" cy="208279"/>
          </a:xfrm>
          <a:prstGeom prst="rect">
            <a:avLst/>
          </a:prstGeom>
        </p:spPr>
        <p:txBody>
          <a:bodyPr vert="horz" wrap="square" lIns="0" tIns="12700" rIns="0" bIns="0" rtlCol="0">
            <a:spAutoFit/>
          </a:bodyPr>
          <a:lstStyle/>
          <a:p>
            <a:pPr marL="12700">
              <a:lnSpc>
                <a:spcPct val="100000"/>
              </a:lnSpc>
              <a:spcBef>
                <a:spcPts val="100"/>
              </a:spcBef>
              <a:defRPr/>
            </a:pPr>
            <a:r>
              <a:rPr sz="1200" i="1">
                <a:latin typeface="Calibri"/>
                <a:cs typeface="Calibri"/>
              </a:rPr>
              <a:t>D.</a:t>
            </a:r>
            <a:r>
              <a:rPr sz="1200" i="1" spc="-30">
                <a:latin typeface="Calibri"/>
                <a:cs typeface="Calibri"/>
              </a:rPr>
              <a:t> </a:t>
            </a:r>
            <a:r>
              <a:rPr sz="1200" i="1">
                <a:latin typeface="Calibri"/>
                <a:cs typeface="Calibri"/>
              </a:rPr>
              <a:t>Gamification</a:t>
            </a:r>
            <a:r>
              <a:rPr sz="1200" i="1" spc="-25">
                <a:latin typeface="Calibri"/>
                <a:cs typeface="Calibri"/>
              </a:rPr>
              <a:t> </a:t>
            </a:r>
            <a:r>
              <a:rPr sz="1200" i="1">
                <a:latin typeface="Calibri"/>
                <a:cs typeface="Calibri"/>
              </a:rPr>
              <a:t>and</a:t>
            </a:r>
            <a:r>
              <a:rPr sz="1200" i="1" spc="-25">
                <a:latin typeface="Calibri"/>
                <a:cs typeface="Calibri"/>
              </a:rPr>
              <a:t> </a:t>
            </a:r>
            <a:r>
              <a:rPr sz="1200" i="1">
                <a:latin typeface="Calibri"/>
                <a:cs typeface="Calibri"/>
              </a:rPr>
              <a:t>Behaviour</a:t>
            </a:r>
            <a:r>
              <a:rPr sz="1200" i="1" spc="-25">
                <a:latin typeface="Calibri"/>
                <a:cs typeface="Calibri"/>
              </a:rPr>
              <a:t> </a:t>
            </a:r>
            <a:r>
              <a:rPr sz="1200" i="1" spc="-10">
                <a:latin typeface="Calibri"/>
                <a:cs typeface="Calibri"/>
              </a:rPr>
              <a:t>Change</a:t>
            </a:r>
            <a:endParaRPr sz="1200">
              <a:latin typeface="Calibri"/>
              <a:cs typeface="Calibri"/>
            </a:endParaRPr>
          </a:p>
        </p:txBody>
      </p:sp>
      <p:sp>
        <p:nvSpPr>
          <p:cNvPr id="88039720" name="object 10"/>
          <p:cNvSpPr txBox="1"/>
          <p:nvPr/>
        </p:nvSpPr>
        <p:spPr bwMode="auto">
          <a:xfrm>
            <a:off x="4121488" y="825242"/>
            <a:ext cx="3346809" cy="2759002"/>
          </a:xfrm>
          <a:prstGeom prst="rect">
            <a:avLst/>
          </a:prstGeom>
        </p:spPr>
        <p:txBody>
          <a:bodyPr vert="horz" wrap="square" lIns="0" tIns="12700" rIns="0" bIns="0" rtlCol="0">
            <a:spAutoFit/>
          </a:bodyPr>
          <a:lstStyle/>
          <a:p>
            <a:pPr marL="12700" marR="5080" algn="just">
              <a:lnSpc>
                <a:spcPct val="117000"/>
              </a:lnSpc>
              <a:spcBef>
                <a:spcPts val="100"/>
              </a:spcBef>
              <a:defRPr/>
            </a:pPr>
            <a:r>
              <a:rPr sz="1100">
                <a:latin typeface="Calibri"/>
                <a:cs typeface="Calibri"/>
              </a:rPr>
              <a:t>Because</a:t>
            </a:r>
            <a:r>
              <a:rPr sz="1100" spc="-30">
                <a:latin typeface="Calibri"/>
                <a:cs typeface="Calibri"/>
              </a:rPr>
              <a:t> </a:t>
            </a:r>
            <a:r>
              <a:rPr sz="1100" spc="-10">
                <a:latin typeface="Calibri"/>
                <a:cs typeface="Calibri"/>
              </a:rPr>
              <a:t>one-</a:t>
            </a:r>
            <a:r>
              <a:rPr sz="1100">
                <a:latin typeface="Calibri"/>
                <a:cs typeface="Calibri"/>
              </a:rPr>
              <a:t>off</a:t>
            </a:r>
            <a:r>
              <a:rPr sz="1100" spc="-25">
                <a:latin typeface="Calibri"/>
                <a:cs typeface="Calibri"/>
              </a:rPr>
              <a:t> </a:t>
            </a:r>
            <a:r>
              <a:rPr sz="1100">
                <a:latin typeface="Calibri"/>
                <a:cs typeface="Calibri"/>
              </a:rPr>
              <a:t>nutrition</a:t>
            </a:r>
            <a:r>
              <a:rPr sz="1100" spc="-30">
                <a:latin typeface="Calibri"/>
                <a:cs typeface="Calibri"/>
              </a:rPr>
              <a:t> </a:t>
            </a:r>
            <a:r>
              <a:rPr sz="1100">
                <a:latin typeface="Calibri"/>
                <a:cs typeface="Calibri"/>
              </a:rPr>
              <a:t>tracking</a:t>
            </a:r>
            <a:r>
              <a:rPr sz="1100" spc="-25">
                <a:latin typeface="Calibri"/>
                <a:cs typeface="Calibri"/>
              </a:rPr>
              <a:t> </a:t>
            </a:r>
            <a:r>
              <a:rPr sz="1100">
                <a:latin typeface="Calibri"/>
                <a:cs typeface="Calibri"/>
              </a:rPr>
              <a:t>rarely</a:t>
            </a:r>
            <a:r>
              <a:rPr sz="1100" spc="-30">
                <a:latin typeface="Calibri"/>
                <a:cs typeface="Calibri"/>
              </a:rPr>
              <a:t> </a:t>
            </a:r>
            <a:r>
              <a:rPr sz="1100">
                <a:latin typeface="Calibri"/>
                <a:cs typeface="Calibri"/>
              </a:rPr>
              <a:t>produces</a:t>
            </a:r>
            <a:r>
              <a:rPr sz="1100" spc="-25">
                <a:latin typeface="Calibri"/>
                <a:cs typeface="Calibri"/>
              </a:rPr>
              <a:t> </a:t>
            </a:r>
            <a:r>
              <a:rPr sz="1100" spc="-10">
                <a:latin typeface="Calibri"/>
                <a:cs typeface="Calibri"/>
              </a:rPr>
              <a:t>lasting </a:t>
            </a:r>
            <a:r>
              <a:rPr sz="1100">
                <a:latin typeface="Calibri"/>
                <a:cs typeface="Calibri"/>
              </a:rPr>
              <a:t>change,</a:t>
            </a:r>
            <a:r>
              <a:rPr sz="1100" spc="-35">
                <a:latin typeface="Calibri"/>
                <a:cs typeface="Calibri"/>
              </a:rPr>
              <a:t> </a:t>
            </a:r>
            <a:r>
              <a:rPr sz="1100">
                <a:latin typeface="Calibri"/>
                <a:cs typeface="Calibri"/>
              </a:rPr>
              <a:t>several</a:t>
            </a:r>
            <a:r>
              <a:rPr sz="1100" spc="-35">
                <a:latin typeface="Calibri"/>
                <a:cs typeface="Calibri"/>
              </a:rPr>
              <a:t> </a:t>
            </a:r>
            <a:r>
              <a:rPr sz="1100">
                <a:latin typeface="Calibri"/>
                <a:cs typeface="Calibri"/>
              </a:rPr>
              <a:t>studies</a:t>
            </a:r>
            <a:r>
              <a:rPr sz="1100" spc="-35">
                <a:latin typeface="Calibri"/>
                <a:cs typeface="Calibri"/>
              </a:rPr>
              <a:t> </a:t>
            </a:r>
            <a:r>
              <a:rPr sz="1100">
                <a:latin typeface="Calibri"/>
                <a:cs typeface="Calibri"/>
              </a:rPr>
              <a:t>have</a:t>
            </a:r>
            <a:r>
              <a:rPr sz="1100" spc="-30">
                <a:latin typeface="Calibri"/>
                <a:cs typeface="Calibri"/>
              </a:rPr>
              <a:t> </a:t>
            </a:r>
            <a:r>
              <a:rPr sz="1100">
                <a:latin typeface="Calibri"/>
                <a:cs typeface="Calibri"/>
              </a:rPr>
              <a:t>examined</a:t>
            </a:r>
            <a:r>
              <a:rPr sz="1100" spc="-35">
                <a:latin typeface="Calibri"/>
                <a:cs typeface="Calibri"/>
              </a:rPr>
              <a:t> </a:t>
            </a:r>
            <a:r>
              <a:rPr sz="1100">
                <a:latin typeface="Calibri"/>
                <a:cs typeface="Calibri"/>
              </a:rPr>
              <a:t>gamification</a:t>
            </a:r>
            <a:r>
              <a:rPr sz="1100" spc="-35">
                <a:latin typeface="Calibri"/>
                <a:cs typeface="Calibri"/>
              </a:rPr>
              <a:t> </a:t>
            </a:r>
            <a:r>
              <a:rPr sz="1100">
                <a:latin typeface="Calibri"/>
                <a:cs typeface="Calibri"/>
              </a:rPr>
              <a:t>as</a:t>
            </a:r>
            <a:r>
              <a:rPr sz="1100" spc="-35">
                <a:latin typeface="Calibri"/>
                <a:cs typeface="Calibri"/>
              </a:rPr>
              <a:t> </a:t>
            </a:r>
            <a:r>
              <a:rPr sz="1100" spc="-50">
                <a:latin typeface="Calibri"/>
                <a:cs typeface="Calibri"/>
              </a:rPr>
              <a:t>a</a:t>
            </a:r>
            <a:r>
              <a:rPr sz="1100">
                <a:latin typeface="Calibri"/>
                <a:cs typeface="Calibri"/>
              </a:rPr>
              <a:t> way</a:t>
            </a:r>
            <a:r>
              <a:rPr sz="1100" spc="-20">
                <a:latin typeface="Calibri"/>
                <a:cs typeface="Calibri"/>
              </a:rPr>
              <a:t> </a:t>
            </a:r>
            <a:r>
              <a:rPr sz="1100">
                <a:latin typeface="Calibri"/>
                <a:cs typeface="Calibri"/>
              </a:rPr>
              <a:t>to</a:t>
            </a:r>
            <a:r>
              <a:rPr sz="1100" spc="-20">
                <a:latin typeface="Calibri"/>
                <a:cs typeface="Calibri"/>
              </a:rPr>
              <a:t> </a:t>
            </a:r>
            <a:r>
              <a:rPr sz="1100">
                <a:latin typeface="Calibri"/>
                <a:cs typeface="Calibri"/>
              </a:rPr>
              <a:t>sustain</a:t>
            </a:r>
            <a:r>
              <a:rPr sz="1100" spc="-20">
                <a:latin typeface="Calibri"/>
                <a:cs typeface="Calibri"/>
              </a:rPr>
              <a:t> </a:t>
            </a:r>
            <a:r>
              <a:rPr sz="1100">
                <a:latin typeface="Calibri"/>
                <a:cs typeface="Calibri"/>
              </a:rPr>
              <a:t>engagement.</a:t>
            </a:r>
            <a:r>
              <a:rPr sz="1100" spc="-20">
                <a:latin typeface="Calibri"/>
                <a:cs typeface="Calibri"/>
              </a:rPr>
              <a:t> </a:t>
            </a:r>
            <a:r>
              <a:rPr sz="1100">
                <a:latin typeface="Calibri"/>
                <a:cs typeface="Calibri"/>
              </a:rPr>
              <a:t>A</a:t>
            </a:r>
            <a:r>
              <a:rPr sz="1100" spc="-20">
                <a:latin typeface="Calibri"/>
                <a:cs typeface="Calibri"/>
              </a:rPr>
              <a:t> </a:t>
            </a:r>
            <a:r>
              <a:rPr sz="1100">
                <a:latin typeface="Calibri"/>
                <a:cs typeface="Calibri"/>
              </a:rPr>
              <a:t>gamified</a:t>
            </a:r>
            <a:r>
              <a:rPr sz="1100" spc="-20">
                <a:latin typeface="Calibri"/>
                <a:cs typeface="Calibri"/>
              </a:rPr>
              <a:t> </a:t>
            </a:r>
            <a:r>
              <a:rPr sz="1100" spc="-10">
                <a:latin typeface="Calibri"/>
                <a:cs typeface="Calibri"/>
              </a:rPr>
              <a:t>mHealth framework</a:t>
            </a:r>
            <a:r>
              <a:rPr sz="1100" spc="-30">
                <a:latin typeface="Calibri"/>
                <a:cs typeface="Calibri"/>
              </a:rPr>
              <a:t> </a:t>
            </a:r>
            <a:r>
              <a:rPr sz="1100">
                <a:latin typeface="Calibri"/>
                <a:cs typeface="Calibri"/>
              </a:rPr>
              <a:t>built</a:t>
            </a:r>
            <a:r>
              <a:rPr sz="1100" spc="-30">
                <a:latin typeface="Calibri"/>
                <a:cs typeface="Calibri"/>
              </a:rPr>
              <a:t> </a:t>
            </a:r>
            <a:r>
              <a:rPr sz="1100">
                <a:latin typeface="Calibri"/>
                <a:cs typeface="Calibri"/>
              </a:rPr>
              <a:t>around</a:t>
            </a:r>
            <a:r>
              <a:rPr sz="1100" spc="-30">
                <a:latin typeface="Calibri"/>
                <a:cs typeface="Calibri"/>
              </a:rPr>
              <a:t> </a:t>
            </a:r>
            <a:r>
              <a:rPr sz="1100">
                <a:latin typeface="Calibri"/>
                <a:cs typeface="Calibri"/>
              </a:rPr>
              <a:t>personalised</a:t>
            </a:r>
            <a:r>
              <a:rPr sz="1100" spc="-30">
                <a:latin typeface="Calibri"/>
                <a:cs typeface="Calibri"/>
              </a:rPr>
              <a:t> </a:t>
            </a:r>
            <a:r>
              <a:rPr sz="1100">
                <a:latin typeface="Calibri"/>
                <a:cs typeface="Calibri"/>
              </a:rPr>
              <a:t>"missions"</a:t>
            </a:r>
            <a:r>
              <a:rPr sz="1100" spc="-25">
                <a:latin typeface="Calibri"/>
                <a:cs typeface="Calibri"/>
              </a:rPr>
              <a:t> </a:t>
            </a:r>
            <a:r>
              <a:rPr sz="1100" spc="-10">
                <a:latin typeface="Calibri"/>
                <a:cs typeface="Calibri"/>
              </a:rPr>
              <a:t>targeting </a:t>
            </a:r>
            <a:r>
              <a:rPr sz="1100">
                <a:latin typeface="Calibri"/>
                <a:cs typeface="Calibri"/>
              </a:rPr>
              <a:t>key</a:t>
            </a:r>
            <a:r>
              <a:rPr sz="1100" spc="-30">
                <a:latin typeface="Calibri"/>
                <a:cs typeface="Calibri"/>
              </a:rPr>
              <a:t> </a:t>
            </a:r>
            <a:r>
              <a:rPr sz="1100">
                <a:latin typeface="Calibri"/>
                <a:cs typeface="Calibri"/>
              </a:rPr>
              <a:t>food</a:t>
            </a:r>
            <a:r>
              <a:rPr sz="1100" spc="-25">
                <a:latin typeface="Calibri"/>
                <a:cs typeface="Calibri"/>
              </a:rPr>
              <a:t> </a:t>
            </a:r>
            <a:r>
              <a:rPr sz="1100">
                <a:latin typeface="Calibri"/>
                <a:cs typeface="Calibri"/>
              </a:rPr>
              <a:t>groups</a:t>
            </a:r>
            <a:r>
              <a:rPr sz="1100" spc="-25">
                <a:latin typeface="Calibri"/>
                <a:cs typeface="Calibri"/>
              </a:rPr>
              <a:t> </a:t>
            </a:r>
            <a:r>
              <a:rPr sz="1100">
                <a:latin typeface="Calibri"/>
                <a:cs typeface="Calibri"/>
              </a:rPr>
              <a:t>(rather</a:t>
            </a:r>
            <a:r>
              <a:rPr sz="1100" spc="-25">
                <a:latin typeface="Calibri"/>
                <a:cs typeface="Calibri"/>
              </a:rPr>
              <a:t> </a:t>
            </a:r>
            <a:r>
              <a:rPr sz="1100">
                <a:latin typeface="Calibri"/>
                <a:cs typeface="Calibri"/>
              </a:rPr>
              <a:t>than</a:t>
            </a:r>
            <a:r>
              <a:rPr sz="1100" spc="-25">
                <a:latin typeface="Calibri"/>
                <a:cs typeface="Calibri"/>
              </a:rPr>
              <a:t> </a:t>
            </a:r>
            <a:r>
              <a:rPr sz="1100">
                <a:latin typeface="Calibri"/>
                <a:cs typeface="Calibri"/>
              </a:rPr>
              <a:t>raw</a:t>
            </a:r>
            <a:r>
              <a:rPr sz="1100" spc="-25">
                <a:latin typeface="Calibri"/>
                <a:cs typeface="Calibri"/>
              </a:rPr>
              <a:t> </a:t>
            </a:r>
            <a:r>
              <a:rPr sz="1100">
                <a:latin typeface="Calibri"/>
                <a:cs typeface="Calibri"/>
              </a:rPr>
              <a:t>calorie</a:t>
            </a:r>
            <a:r>
              <a:rPr sz="1100" spc="-25">
                <a:latin typeface="Calibri"/>
                <a:cs typeface="Calibri"/>
              </a:rPr>
              <a:t> </a:t>
            </a:r>
            <a:r>
              <a:rPr sz="1100">
                <a:latin typeface="Calibri"/>
                <a:cs typeface="Calibri"/>
              </a:rPr>
              <a:t>counting)</a:t>
            </a:r>
            <a:r>
              <a:rPr sz="1100" spc="-25">
                <a:latin typeface="Calibri"/>
                <a:cs typeface="Calibri"/>
              </a:rPr>
              <a:t> was </a:t>
            </a:r>
            <a:r>
              <a:rPr sz="1100">
                <a:latin typeface="Calibri"/>
                <a:cs typeface="Calibri"/>
              </a:rPr>
              <a:t>designed</a:t>
            </a:r>
            <a:r>
              <a:rPr sz="1100" spc="-20">
                <a:latin typeface="Calibri"/>
                <a:cs typeface="Calibri"/>
              </a:rPr>
              <a:t> </a:t>
            </a:r>
            <a:r>
              <a:rPr sz="1100">
                <a:latin typeface="Calibri"/>
                <a:cs typeface="Calibri"/>
              </a:rPr>
              <a:t>explicitly</a:t>
            </a:r>
            <a:r>
              <a:rPr sz="1100" spc="-20">
                <a:latin typeface="Calibri"/>
                <a:cs typeface="Calibri"/>
              </a:rPr>
              <a:t> </a:t>
            </a:r>
            <a:r>
              <a:rPr sz="1100">
                <a:latin typeface="Calibri"/>
                <a:cs typeface="Calibri"/>
              </a:rPr>
              <a:t>to</a:t>
            </a:r>
            <a:r>
              <a:rPr sz="1100" spc="-15">
                <a:latin typeface="Calibri"/>
                <a:cs typeface="Calibri"/>
              </a:rPr>
              <a:t> </a:t>
            </a:r>
            <a:r>
              <a:rPr sz="1100">
                <a:latin typeface="Calibri"/>
                <a:cs typeface="Calibri"/>
              </a:rPr>
              <a:t>avoid</a:t>
            </a:r>
            <a:r>
              <a:rPr sz="1100" spc="-20">
                <a:latin typeface="Calibri"/>
                <a:cs typeface="Calibri"/>
              </a:rPr>
              <a:t> </a:t>
            </a:r>
            <a:r>
              <a:rPr sz="1100">
                <a:latin typeface="Calibri"/>
                <a:cs typeface="Calibri"/>
              </a:rPr>
              <a:t>the</a:t>
            </a:r>
            <a:r>
              <a:rPr sz="1100" spc="-15">
                <a:latin typeface="Calibri"/>
                <a:cs typeface="Calibri"/>
              </a:rPr>
              <a:t> </a:t>
            </a:r>
            <a:r>
              <a:rPr sz="1100">
                <a:latin typeface="Calibri"/>
                <a:cs typeface="Calibri"/>
              </a:rPr>
              <a:t>engagement</a:t>
            </a:r>
            <a:r>
              <a:rPr sz="1100" spc="-20">
                <a:latin typeface="Calibri"/>
                <a:cs typeface="Calibri"/>
              </a:rPr>
              <a:t> </a:t>
            </a:r>
            <a:r>
              <a:rPr sz="1100" spc="-10">
                <a:latin typeface="Calibri"/>
                <a:cs typeface="Calibri"/>
              </a:rPr>
              <a:t>drop-</a:t>
            </a:r>
            <a:r>
              <a:rPr sz="1100">
                <a:latin typeface="Calibri"/>
                <a:cs typeface="Calibri"/>
              </a:rPr>
              <a:t>off</a:t>
            </a:r>
            <a:r>
              <a:rPr sz="1100" spc="-15">
                <a:latin typeface="Calibri"/>
                <a:cs typeface="Calibri"/>
              </a:rPr>
              <a:t> </a:t>
            </a:r>
            <a:r>
              <a:rPr sz="1100" spc="-25">
                <a:latin typeface="Calibri"/>
                <a:cs typeface="Calibri"/>
              </a:rPr>
              <a:t>and </a:t>
            </a:r>
            <a:r>
              <a:rPr sz="1100" spc="-10">
                <a:latin typeface="Calibri"/>
                <a:cs typeface="Calibri"/>
              </a:rPr>
              <a:t>disordered-</a:t>
            </a:r>
            <a:r>
              <a:rPr sz="1100">
                <a:latin typeface="Calibri"/>
                <a:cs typeface="Calibri"/>
              </a:rPr>
              <a:t>eating</a:t>
            </a:r>
            <a:r>
              <a:rPr sz="1100" spc="-15">
                <a:latin typeface="Calibri"/>
                <a:cs typeface="Calibri"/>
              </a:rPr>
              <a:t> </a:t>
            </a:r>
            <a:r>
              <a:rPr sz="1100">
                <a:latin typeface="Calibri"/>
                <a:cs typeface="Calibri"/>
              </a:rPr>
              <a:t>risk</a:t>
            </a:r>
            <a:r>
              <a:rPr sz="1100" spc="-15">
                <a:latin typeface="Calibri"/>
                <a:cs typeface="Calibri"/>
              </a:rPr>
              <a:t> </a:t>
            </a:r>
            <a:r>
              <a:rPr sz="1100">
                <a:latin typeface="Calibri"/>
                <a:cs typeface="Calibri"/>
              </a:rPr>
              <a:t>associated</a:t>
            </a:r>
            <a:r>
              <a:rPr sz="1100" spc="-15">
                <a:latin typeface="Calibri"/>
                <a:cs typeface="Calibri"/>
              </a:rPr>
              <a:t> </a:t>
            </a:r>
            <a:r>
              <a:rPr sz="1100">
                <a:latin typeface="Calibri"/>
                <a:cs typeface="Calibri"/>
              </a:rPr>
              <a:t>with</a:t>
            </a:r>
            <a:r>
              <a:rPr sz="1100" spc="-15">
                <a:latin typeface="Calibri"/>
                <a:cs typeface="Calibri"/>
              </a:rPr>
              <a:t> </a:t>
            </a:r>
            <a:r>
              <a:rPr sz="1100">
                <a:latin typeface="Calibri"/>
                <a:cs typeface="Calibri"/>
              </a:rPr>
              <a:t>pure</a:t>
            </a:r>
            <a:r>
              <a:rPr sz="1100" spc="-15">
                <a:latin typeface="Calibri"/>
                <a:cs typeface="Calibri"/>
              </a:rPr>
              <a:t> </a:t>
            </a:r>
            <a:r>
              <a:rPr sz="1100" spc="-10">
                <a:latin typeface="Calibri"/>
                <a:cs typeface="Calibri"/>
              </a:rPr>
              <a:t>calorie-</a:t>
            </a:r>
            <a:r>
              <a:rPr sz="1100">
                <a:latin typeface="Calibri"/>
                <a:cs typeface="Calibri"/>
              </a:rPr>
              <a:t>counting</a:t>
            </a:r>
            <a:r>
              <a:rPr sz="1100" spc="-20">
                <a:latin typeface="Calibri"/>
                <a:cs typeface="Calibri"/>
              </a:rPr>
              <a:t> </a:t>
            </a:r>
            <a:r>
              <a:rPr sz="1100">
                <a:latin typeface="Calibri"/>
                <a:cs typeface="Calibri"/>
              </a:rPr>
              <a:t>apps</a:t>
            </a:r>
            <a:r>
              <a:rPr sz="1100" spc="-20">
                <a:latin typeface="Calibri"/>
                <a:cs typeface="Calibri"/>
              </a:rPr>
              <a:t> </a:t>
            </a:r>
            <a:r>
              <a:rPr sz="1100">
                <a:latin typeface="Calibri"/>
                <a:cs typeface="Calibri"/>
              </a:rPr>
              <a:t>[17].</a:t>
            </a:r>
            <a:r>
              <a:rPr sz="1100" spc="-15">
                <a:latin typeface="Calibri"/>
                <a:cs typeface="Calibri"/>
              </a:rPr>
              <a:t> </a:t>
            </a:r>
            <a:r>
              <a:rPr sz="1100">
                <a:latin typeface="Calibri"/>
                <a:cs typeface="Calibri"/>
              </a:rPr>
              <a:t>A</a:t>
            </a:r>
            <a:r>
              <a:rPr sz="1100" spc="-20">
                <a:latin typeface="Calibri"/>
                <a:cs typeface="Calibri"/>
              </a:rPr>
              <a:t> </a:t>
            </a:r>
            <a:r>
              <a:rPr sz="1100">
                <a:latin typeface="Calibri"/>
                <a:cs typeface="Calibri"/>
              </a:rPr>
              <a:t>broader</a:t>
            </a:r>
            <a:r>
              <a:rPr sz="1100" spc="-15">
                <a:latin typeface="Calibri"/>
                <a:cs typeface="Calibri"/>
              </a:rPr>
              <a:t> </a:t>
            </a:r>
            <a:r>
              <a:rPr sz="1100" spc="-10">
                <a:latin typeface="Calibri"/>
                <a:cs typeface="Calibri"/>
              </a:rPr>
              <a:t>preference</a:t>
            </a:r>
            <a:r>
              <a:rPr sz="1100" spc="-20">
                <a:latin typeface="Calibri"/>
                <a:cs typeface="Calibri"/>
              </a:rPr>
              <a:t> </a:t>
            </a:r>
            <a:r>
              <a:rPr sz="1100">
                <a:latin typeface="Calibri"/>
                <a:cs typeface="Calibri"/>
              </a:rPr>
              <a:t>study</a:t>
            </a:r>
            <a:r>
              <a:rPr sz="1100" spc="-15">
                <a:latin typeface="Calibri"/>
                <a:cs typeface="Calibri"/>
              </a:rPr>
              <a:t> </a:t>
            </a:r>
            <a:r>
              <a:rPr sz="1100" spc="-10">
                <a:latin typeface="Calibri"/>
                <a:cs typeface="Calibri"/>
              </a:rPr>
              <a:t>across nutrition-</a:t>
            </a:r>
            <a:r>
              <a:rPr sz="1100">
                <a:latin typeface="Calibri"/>
                <a:cs typeface="Calibri"/>
              </a:rPr>
              <a:t>app</a:t>
            </a:r>
            <a:r>
              <a:rPr sz="1100" spc="-15">
                <a:latin typeface="Calibri"/>
                <a:cs typeface="Calibri"/>
              </a:rPr>
              <a:t> </a:t>
            </a:r>
            <a:r>
              <a:rPr sz="1100">
                <a:latin typeface="Calibri"/>
                <a:cs typeface="Calibri"/>
              </a:rPr>
              <a:t>users</a:t>
            </a:r>
            <a:r>
              <a:rPr sz="1100" spc="-10">
                <a:latin typeface="Calibri"/>
                <a:cs typeface="Calibri"/>
              </a:rPr>
              <a:t> </a:t>
            </a:r>
            <a:r>
              <a:rPr sz="1100">
                <a:latin typeface="Calibri"/>
                <a:cs typeface="Calibri"/>
              </a:rPr>
              <a:t>found</a:t>
            </a:r>
            <a:r>
              <a:rPr sz="1100" spc="-10">
                <a:latin typeface="Calibri"/>
                <a:cs typeface="Calibri"/>
              </a:rPr>
              <a:t> </a:t>
            </a:r>
            <a:r>
              <a:rPr sz="1100">
                <a:latin typeface="Calibri"/>
                <a:cs typeface="Calibri"/>
              </a:rPr>
              <a:t>that</a:t>
            </a:r>
            <a:r>
              <a:rPr sz="1100" spc="-10">
                <a:latin typeface="Calibri"/>
                <a:cs typeface="Calibri"/>
              </a:rPr>
              <a:t> </a:t>
            </a:r>
            <a:r>
              <a:rPr sz="1100">
                <a:latin typeface="Calibri"/>
                <a:cs typeface="Calibri"/>
              </a:rPr>
              <a:t>simple</a:t>
            </a:r>
            <a:r>
              <a:rPr sz="1100" spc="-10">
                <a:latin typeface="Calibri"/>
                <a:cs typeface="Calibri"/>
              </a:rPr>
              <a:t> </a:t>
            </a:r>
            <a:r>
              <a:rPr sz="1100">
                <a:latin typeface="Calibri"/>
                <a:cs typeface="Calibri"/>
              </a:rPr>
              <a:t>mechanics</a:t>
            </a:r>
            <a:r>
              <a:rPr sz="1100" spc="-10">
                <a:latin typeface="Calibri"/>
                <a:cs typeface="Calibri"/>
              </a:rPr>
              <a:t> </a:t>
            </a:r>
            <a:r>
              <a:rPr sz="1100">
                <a:latin typeface="Calibri"/>
                <a:cs typeface="Calibri"/>
              </a:rPr>
              <a:t>—</a:t>
            </a:r>
            <a:r>
              <a:rPr sz="1100" spc="-10">
                <a:latin typeface="Calibri"/>
                <a:cs typeface="Calibri"/>
              </a:rPr>
              <a:t> goals, </a:t>
            </a:r>
            <a:r>
              <a:rPr sz="1100">
                <a:latin typeface="Calibri"/>
                <a:cs typeface="Calibri"/>
              </a:rPr>
              <a:t>progress</a:t>
            </a:r>
            <a:r>
              <a:rPr sz="1100" spc="-20">
                <a:latin typeface="Calibri"/>
                <a:cs typeface="Calibri"/>
              </a:rPr>
              <a:t> </a:t>
            </a:r>
            <a:r>
              <a:rPr sz="1100">
                <a:latin typeface="Calibri"/>
                <a:cs typeface="Calibri"/>
              </a:rPr>
              <a:t>bars,</a:t>
            </a:r>
            <a:r>
              <a:rPr sz="1100" spc="-20">
                <a:latin typeface="Calibri"/>
                <a:cs typeface="Calibri"/>
              </a:rPr>
              <a:t> </a:t>
            </a:r>
            <a:r>
              <a:rPr sz="1100">
                <a:latin typeface="Calibri"/>
                <a:cs typeface="Calibri"/>
              </a:rPr>
              <a:t>small</a:t>
            </a:r>
            <a:r>
              <a:rPr sz="1100" spc="-20">
                <a:latin typeface="Calibri"/>
                <a:cs typeface="Calibri"/>
              </a:rPr>
              <a:t> </a:t>
            </a:r>
            <a:r>
              <a:rPr sz="1100" spc="-10">
                <a:latin typeface="Calibri"/>
                <a:cs typeface="Calibri"/>
              </a:rPr>
              <a:t>rewards</a:t>
            </a:r>
            <a:r>
              <a:rPr sz="1100" spc="-20">
                <a:latin typeface="Calibri"/>
                <a:cs typeface="Calibri"/>
              </a:rPr>
              <a:t> </a:t>
            </a:r>
            <a:r>
              <a:rPr sz="1100">
                <a:latin typeface="Calibri"/>
                <a:cs typeface="Calibri"/>
              </a:rPr>
              <a:t>—</a:t>
            </a:r>
            <a:r>
              <a:rPr sz="1100" spc="-20">
                <a:latin typeface="Calibri"/>
                <a:cs typeface="Calibri"/>
              </a:rPr>
              <a:t> </a:t>
            </a:r>
            <a:r>
              <a:rPr sz="1100">
                <a:latin typeface="Calibri"/>
                <a:cs typeface="Calibri"/>
              </a:rPr>
              <a:t>were</a:t>
            </a:r>
            <a:r>
              <a:rPr sz="1100" spc="-20">
                <a:latin typeface="Calibri"/>
                <a:cs typeface="Calibri"/>
              </a:rPr>
              <a:t> </a:t>
            </a:r>
            <a:r>
              <a:rPr sz="1100">
                <a:latin typeface="Calibri"/>
                <a:cs typeface="Calibri"/>
              </a:rPr>
              <a:t>rated</a:t>
            </a:r>
            <a:r>
              <a:rPr sz="1100" spc="-20">
                <a:latin typeface="Calibri"/>
                <a:cs typeface="Calibri"/>
              </a:rPr>
              <a:t> </a:t>
            </a:r>
            <a:r>
              <a:rPr sz="1100">
                <a:latin typeface="Calibri"/>
                <a:cs typeface="Calibri"/>
              </a:rPr>
              <a:t>far</a:t>
            </a:r>
            <a:r>
              <a:rPr sz="1100" spc="-20">
                <a:latin typeface="Calibri"/>
                <a:cs typeface="Calibri"/>
              </a:rPr>
              <a:t> more </a:t>
            </a:r>
            <a:r>
              <a:rPr sz="1100">
                <a:latin typeface="Calibri"/>
                <a:cs typeface="Calibri"/>
              </a:rPr>
              <a:t>positively</a:t>
            </a:r>
            <a:r>
              <a:rPr sz="1100" spc="-30">
                <a:latin typeface="Calibri"/>
                <a:cs typeface="Calibri"/>
              </a:rPr>
              <a:t> </a:t>
            </a:r>
            <a:r>
              <a:rPr sz="1100">
                <a:latin typeface="Calibri"/>
                <a:cs typeface="Calibri"/>
              </a:rPr>
              <a:t>than</a:t>
            </a:r>
            <a:r>
              <a:rPr sz="1100" spc="-25">
                <a:latin typeface="Calibri"/>
                <a:cs typeface="Calibri"/>
              </a:rPr>
              <a:t> </a:t>
            </a:r>
            <a:r>
              <a:rPr sz="1100">
                <a:latin typeface="Calibri"/>
                <a:cs typeface="Calibri"/>
              </a:rPr>
              <a:t>more</a:t>
            </a:r>
            <a:r>
              <a:rPr sz="1100" spc="-25">
                <a:latin typeface="Calibri"/>
                <a:cs typeface="Calibri"/>
              </a:rPr>
              <a:t> </a:t>
            </a:r>
            <a:r>
              <a:rPr sz="1100">
                <a:latin typeface="Calibri"/>
                <a:cs typeface="Calibri"/>
              </a:rPr>
              <a:t>elaborate</a:t>
            </a:r>
            <a:r>
              <a:rPr sz="1100" spc="-25">
                <a:latin typeface="Calibri"/>
                <a:cs typeface="Calibri"/>
              </a:rPr>
              <a:t> </a:t>
            </a:r>
            <a:r>
              <a:rPr sz="1100">
                <a:latin typeface="Calibri"/>
                <a:cs typeface="Calibri"/>
              </a:rPr>
              <a:t>game</a:t>
            </a:r>
            <a:r>
              <a:rPr sz="1100" spc="-25">
                <a:latin typeface="Calibri"/>
                <a:cs typeface="Calibri"/>
              </a:rPr>
              <a:t> </a:t>
            </a:r>
            <a:r>
              <a:rPr sz="1100">
                <a:latin typeface="Calibri"/>
                <a:cs typeface="Calibri"/>
              </a:rPr>
              <a:t>elements</a:t>
            </a:r>
            <a:r>
              <a:rPr sz="1100" spc="-25">
                <a:latin typeface="Calibri"/>
                <a:cs typeface="Calibri"/>
              </a:rPr>
              <a:t> </a:t>
            </a:r>
            <a:r>
              <a:rPr sz="1100">
                <a:latin typeface="Calibri"/>
                <a:cs typeface="Calibri"/>
              </a:rPr>
              <a:t>like</a:t>
            </a:r>
            <a:r>
              <a:rPr sz="1100" spc="-25">
                <a:latin typeface="Calibri"/>
                <a:cs typeface="Calibri"/>
              </a:rPr>
              <a:t> </a:t>
            </a:r>
            <a:r>
              <a:rPr sz="1100" spc="-10">
                <a:latin typeface="Calibri"/>
                <a:cs typeface="Calibri"/>
              </a:rPr>
              <a:t>avatars </a:t>
            </a:r>
            <a:r>
              <a:rPr sz="1100">
                <a:latin typeface="Calibri"/>
                <a:cs typeface="Calibri"/>
              </a:rPr>
              <a:t>or</a:t>
            </a:r>
            <a:r>
              <a:rPr sz="1100" spc="-25">
                <a:latin typeface="Calibri"/>
                <a:cs typeface="Calibri"/>
              </a:rPr>
              <a:t> </a:t>
            </a:r>
            <a:r>
              <a:rPr sz="1100">
                <a:latin typeface="Calibri"/>
                <a:cs typeface="Calibri"/>
              </a:rPr>
              <a:t>social</a:t>
            </a:r>
            <a:r>
              <a:rPr sz="1100" spc="-20">
                <a:latin typeface="Calibri"/>
                <a:cs typeface="Calibri"/>
              </a:rPr>
              <a:t> </a:t>
            </a:r>
            <a:r>
              <a:rPr sz="1100">
                <a:latin typeface="Calibri"/>
                <a:cs typeface="Calibri"/>
              </a:rPr>
              <a:t>leaderboards</a:t>
            </a:r>
            <a:r>
              <a:rPr sz="1100" spc="-20">
                <a:latin typeface="Calibri"/>
                <a:cs typeface="Calibri"/>
              </a:rPr>
              <a:t> </a:t>
            </a:r>
            <a:r>
              <a:rPr sz="1100">
                <a:latin typeface="Calibri"/>
                <a:cs typeface="Calibri"/>
              </a:rPr>
              <a:t>[18],</a:t>
            </a:r>
            <a:r>
              <a:rPr sz="1100" spc="-25">
                <a:latin typeface="Calibri"/>
                <a:cs typeface="Calibri"/>
              </a:rPr>
              <a:t> </a:t>
            </a:r>
            <a:r>
              <a:rPr sz="1100">
                <a:latin typeface="Calibri"/>
                <a:cs typeface="Calibri"/>
              </a:rPr>
              <a:t>which</a:t>
            </a:r>
            <a:r>
              <a:rPr sz="1100" spc="-20">
                <a:latin typeface="Calibri"/>
                <a:cs typeface="Calibri"/>
              </a:rPr>
              <a:t> </a:t>
            </a:r>
            <a:r>
              <a:rPr sz="1100">
                <a:latin typeface="Calibri"/>
                <a:cs typeface="Calibri"/>
              </a:rPr>
              <a:t>is</a:t>
            </a:r>
            <a:r>
              <a:rPr sz="1100" spc="-20">
                <a:latin typeface="Calibri"/>
                <a:cs typeface="Calibri"/>
              </a:rPr>
              <a:t> </a:t>
            </a:r>
            <a:r>
              <a:rPr sz="1100">
                <a:latin typeface="Calibri"/>
                <a:cs typeface="Calibri"/>
              </a:rPr>
              <a:t>a</a:t>
            </a:r>
            <a:r>
              <a:rPr sz="1100" spc="-25">
                <a:latin typeface="Calibri"/>
                <a:cs typeface="Calibri"/>
              </a:rPr>
              <a:t> </a:t>
            </a:r>
            <a:r>
              <a:rPr sz="1100">
                <a:latin typeface="Calibri"/>
                <a:cs typeface="Calibri"/>
              </a:rPr>
              <a:t>useful</a:t>
            </a:r>
            <a:r>
              <a:rPr sz="1100" spc="-20">
                <a:latin typeface="Calibri"/>
                <a:cs typeface="Calibri"/>
              </a:rPr>
              <a:t> </a:t>
            </a:r>
            <a:r>
              <a:rPr sz="1100">
                <a:latin typeface="Calibri"/>
                <a:cs typeface="Calibri"/>
              </a:rPr>
              <a:t>design</a:t>
            </a:r>
            <a:r>
              <a:rPr sz="1100" spc="-20">
                <a:latin typeface="Calibri"/>
                <a:cs typeface="Calibri"/>
              </a:rPr>
              <a:t> </a:t>
            </a:r>
            <a:r>
              <a:rPr sz="1100" spc="-10">
                <a:latin typeface="Calibri"/>
                <a:cs typeface="Calibri"/>
              </a:rPr>
              <a:t>signal </a:t>
            </a:r>
            <a:r>
              <a:rPr sz="1100">
                <a:latin typeface="Calibri"/>
                <a:cs typeface="Calibri"/>
              </a:rPr>
              <a:t>for</a:t>
            </a:r>
            <a:r>
              <a:rPr sz="1100" spc="-15">
                <a:latin typeface="Calibri"/>
                <a:cs typeface="Calibri"/>
              </a:rPr>
              <a:t> </a:t>
            </a:r>
            <a:r>
              <a:rPr sz="1100">
                <a:latin typeface="Calibri"/>
                <a:cs typeface="Calibri"/>
              </a:rPr>
              <a:t>keeping</a:t>
            </a:r>
            <a:r>
              <a:rPr sz="1100" spc="-10">
                <a:latin typeface="Calibri"/>
                <a:cs typeface="Calibri"/>
              </a:rPr>
              <a:t> </a:t>
            </a:r>
            <a:r>
              <a:rPr sz="1100">
                <a:latin typeface="Calibri"/>
                <a:cs typeface="Calibri"/>
              </a:rPr>
              <a:t>a</a:t>
            </a:r>
            <a:r>
              <a:rPr sz="1100" spc="-15">
                <a:latin typeface="Calibri"/>
                <a:cs typeface="Calibri"/>
              </a:rPr>
              <a:t> </a:t>
            </a:r>
            <a:r>
              <a:rPr sz="1100">
                <a:latin typeface="Calibri"/>
                <a:cs typeface="Calibri"/>
              </a:rPr>
              <a:t>Meal</a:t>
            </a:r>
            <a:r>
              <a:rPr sz="1100" spc="-10">
                <a:latin typeface="Calibri"/>
                <a:cs typeface="Calibri"/>
              </a:rPr>
              <a:t> </a:t>
            </a:r>
            <a:r>
              <a:rPr sz="1100">
                <a:latin typeface="Calibri"/>
                <a:cs typeface="Calibri"/>
              </a:rPr>
              <a:t>Score</a:t>
            </a:r>
            <a:r>
              <a:rPr sz="1100" spc="-15">
                <a:latin typeface="Calibri"/>
                <a:cs typeface="Calibri"/>
              </a:rPr>
              <a:t> </a:t>
            </a:r>
            <a:r>
              <a:rPr sz="1100">
                <a:latin typeface="Calibri"/>
                <a:cs typeface="Calibri"/>
              </a:rPr>
              <a:t>/</a:t>
            </a:r>
            <a:r>
              <a:rPr sz="1100" spc="-10">
                <a:latin typeface="Calibri"/>
                <a:cs typeface="Calibri"/>
              </a:rPr>
              <a:t> streak-</a:t>
            </a:r>
            <a:r>
              <a:rPr sz="1100">
                <a:latin typeface="Calibri"/>
                <a:cs typeface="Calibri"/>
              </a:rPr>
              <a:t>based</a:t>
            </a:r>
            <a:r>
              <a:rPr sz="1100" spc="-15">
                <a:latin typeface="Calibri"/>
                <a:cs typeface="Calibri"/>
              </a:rPr>
              <a:t> </a:t>
            </a:r>
            <a:r>
              <a:rPr sz="1100">
                <a:latin typeface="Calibri"/>
                <a:cs typeface="Calibri"/>
              </a:rPr>
              <a:t>challenge</a:t>
            </a:r>
            <a:r>
              <a:rPr sz="1100" spc="-10">
                <a:latin typeface="Calibri"/>
                <a:cs typeface="Calibri"/>
              </a:rPr>
              <a:t> system </a:t>
            </a:r>
            <a:r>
              <a:rPr sz="1100">
                <a:latin typeface="Calibri"/>
                <a:cs typeface="Calibri"/>
              </a:rPr>
              <a:t>simple</a:t>
            </a:r>
            <a:r>
              <a:rPr sz="1100" spc="-10">
                <a:latin typeface="Calibri"/>
                <a:cs typeface="Calibri"/>
              </a:rPr>
              <a:t> </a:t>
            </a:r>
            <a:r>
              <a:rPr sz="1100">
                <a:latin typeface="Calibri"/>
                <a:cs typeface="Calibri"/>
              </a:rPr>
              <a:t>and</a:t>
            </a:r>
            <a:r>
              <a:rPr sz="1100" spc="-5">
                <a:latin typeface="Calibri"/>
                <a:cs typeface="Calibri"/>
              </a:rPr>
              <a:t> </a:t>
            </a:r>
            <a:r>
              <a:rPr sz="1100" spc="-10">
                <a:latin typeface="Calibri"/>
                <a:cs typeface="Calibri"/>
              </a:rPr>
              <a:t>non-gimmicky.</a:t>
            </a:r>
            <a:endParaRPr sz="1100">
              <a:latin typeface="Calibri"/>
              <a:cs typeface="Calibri"/>
            </a:endParaRPr>
          </a:p>
        </p:txBody>
      </p:sp>
      <p:sp>
        <p:nvSpPr>
          <p:cNvPr id="1068240195" name="object 11"/>
          <p:cNvSpPr txBox="1"/>
          <p:nvPr/>
        </p:nvSpPr>
        <p:spPr bwMode="auto">
          <a:xfrm>
            <a:off x="4121489" y="3694615"/>
            <a:ext cx="3272790" cy="453390"/>
          </a:xfrm>
          <a:prstGeom prst="rect">
            <a:avLst/>
          </a:prstGeom>
        </p:spPr>
        <p:txBody>
          <a:bodyPr vert="horz" wrap="square" lIns="0" tIns="12700" rIns="0" bIns="0" rtlCol="0">
            <a:spAutoFit/>
          </a:bodyPr>
          <a:lstStyle/>
          <a:p>
            <a:pPr marL="12700" marR="5080">
              <a:lnSpc>
                <a:spcPct val="117000"/>
              </a:lnSpc>
              <a:spcBef>
                <a:spcPts val="100"/>
              </a:spcBef>
              <a:defRPr/>
            </a:pPr>
            <a:r>
              <a:rPr sz="1200" b="1" spc="-10">
                <a:latin typeface="Times New Roman"/>
                <a:cs typeface="Times New Roman"/>
              </a:rPr>
              <a:t>III</a:t>
            </a:r>
            <a:r>
              <a:rPr sz="1200" b="1" spc="-10">
                <a:latin typeface="Calibri"/>
                <a:cs typeface="Calibri"/>
              </a:rPr>
              <a:t>.</a:t>
            </a:r>
            <a:r>
              <a:rPr sz="1200" b="1" spc="-45">
                <a:latin typeface="Calibri"/>
                <a:cs typeface="Calibri"/>
              </a:rPr>
              <a:t> </a:t>
            </a:r>
            <a:r>
              <a:rPr sz="1200" b="1" spc="-55">
                <a:latin typeface="Calibri"/>
                <a:cs typeface="Calibri"/>
              </a:rPr>
              <a:t>ARTIFICIAL</a:t>
            </a:r>
            <a:r>
              <a:rPr sz="1200" b="1" spc="-45">
                <a:latin typeface="Calibri"/>
                <a:cs typeface="Calibri"/>
              </a:rPr>
              <a:t> </a:t>
            </a:r>
            <a:r>
              <a:rPr sz="1200" b="1" spc="-60">
                <a:latin typeface="Calibri"/>
                <a:cs typeface="Calibri"/>
              </a:rPr>
              <a:t>INTELIGENECE</a:t>
            </a:r>
            <a:r>
              <a:rPr sz="1200" b="1" spc="-45">
                <a:latin typeface="Calibri"/>
                <a:cs typeface="Calibri"/>
              </a:rPr>
              <a:t> AND </a:t>
            </a:r>
            <a:r>
              <a:rPr sz="1200" b="1" spc="-55">
                <a:latin typeface="Calibri"/>
                <a:cs typeface="Calibri"/>
              </a:rPr>
              <a:t>MACHINE</a:t>
            </a:r>
            <a:r>
              <a:rPr sz="1200" b="1" spc="-45">
                <a:latin typeface="Calibri"/>
                <a:cs typeface="Calibri"/>
              </a:rPr>
              <a:t> LEARNING FOR</a:t>
            </a:r>
            <a:r>
              <a:rPr sz="1200" b="1" spc="-65">
                <a:latin typeface="Calibri"/>
                <a:cs typeface="Calibri"/>
              </a:rPr>
              <a:t> </a:t>
            </a:r>
            <a:r>
              <a:rPr sz="1200" b="1" spc="-50">
                <a:latin typeface="Calibri"/>
                <a:cs typeface="Calibri"/>
              </a:rPr>
              <a:t>FOOD</a:t>
            </a:r>
            <a:r>
              <a:rPr sz="1200" b="1" spc="-60">
                <a:latin typeface="Calibri"/>
                <a:cs typeface="Calibri"/>
              </a:rPr>
              <a:t> </a:t>
            </a:r>
            <a:r>
              <a:rPr sz="1200" b="1" spc="-55">
                <a:latin typeface="Calibri"/>
                <a:cs typeface="Calibri"/>
              </a:rPr>
              <a:t>RECOGNITION</a:t>
            </a:r>
            <a:r>
              <a:rPr sz="1200" b="1" spc="-60">
                <a:latin typeface="Calibri"/>
                <a:cs typeface="Calibri"/>
              </a:rPr>
              <a:t> </a:t>
            </a:r>
            <a:r>
              <a:rPr sz="1200" b="1" spc="-45">
                <a:latin typeface="Calibri"/>
                <a:cs typeface="Calibri"/>
              </a:rPr>
              <a:t>AND</a:t>
            </a:r>
            <a:r>
              <a:rPr sz="1200" b="1" spc="-65">
                <a:latin typeface="Calibri"/>
                <a:cs typeface="Calibri"/>
              </a:rPr>
              <a:t> </a:t>
            </a:r>
            <a:r>
              <a:rPr sz="1200" b="1" spc="-55">
                <a:latin typeface="Calibri"/>
                <a:cs typeface="Calibri"/>
              </a:rPr>
              <a:t>NUTRITION</a:t>
            </a:r>
            <a:r>
              <a:rPr sz="1200" b="1" spc="-60">
                <a:latin typeface="Calibri"/>
                <a:cs typeface="Calibri"/>
              </a:rPr>
              <a:t> </a:t>
            </a:r>
            <a:r>
              <a:rPr sz="1200" b="1" spc="-50">
                <a:latin typeface="Calibri"/>
                <a:cs typeface="Calibri"/>
              </a:rPr>
              <a:t>ESTIMATION</a:t>
            </a:r>
            <a:endParaRPr sz="1200">
              <a:latin typeface="Calibri"/>
              <a:cs typeface="Calibri"/>
            </a:endParaRPr>
          </a:p>
        </p:txBody>
      </p:sp>
      <p:sp>
        <p:nvSpPr>
          <p:cNvPr id="1376751405" name="object 12"/>
          <p:cNvSpPr txBox="1"/>
          <p:nvPr/>
        </p:nvSpPr>
        <p:spPr bwMode="auto">
          <a:xfrm>
            <a:off x="4121489" y="4280556"/>
            <a:ext cx="2824480" cy="208279"/>
          </a:xfrm>
          <a:prstGeom prst="rect">
            <a:avLst/>
          </a:prstGeom>
        </p:spPr>
        <p:txBody>
          <a:bodyPr vert="horz" wrap="square" lIns="0" tIns="12700" rIns="0" bIns="0" rtlCol="0">
            <a:spAutoFit/>
          </a:bodyPr>
          <a:lstStyle/>
          <a:p>
            <a:pPr marL="12700">
              <a:lnSpc>
                <a:spcPct val="100000"/>
              </a:lnSpc>
              <a:spcBef>
                <a:spcPts val="100"/>
              </a:spcBef>
              <a:defRPr/>
            </a:pPr>
            <a:r>
              <a:rPr sz="1200" i="1">
                <a:latin typeface="Calibri"/>
                <a:cs typeface="Calibri"/>
              </a:rPr>
              <a:t>A.</a:t>
            </a:r>
            <a:r>
              <a:rPr sz="1200" i="1" spc="-30">
                <a:latin typeface="Calibri"/>
                <a:cs typeface="Calibri"/>
              </a:rPr>
              <a:t> </a:t>
            </a:r>
            <a:r>
              <a:rPr sz="1200" i="1">
                <a:latin typeface="Calibri"/>
                <a:cs typeface="Calibri"/>
              </a:rPr>
              <a:t>Object</a:t>
            </a:r>
            <a:r>
              <a:rPr sz="1200" i="1" spc="-25">
                <a:latin typeface="Calibri"/>
                <a:cs typeface="Calibri"/>
              </a:rPr>
              <a:t> </a:t>
            </a:r>
            <a:r>
              <a:rPr sz="1200" i="1">
                <a:latin typeface="Calibri"/>
                <a:cs typeface="Calibri"/>
              </a:rPr>
              <a:t>Detection</a:t>
            </a:r>
            <a:r>
              <a:rPr sz="1200" i="1" spc="-25">
                <a:latin typeface="Calibri"/>
                <a:cs typeface="Calibri"/>
              </a:rPr>
              <a:t> </a:t>
            </a:r>
            <a:r>
              <a:rPr sz="1200" i="1">
                <a:latin typeface="Calibri"/>
                <a:cs typeface="Calibri"/>
              </a:rPr>
              <a:t>with</a:t>
            </a:r>
            <a:r>
              <a:rPr sz="1200" i="1" spc="-25">
                <a:latin typeface="Calibri"/>
                <a:cs typeface="Calibri"/>
              </a:rPr>
              <a:t> </a:t>
            </a:r>
            <a:r>
              <a:rPr sz="1200" i="1">
                <a:latin typeface="Calibri"/>
                <a:cs typeface="Calibri"/>
              </a:rPr>
              <a:t>YOLO</a:t>
            </a:r>
            <a:r>
              <a:rPr sz="1200" i="1" spc="-25">
                <a:latin typeface="Calibri"/>
                <a:cs typeface="Calibri"/>
              </a:rPr>
              <a:t> </a:t>
            </a:r>
            <a:r>
              <a:rPr sz="1200" i="1">
                <a:latin typeface="Calibri"/>
                <a:cs typeface="Calibri"/>
              </a:rPr>
              <a:t>for</a:t>
            </a:r>
            <a:r>
              <a:rPr sz="1200" i="1" spc="-25">
                <a:latin typeface="Calibri"/>
                <a:cs typeface="Calibri"/>
              </a:rPr>
              <a:t> </a:t>
            </a:r>
            <a:r>
              <a:rPr sz="1200" i="1">
                <a:latin typeface="Calibri"/>
                <a:cs typeface="Calibri"/>
              </a:rPr>
              <a:t>Food</a:t>
            </a:r>
            <a:r>
              <a:rPr sz="1200" i="1" spc="-25">
                <a:latin typeface="Calibri"/>
                <a:cs typeface="Calibri"/>
              </a:rPr>
              <a:t> </a:t>
            </a:r>
            <a:r>
              <a:rPr sz="1200" i="1" spc="-20">
                <a:latin typeface="Calibri"/>
                <a:cs typeface="Calibri"/>
              </a:rPr>
              <a:t>Items</a:t>
            </a:r>
            <a:endParaRPr sz="1200">
              <a:latin typeface="Calibri"/>
              <a:cs typeface="Calibri"/>
            </a:endParaRPr>
          </a:p>
        </p:txBody>
      </p:sp>
      <p:sp>
        <p:nvSpPr>
          <p:cNvPr id="746392184" name="object 13"/>
          <p:cNvSpPr txBox="1"/>
          <p:nvPr/>
        </p:nvSpPr>
        <p:spPr bwMode="auto">
          <a:xfrm>
            <a:off x="4121488" y="4593631"/>
            <a:ext cx="3396339" cy="2759002"/>
          </a:xfrm>
          <a:prstGeom prst="rect">
            <a:avLst/>
          </a:prstGeom>
        </p:spPr>
        <p:txBody>
          <a:bodyPr vert="horz" wrap="square" lIns="0" tIns="12700" rIns="0" bIns="0" rtlCol="0">
            <a:spAutoFit/>
          </a:bodyPr>
          <a:lstStyle/>
          <a:p>
            <a:pPr marL="12700" marR="5080" algn="just">
              <a:lnSpc>
                <a:spcPct val="117000"/>
              </a:lnSpc>
              <a:spcBef>
                <a:spcPts val="100"/>
              </a:spcBef>
              <a:defRPr/>
            </a:pPr>
            <a:r>
              <a:rPr sz="1100">
                <a:latin typeface="Calibri"/>
                <a:cs typeface="Calibri"/>
              </a:rPr>
              <a:t>Real</a:t>
            </a:r>
            <a:r>
              <a:rPr sz="1100" spc="-20">
                <a:latin typeface="Calibri"/>
                <a:cs typeface="Calibri"/>
              </a:rPr>
              <a:t> </a:t>
            </a:r>
            <a:r>
              <a:rPr sz="1100">
                <a:latin typeface="Calibri"/>
                <a:cs typeface="Calibri"/>
              </a:rPr>
              <a:t>meals</a:t>
            </a:r>
            <a:r>
              <a:rPr sz="1100" spc="-20">
                <a:latin typeface="Calibri"/>
                <a:cs typeface="Calibri"/>
              </a:rPr>
              <a:t> </a:t>
            </a:r>
            <a:r>
              <a:rPr sz="1100">
                <a:latin typeface="Calibri"/>
                <a:cs typeface="Calibri"/>
              </a:rPr>
              <a:t>typically</a:t>
            </a:r>
            <a:r>
              <a:rPr sz="1100" spc="-20">
                <a:latin typeface="Calibri"/>
                <a:cs typeface="Calibri"/>
              </a:rPr>
              <a:t> </a:t>
            </a:r>
            <a:r>
              <a:rPr sz="1100">
                <a:latin typeface="Calibri"/>
                <a:cs typeface="Calibri"/>
              </a:rPr>
              <a:t>contain</a:t>
            </a:r>
            <a:r>
              <a:rPr sz="1100" spc="-20">
                <a:latin typeface="Calibri"/>
                <a:cs typeface="Calibri"/>
              </a:rPr>
              <a:t> </a:t>
            </a:r>
            <a:r>
              <a:rPr sz="1100">
                <a:latin typeface="Calibri"/>
                <a:cs typeface="Calibri"/>
              </a:rPr>
              <a:t>multiple</a:t>
            </a:r>
            <a:r>
              <a:rPr sz="1100" spc="-15">
                <a:latin typeface="Calibri"/>
                <a:cs typeface="Calibri"/>
              </a:rPr>
              <a:t> </a:t>
            </a:r>
            <a:r>
              <a:rPr sz="1100">
                <a:latin typeface="Calibri"/>
                <a:cs typeface="Calibri"/>
              </a:rPr>
              <a:t>food</a:t>
            </a:r>
            <a:r>
              <a:rPr sz="1100" spc="-20">
                <a:latin typeface="Calibri"/>
                <a:cs typeface="Calibri"/>
              </a:rPr>
              <a:t> </a:t>
            </a:r>
            <a:r>
              <a:rPr sz="1100">
                <a:latin typeface="Calibri"/>
                <a:cs typeface="Calibri"/>
              </a:rPr>
              <a:t>items</a:t>
            </a:r>
            <a:r>
              <a:rPr sz="1100" spc="-20">
                <a:latin typeface="Calibri"/>
                <a:cs typeface="Calibri"/>
              </a:rPr>
              <a:t> </a:t>
            </a:r>
            <a:r>
              <a:rPr sz="1100">
                <a:latin typeface="Calibri"/>
                <a:cs typeface="Calibri"/>
              </a:rPr>
              <a:t>in</a:t>
            </a:r>
            <a:r>
              <a:rPr sz="1100" spc="-20">
                <a:latin typeface="Calibri"/>
                <a:cs typeface="Calibri"/>
              </a:rPr>
              <a:t> </a:t>
            </a:r>
            <a:r>
              <a:rPr sz="1100" spc="-25">
                <a:latin typeface="Calibri"/>
                <a:cs typeface="Calibri"/>
              </a:rPr>
              <a:t>one </a:t>
            </a:r>
            <a:r>
              <a:rPr sz="1100">
                <a:latin typeface="Calibri"/>
                <a:cs typeface="Calibri"/>
              </a:rPr>
              <a:t>frame,</a:t>
            </a:r>
            <a:r>
              <a:rPr sz="1100" spc="-30">
                <a:latin typeface="Calibri"/>
                <a:cs typeface="Calibri"/>
              </a:rPr>
              <a:t> </a:t>
            </a:r>
            <a:r>
              <a:rPr sz="1100">
                <a:latin typeface="Calibri"/>
                <a:cs typeface="Calibri"/>
              </a:rPr>
              <a:t>several</a:t>
            </a:r>
            <a:r>
              <a:rPr sz="1100" spc="-30">
                <a:latin typeface="Calibri"/>
                <a:cs typeface="Calibri"/>
              </a:rPr>
              <a:t> </a:t>
            </a:r>
            <a:r>
              <a:rPr sz="1100">
                <a:latin typeface="Calibri"/>
                <a:cs typeface="Calibri"/>
              </a:rPr>
              <a:t>systems</a:t>
            </a:r>
            <a:r>
              <a:rPr sz="1100" spc="-30">
                <a:latin typeface="Calibri"/>
                <a:cs typeface="Calibri"/>
              </a:rPr>
              <a:t> </a:t>
            </a:r>
            <a:r>
              <a:rPr sz="1100">
                <a:latin typeface="Calibri"/>
                <a:cs typeface="Calibri"/>
              </a:rPr>
              <a:t>have</a:t>
            </a:r>
            <a:r>
              <a:rPr sz="1100" spc="-30">
                <a:latin typeface="Calibri"/>
                <a:cs typeface="Calibri"/>
              </a:rPr>
              <a:t> </a:t>
            </a:r>
            <a:r>
              <a:rPr sz="1100">
                <a:latin typeface="Calibri"/>
                <a:cs typeface="Calibri"/>
              </a:rPr>
              <a:t>moved</a:t>
            </a:r>
            <a:r>
              <a:rPr sz="1100" spc="-30">
                <a:latin typeface="Calibri"/>
                <a:cs typeface="Calibri"/>
              </a:rPr>
              <a:t> </a:t>
            </a:r>
            <a:r>
              <a:rPr sz="1100">
                <a:latin typeface="Calibri"/>
                <a:cs typeface="Calibri"/>
              </a:rPr>
              <a:t>from</a:t>
            </a:r>
            <a:r>
              <a:rPr sz="1100" spc="-30">
                <a:latin typeface="Calibri"/>
                <a:cs typeface="Calibri"/>
              </a:rPr>
              <a:t> </a:t>
            </a:r>
            <a:r>
              <a:rPr sz="1100" spc="-10">
                <a:latin typeface="Calibri"/>
                <a:cs typeface="Calibri"/>
              </a:rPr>
              <a:t>single-label </a:t>
            </a:r>
            <a:r>
              <a:rPr sz="1100">
                <a:latin typeface="Calibri"/>
                <a:cs typeface="Calibri"/>
              </a:rPr>
              <a:t>classification</a:t>
            </a:r>
            <a:r>
              <a:rPr sz="1100" spc="-25">
                <a:latin typeface="Calibri"/>
                <a:cs typeface="Calibri"/>
              </a:rPr>
              <a:t> </a:t>
            </a:r>
            <a:r>
              <a:rPr sz="1100">
                <a:latin typeface="Calibri"/>
                <a:cs typeface="Calibri"/>
              </a:rPr>
              <a:t>to</a:t>
            </a:r>
            <a:r>
              <a:rPr sz="1100" spc="-20">
                <a:latin typeface="Calibri"/>
                <a:cs typeface="Calibri"/>
              </a:rPr>
              <a:t> </a:t>
            </a:r>
            <a:r>
              <a:rPr sz="1100">
                <a:latin typeface="Calibri"/>
                <a:cs typeface="Calibri"/>
              </a:rPr>
              <a:t>object</a:t>
            </a:r>
            <a:r>
              <a:rPr sz="1100" spc="-20">
                <a:latin typeface="Calibri"/>
                <a:cs typeface="Calibri"/>
              </a:rPr>
              <a:t> </a:t>
            </a:r>
            <a:r>
              <a:rPr sz="1100">
                <a:latin typeface="Calibri"/>
                <a:cs typeface="Calibri"/>
              </a:rPr>
              <a:t>detection</a:t>
            </a:r>
            <a:r>
              <a:rPr sz="1100" spc="-20">
                <a:latin typeface="Calibri"/>
                <a:cs typeface="Calibri"/>
              </a:rPr>
              <a:t> </a:t>
            </a:r>
            <a:r>
              <a:rPr sz="1100">
                <a:latin typeface="Calibri"/>
                <a:cs typeface="Calibri"/>
              </a:rPr>
              <a:t>using</a:t>
            </a:r>
            <a:r>
              <a:rPr sz="1100" spc="-25">
                <a:latin typeface="Calibri"/>
                <a:cs typeface="Calibri"/>
              </a:rPr>
              <a:t> </a:t>
            </a:r>
            <a:r>
              <a:rPr sz="1100">
                <a:latin typeface="Calibri"/>
                <a:cs typeface="Calibri"/>
              </a:rPr>
              <a:t>the</a:t>
            </a:r>
            <a:r>
              <a:rPr sz="1100" spc="-20">
                <a:latin typeface="Calibri"/>
                <a:cs typeface="Calibri"/>
              </a:rPr>
              <a:t> </a:t>
            </a:r>
            <a:r>
              <a:rPr sz="1100">
                <a:latin typeface="Calibri"/>
                <a:cs typeface="Calibri"/>
              </a:rPr>
              <a:t>YOLO</a:t>
            </a:r>
            <a:r>
              <a:rPr sz="1100" spc="-20">
                <a:latin typeface="Calibri"/>
                <a:cs typeface="Calibri"/>
              </a:rPr>
              <a:t> </a:t>
            </a:r>
            <a:r>
              <a:rPr sz="1100" spc="-10">
                <a:latin typeface="Calibri"/>
                <a:cs typeface="Calibri"/>
              </a:rPr>
              <a:t>family, </a:t>
            </a:r>
            <a:r>
              <a:rPr sz="1100">
                <a:latin typeface="Calibri"/>
                <a:cs typeface="Calibri"/>
              </a:rPr>
              <a:t>which</a:t>
            </a:r>
            <a:r>
              <a:rPr sz="1100" spc="-20">
                <a:latin typeface="Calibri"/>
                <a:cs typeface="Calibri"/>
              </a:rPr>
              <a:t> </a:t>
            </a:r>
            <a:r>
              <a:rPr sz="1100">
                <a:latin typeface="Calibri"/>
                <a:cs typeface="Calibri"/>
              </a:rPr>
              <a:t>localises</a:t>
            </a:r>
            <a:r>
              <a:rPr sz="1100" spc="-20">
                <a:latin typeface="Calibri"/>
                <a:cs typeface="Calibri"/>
              </a:rPr>
              <a:t> </a:t>
            </a:r>
            <a:r>
              <a:rPr sz="1100">
                <a:latin typeface="Calibri"/>
                <a:cs typeface="Calibri"/>
              </a:rPr>
              <a:t>and</a:t>
            </a:r>
            <a:r>
              <a:rPr sz="1100" spc="-15">
                <a:latin typeface="Calibri"/>
                <a:cs typeface="Calibri"/>
              </a:rPr>
              <a:t> </a:t>
            </a:r>
            <a:r>
              <a:rPr sz="1100">
                <a:latin typeface="Calibri"/>
                <a:cs typeface="Calibri"/>
              </a:rPr>
              <a:t>classifies</a:t>
            </a:r>
            <a:r>
              <a:rPr sz="1100" spc="-20">
                <a:latin typeface="Calibri"/>
                <a:cs typeface="Calibri"/>
              </a:rPr>
              <a:t> </a:t>
            </a:r>
            <a:r>
              <a:rPr sz="1100">
                <a:latin typeface="Calibri"/>
                <a:cs typeface="Calibri"/>
              </a:rPr>
              <a:t>each</a:t>
            </a:r>
            <a:r>
              <a:rPr sz="1100" spc="-20">
                <a:latin typeface="Calibri"/>
                <a:cs typeface="Calibri"/>
              </a:rPr>
              <a:t> </a:t>
            </a:r>
            <a:r>
              <a:rPr sz="1100">
                <a:latin typeface="Calibri"/>
                <a:cs typeface="Calibri"/>
              </a:rPr>
              <a:t>item</a:t>
            </a:r>
            <a:r>
              <a:rPr sz="1100" spc="-15">
                <a:latin typeface="Calibri"/>
                <a:cs typeface="Calibri"/>
              </a:rPr>
              <a:t> </a:t>
            </a:r>
            <a:r>
              <a:rPr sz="1100">
                <a:latin typeface="Calibri"/>
                <a:cs typeface="Calibri"/>
              </a:rPr>
              <a:t>in</a:t>
            </a:r>
            <a:r>
              <a:rPr sz="1100" spc="-20">
                <a:latin typeface="Calibri"/>
                <a:cs typeface="Calibri"/>
              </a:rPr>
              <a:t> </a:t>
            </a:r>
            <a:r>
              <a:rPr sz="1100">
                <a:latin typeface="Calibri"/>
                <a:cs typeface="Calibri"/>
              </a:rPr>
              <a:t>a</a:t>
            </a:r>
            <a:r>
              <a:rPr sz="1100" spc="-20">
                <a:latin typeface="Calibri"/>
                <a:cs typeface="Calibri"/>
              </a:rPr>
              <a:t> </a:t>
            </a:r>
            <a:r>
              <a:rPr sz="1100">
                <a:latin typeface="Calibri"/>
                <a:cs typeface="Calibri"/>
              </a:rPr>
              <a:t>single</a:t>
            </a:r>
            <a:r>
              <a:rPr sz="1100" spc="-15">
                <a:latin typeface="Calibri"/>
                <a:cs typeface="Calibri"/>
              </a:rPr>
              <a:t> </a:t>
            </a:r>
            <a:r>
              <a:rPr sz="1100" spc="-10">
                <a:latin typeface="Calibri"/>
                <a:cs typeface="Calibri"/>
              </a:rPr>
              <a:t>pass. </a:t>
            </a:r>
            <a:r>
              <a:rPr sz="1100">
                <a:latin typeface="Calibri"/>
                <a:cs typeface="Calibri"/>
              </a:rPr>
              <a:t>YOLO</a:t>
            </a:r>
            <a:r>
              <a:rPr sz="1100" spc="-20">
                <a:latin typeface="Calibri"/>
                <a:cs typeface="Calibri"/>
              </a:rPr>
              <a:t> </a:t>
            </a:r>
            <a:r>
              <a:rPr sz="1100" spc="-10">
                <a:latin typeface="Calibri"/>
                <a:cs typeface="Calibri"/>
              </a:rPr>
              <a:t>11-</a:t>
            </a:r>
            <a:r>
              <a:rPr sz="1100">
                <a:latin typeface="Calibri"/>
                <a:cs typeface="Calibri"/>
              </a:rPr>
              <a:t>based</a:t>
            </a:r>
            <a:r>
              <a:rPr sz="1100" spc="-15">
                <a:latin typeface="Calibri"/>
                <a:cs typeface="Calibri"/>
              </a:rPr>
              <a:t> </a:t>
            </a:r>
            <a:r>
              <a:rPr sz="1100">
                <a:latin typeface="Calibri"/>
                <a:cs typeface="Calibri"/>
              </a:rPr>
              <a:t>systems</a:t>
            </a:r>
            <a:r>
              <a:rPr sz="1100" spc="-15">
                <a:latin typeface="Calibri"/>
                <a:cs typeface="Calibri"/>
              </a:rPr>
              <a:t> </a:t>
            </a:r>
            <a:r>
              <a:rPr sz="1100">
                <a:latin typeface="Calibri"/>
                <a:cs typeface="Calibri"/>
              </a:rPr>
              <a:t>have</a:t>
            </a:r>
            <a:r>
              <a:rPr sz="1100" spc="-15">
                <a:latin typeface="Calibri"/>
                <a:cs typeface="Calibri"/>
              </a:rPr>
              <a:t> </a:t>
            </a:r>
            <a:r>
              <a:rPr sz="1100">
                <a:latin typeface="Calibri"/>
                <a:cs typeface="Calibri"/>
              </a:rPr>
              <a:t>been</a:t>
            </a:r>
            <a:r>
              <a:rPr sz="1100" spc="-15">
                <a:latin typeface="Calibri"/>
                <a:cs typeface="Calibri"/>
              </a:rPr>
              <a:t> </a:t>
            </a:r>
            <a:r>
              <a:rPr sz="1100">
                <a:latin typeface="Calibri"/>
                <a:cs typeface="Calibri"/>
              </a:rPr>
              <a:t>used</a:t>
            </a:r>
            <a:r>
              <a:rPr sz="1100" spc="-20">
                <a:latin typeface="Calibri"/>
                <a:cs typeface="Calibri"/>
              </a:rPr>
              <a:t> </a:t>
            </a:r>
            <a:r>
              <a:rPr sz="1100">
                <a:latin typeface="Calibri"/>
                <a:cs typeface="Calibri"/>
              </a:rPr>
              <a:t>to</a:t>
            </a:r>
            <a:r>
              <a:rPr sz="1100" spc="-15">
                <a:latin typeface="Calibri"/>
                <a:cs typeface="Calibri"/>
              </a:rPr>
              <a:t> </a:t>
            </a:r>
            <a:r>
              <a:rPr sz="1100">
                <a:latin typeface="Calibri"/>
                <a:cs typeface="Calibri"/>
              </a:rPr>
              <a:t>detect</a:t>
            </a:r>
            <a:r>
              <a:rPr sz="1100" spc="-15">
                <a:latin typeface="Calibri"/>
                <a:cs typeface="Calibri"/>
              </a:rPr>
              <a:t> </a:t>
            </a:r>
            <a:r>
              <a:rPr sz="1100" spc="-20">
                <a:latin typeface="Calibri"/>
                <a:cs typeface="Calibri"/>
              </a:rPr>
              <a:t>food </a:t>
            </a:r>
            <a:r>
              <a:rPr sz="1100">
                <a:latin typeface="Calibri"/>
                <a:cs typeface="Calibri"/>
              </a:rPr>
              <a:t>items</a:t>
            </a:r>
            <a:r>
              <a:rPr sz="1100" spc="-20">
                <a:latin typeface="Calibri"/>
                <a:cs typeface="Calibri"/>
              </a:rPr>
              <a:t> </a:t>
            </a:r>
            <a:r>
              <a:rPr sz="1100">
                <a:latin typeface="Calibri"/>
                <a:cs typeface="Calibri"/>
              </a:rPr>
              <a:t>and</a:t>
            </a:r>
            <a:r>
              <a:rPr sz="1100" spc="-15">
                <a:latin typeface="Calibri"/>
                <a:cs typeface="Calibri"/>
              </a:rPr>
              <a:t> </a:t>
            </a:r>
            <a:r>
              <a:rPr sz="1100">
                <a:latin typeface="Calibri"/>
                <a:cs typeface="Calibri"/>
              </a:rPr>
              <a:t>estimate</a:t>
            </a:r>
            <a:r>
              <a:rPr sz="1100" spc="-20">
                <a:latin typeface="Calibri"/>
                <a:cs typeface="Calibri"/>
              </a:rPr>
              <a:t> </a:t>
            </a:r>
            <a:r>
              <a:rPr sz="1100">
                <a:latin typeface="Calibri"/>
                <a:cs typeface="Calibri"/>
              </a:rPr>
              <a:t>calories</a:t>
            </a:r>
            <a:r>
              <a:rPr sz="1100" spc="-15">
                <a:latin typeface="Calibri"/>
                <a:cs typeface="Calibri"/>
              </a:rPr>
              <a:t> </a:t>
            </a:r>
            <a:r>
              <a:rPr sz="1100">
                <a:latin typeface="Calibri"/>
                <a:cs typeface="Calibri"/>
              </a:rPr>
              <a:t>in</a:t>
            </a:r>
            <a:r>
              <a:rPr sz="1100" spc="-15">
                <a:latin typeface="Calibri"/>
                <a:cs typeface="Calibri"/>
              </a:rPr>
              <a:t> </a:t>
            </a:r>
            <a:r>
              <a:rPr sz="1100">
                <a:latin typeface="Calibri"/>
                <a:cs typeface="Calibri"/>
              </a:rPr>
              <a:t>real</a:t>
            </a:r>
            <a:r>
              <a:rPr sz="1100" spc="-20">
                <a:latin typeface="Calibri"/>
                <a:cs typeface="Calibri"/>
              </a:rPr>
              <a:t> </a:t>
            </a:r>
            <a:r>
              <a:rPr sz="1100">
                <a:latin typeface="Calibri"/>
                <a:cs typeface="Calibri"/>
              </a:rPr>
              <a:t>time</a:t>
            </a:r>
            <a:r>
              <a:rPr sz="1100" spc="-15">
                <a:latin typeface="Calibri"/>
                <a:cs typeface="Calibri"/>
              </a:rPr>
              <a:t> </a:t>
            </a:r>
            <a:r>
              <a:rPr sz="1100">
                <a:latin typeface="Calibri"/>
                <a:cs typeface="Calibri"/>
              </a:rPr>
              <a:t>from</a:t>
            </a:r>
            <a:r>
              <a:rPr sz="1100" spc="-15">
                <a:latin typeface="Calibri"/>
                <a:cs typeface="Calibri"/>
              </a:rPr>
              <a:t> </a:t>
            </a:r>
            <a:r>
              <a:rPr sz="1100">
                <a:latin typeface="Calibri"/>
                <a:cs typeface="Calibri"/>
              </a:rPr>
              <a:t>a</a:t>
            </a:r>
            <a:r>
              <a:rPr sz="1100" spc="-20">
                <a:latin typeface="Calibri"/>
                <a:cs typeface="Calibri"/>
              </a:rPr>
              <a:t> </a:t>
            </a:r>
            <a:r>
              <a:rPr sz="1100">
                <a:latin typeface="Calibri"/>
                <a:cs typeface="Calibri"/>
              </a:rPr>
              <a:t>single</a:t>
            </a:r>
            <a:r>
              <a:rPr sz="1100" spc="-15">
                <a:latin typeface="Calibri"/>
                <a:cs typeface="Calibri"/>
              </a:rPr>
              <a:t> </a:t>
            </a:r>
            <a:r>
              <a:rPr sz="1100" spc="-10">
                <a:latin typeface="Calibri"/>
                <a:cs typeface="Calibri"/>
              </a:rPr>
              <a:t>photo </a:t>
            </a:r>
            <a:r>
              <a:rPr sz="1100">
                <a:latin typeface="Calibri"/>
                <a:cs typeface="Calibri"/>
              </a:rPr>
              <a:t>[6],</a:t>
            </a:r>
            <a:r>
              <a:rPr sz="1100" spc="-25">
                <a:latin typeface="Calibri"/>
                <a:cs typeface="Calibri"/>
              </a:rPr>
              <a:t> </a:t>
            </a:r>
            <a:r>
              <a:rPr sz="1100">
                <a:latin typeface="Calibri"/>
                <a:cs typeface="Calibri"/>
              </a:rPr>
              <a:t>and</a:t>
            </a:r>
            <a:r>
              <a:rPr sz="1100" spc="-20">
                <a:latin typeface="Calibri"/>
                <a:cs typeface="Calibri"/>
              </a:rPr>
              <a:t> </a:t>
            </a:r>
            <a:r>
              <a:rPr sz="1100">
                <a:latin typeface="Calibri"/>
                <a:cs typeface="Calibri"/>
              </a:rPr>
              <a:t>similar</a:t>
            </a:r>
            <a:r>
              <a:rPr sz="1100" spc="-25">
                <a:latin typeface="Calibri"/>
                <a:cs typeface="Calibri"/>
              </a:rPr>
              <a:t> </a:t>
            </a:r>
            <a:r>
              <a:rPr sz="1100" spc="-10">
                <a:latin typeface="Calibri"/>
                <a:cs typeface="Calibri"/>
              </a:rPr>
              <a:t>YOLO-</a:t>
            </a:r>
            <a:r>
              <a:rPr sz="1100">
                <a:latin typeface="Calibri"/>
                <a:cs typeface="Calibri"/>
              </a:rPr>
              <a:t>based</a:t>
            </a:r>
            <a:r>
              <a:rPr sz="1100" spc="-20">
                <a:latin typeface="Calibri"/>
                <a:cs typeface="Calibri"/>
              </a:rPr>
              <a:t> </a:t>
            </a:r>
            <a:r>
              <a:rPr sz="1100">
                <a:latin typeface="Calibri"/>
                <a:cs typeface="Calibri"/>
              </a:rPr>
              <a:t>pipelines</a:t>
            </a:r>
            <a:r>
              <a:rPr sz="1100" spc="-25">
                <a:latin typeface="Calibri"/>
                <a:cs typeface="Calibri"/>
              </a:rPr>
              <a:t> </a:t>
            </a:r>
            <a:r>
              <a:rPr sz="1100">
                <a:latin typeface="Calibri"/>
                <a:cs typeface="Calibri"/>
              </a:rPr>
              <a:t>have</a:t>
            </a:r>
            <a:r>
              <a:rPr sz="1100" spc="-20">
                <a:latin typeface="Calibri"/>
                <a:cs typeface="Calibri"/>
              </a:rPr>
              <a:t> </a:t>
            </a:r>
            <a:r>
              <a:rPr sz="1100">
                <a:latin typeface="Calibri"/>
                <a:cs typeface="Calibri"/>
              </a:rPr>
              <a:t>been</a:t>
            </a:r>
            <a:r>
              <a:rPr sz="1100" spc="-25">
                <a:latin typeface="Calibri"/>
                <a:cs typeface="Calibri"/>
              </a:rPr>
              <a:t> </a:t>
            </a:r>
            <a:r>
              <a:rPr sz="1100" spc="-10">
                <a:latin typeface="Calibri"/>
                <a:cs typeface="Calibri"/>
              </a:rPr>
              <a:t>built </a:t>
            </a:r>
            <a:r>
              <a:rPr sz="1100">
                <a:latin typeface="Calibri"/>
                <a:cs typeface="Calibri"/>
              </a:rPr>
              <a:t>specifically</a:t>
            </a:r>
            <a:r>
              <a:rPr sz="1100" spc="-30">
                <a:latin typeface="Calibri"/>
                <a:cs typeface="Calibri"/>
              </a:rPr>
              <a:t> </a:t>
            </a:r>
            <a:r>
              <a:rPr sz="1100">
                <a:latin typeface="Calibri"/>
                <a:cs typeface="Calibri"/>
              </a:rPr>
              <a:t>to</a:t>
            </a:r>
            <a:r>
              <a:rPr sz="1100" spc="-25">
                <a:latin typeface="Calibri"/>
                <a:cs typeface="Calibri"/>
              </a:rPr>
              <a:t> </a:t>
            </a:r>
            <a:r>
              <a:rPr sz="1100">
                <a:latin typeface="Calibri"/>
                <a:cs typeface="Calibri"/>
              </a:rPr>
              <a:t>help</a:t>
            </a:r>
            <a:r>
              <a:rPr sz="1100" spc="-25">
                <a:latin typeface="Calibri"/>
                <a:cs typeface="Calibri"/>
              </a:rPr>
              <a:t> </a:t>
            </a:r>
            <a:r>
              <a:rPr sz="1100">
                <a:latin typeface="Calibri"/>
                <a:cs typeface="Calibri"/>
              </a:rPr>
              <a:t>users</a:t>
            </a:r>
            <a:r>
              <a:rPr sz="1100" spc="-25">
                <a:latin typeface="Calibri"/>
                <a:cs typeface="Calibri"/>
              </a:rPr>
              <a:t> </a:t>
            </a:r>
            <a:r>
              <a:rPr sz="1100">
                <a:latin typeface="Calibri"/>
                <a:cs typeface="Calibri"/>
              </a:rPr>
              <a:t>control</a:t>
            </a:r>
            <a:r>
              <a:rPr sz="1100" spc="-25">
                <a:latin typeface="Calibri"/>
                <a:cs typeface="Calibri"/>
              </a:rPr>
              <a:t> </a:t>
            </a:r>
            <a:r>
              <a:rPr sz="1100">
                <a:latin typeface="Calibri"/>
                <a:cs typeface="Calibri"/>
              </a:rPr>
              <a:t>calorie</a:t>
            </a:r>
            <a:r>
              <a:rPr sz="1100" spc="-25">
                <a:latin typeface="Calibri"/>
                <a:cs typeface="Calibri"/>
              </a:rPr>
              <a:t> </a:t>
            </a:r>
            <a:r>
              <a:rPr sz="1100">
                <a:latin typeface="Calibri"/>
                <a:cs typeface="Calibri"/>
              </a:rPr>
              <a:t>intake</a:t>
            </a:r>
            <a:r>
              <a:rPr sz="1100" spc="-25">
                <a:latin typeface="Calibri"/>
                <a:cs typeface="Calibri"/>
              </a:rPr>
              <a:t> by </a:t>
            </a:r>
            <a:r>
              <a:rPr sz="1100">
                <a:latin typeface="Calibri"/>
                <a:cs typeface="Calibri"/>
              </a:rPr>
              <a:t>multiplying</a:t>
            </a:r>
            <a:r>
              <a:rPr sz="1100" spc="-35">
                <a:latin typeface="Calibri"/>
                <a:cs typeface="Calibri"/>
              </a:rPr>
              <a:t> </a:t>
            </a:r>
            <a:r>
              <a:rPr sz="1100">
                <a:latin typeface="Calibri"/>
                <a:cs typeface="Calibri"/>
              </a:rPr>
              <a:t>a</a:t>
            </a:r>
            <a:r>
              <a:rPr sz="1100" spc="-20">
                <a:latin typeface="Calibri"/>
                <a:cs typeface="Calibri"/>
              </a:rPr>
              <a:t> </a:t>
            </a:r>
            <a:r>
              <a:rPr sz="1100">
                <a:latin typeface="Calibri"/>
                <a:cs typeface="Calibri"/>
              </a:rPr>
              <a:t>detected</a:t>
            </a:r>
            <a:r>
              <a:rPr sz="1100" spc="-20">
                <a:latin typeface="Calibri"/>
                <a:cs typeface="Calibri"/>
              </a:rPr>
              <a:t> </a:t>
            </a:r>
            <a:r>
              <a:rPr sz="1100">
                <a:latin typeface="Calibri"/>
                <a:cs typeface="Calibri"/>
              </a:rPr>
              <a:t>food's</a:t>
            </a:r>
            <a:r>
              <a:rPr sz="1100" spc="-25">
                <a:latin typeface="Calibri"/>
                <a:cs typeface="Calibri"/>
              </a:rPr>
              <a:t> </a:t>
            </a:r>
            <a:r>
              <a:rPr sz="1100" spc="-10">
                <a:latin typeface="Calibri"/>
                <a:cs typeface="Calibri"/>
              </a:rPr>
              <a:t>per-</a:t>
            </a:r>
            <a:r>
              <a:rPr sz="1100">
                <a:latin typeface="Calibri"/>
                <a:cs typeface="Calibri"/>
              </a:rPr>
              <a:t>portion</a:t>
            </a:r>
            <a:r>
              <a:rPr sz="1100" spc="-20">
                <a:latin typeface="Calibri"/>
                <a:cs typeface="Calibri"/>
              </a:rPr>
              <a:t> </a:t>
            </a:r>
            <a:r>
              <a:rPr sz="1100">
                <a:latin typeface="Calibri"/>
                <a:cs typeface="Calibri"/>
              </a:rPr>
              <a:t>calorie</a:t>
            </a:r>
            <a:r>
              <a:rPr sz="1100" spc="-20">
                <a:latin typeface="Calibri"/>
                <a:cs typeface="Calibri"/>
              </a:rPr>
              <a:t> </a:t>
            </a:r>
            <a:r>
              <a:rPr sz="1100">
                <a:latin typeface="Calibri"/>
                <a:cs typeface="Calibri"/>
              </a:rPr>
              <a:t>value</a:t>
            </a:r>
            <a:r>
              <a:rPr sz="1100" spc="-20">
                <a:latin typeface="Calibri"/>
                <a:cs typeface="Calibri"/>
              </a:rPr>
              <a:t> </a:t>
            </a:r>
            <a:r>
              <a:rPr sz="1100" spc="-35">
                <a:latin typeface="Calibri"/>
                <a:cs typeface="Calibri"/>
              </a:rPr>
              <a:t>by </a:t>
            </a:r>
            <a:r>
              <a:rPr sz="1100">
                <a:latin typeface="Calibri"/>
                <a:cs typeface="Calibri"/>
              </a:rPr>
              <a:t>the</a:t>
            </a:r>
            <a:r>
              <a:rPr sz="1100" spc="-15">
                <a:latin typeface="Calibri"/>
                <a:cs typeface="Calibri"/>
              </a:rPr>
              <a:t> </a:t>
            </a:r>
            <a:r>
              <a:rPr sz="1100">
                <a:latin typeface="Calibri"/>
                <a:cs typeface="Calibri"/>
              </a:rPr>
              <a:t>number</a:t>
            </a:r>
            <a:r>
              <a:rPr sz="1100" spc="-10">
                <a:latin typeface="Calibri"/>
                <a:cs typeface="Calibri"/>
              </a:rPr>
              <a:t> </a:t>
            </a:r>
            <a:r>
              <a:rPr sz="1100">
                <a:latin typeface="Calibri"/>
                <a:cs typeface="Calibri"/>
              </a:rPr>
              <a:t>of</a:t>
            </a:r>
            <a:r>
              <a:rPr sz="1100" spc="-15">
                <a:latin typeface="Calibri"/>
                <a:cs typeface="Calibri"/>
              </a:rPr>
              <a:t> </a:t>
            </a:r>
            <a:r>
              <a:rPr sz="1100">
                <a:latin typeface="Calibri"/>
                <a:cs typeface="Calibri"/>
              </a:rPr>
              <a:t>instances</a:t>
            </a:r>
            <a:r>
              <a:rPr sz="1100" spc="-10">
                <a:latin typeface="Calibri"/>
                <a:cs typeface="Calibri"/>
              </a:rPr>
              <a:t> </a:t>
            </a:r>
            <a:r>
              <a:rPr sz="1100">
                <a:latin typeface="Calibri"/>
                <a:cs typeface="Calibri"/>
              </a:rPr>
              <a:t>found</a:t>
            </a:r>
            <a:r>
              <a:rPr sz="1100" spc="-15">
                <a:latin typeface="Calibri"/>
                <a:cs typeface="Calibri"/>
              </a:rPr>
              <a:t> </a:t>
            </a:r>
            <a:r>
              <a:rPr sz="1100">
                <a:latin typeface="Calibri"/>
                <a:cs typeface="Calibri"/>
              </a:rPr>
              <a:t>in</a:t>
            </a:r>
            <a:r>
              <a:rPr sz="1100" spc="-10">
                <a:latin typeface="Calibri"/>
                <a:cs typeface="Calibri"/>
              </a:rPr>
              <a:t> </a:t>
            </a:r>
            <a:r>
              <a:rPr sz="1100">
                <a:latin typeface="Calibri"/>
                <a:cs typeface="Calibri"/>
              </a:rPr>
              <a:t>the</a:t>
            </a:r>
            <a:r>
              <a:rPr sz="1100" spc="-10">
                <a:latin typeface="Calibri"/>
                <a:cs typeface="Calibri"/>
              </a:rPr>
              <a:t> </a:t>
            </a:r>
            <a:r>
              <a:rPr sz="1100">
                <a:latin typeface="Calibri"/>
                <a:cs typeface="Calibri"/>
              </a:rPr>
              <a:t>image</a:t>
            </a:r>
            <a:r>
              <a:rPr sz="1100" spc="-15">
                <a:latin typeface="Calibri"/>
                <a:cs typeface="Calibri"/>
              </a:rPr>
              <a:t> </a:t>
            </a:r>
            <a:r>
              <a:rPr sz="1100" spc="-20">
                <a:latin typeface="Calibri"/>
                <a:cs typeface="Calibri"/>
              </a:rPr>
              <a:t>[7].</a:t>
            </a:r>
            <a:endParaRPr sz="1100">
              <a:latin typeface="Calibri"/>
              <a:cs typeface="Calibri"/>
            </a:endParaRPr>
          </a:p>
          <a:p>
            <a:pPr marL="12700" marR="27940" algn="just">
              <a:lnSpc>
                <a:spcPct val="117000"/>
              </a:lnSpc>
              <a:defRPr/>
            </a:pPr>
            <a:r>
              <a:rPr sz="1100">
                <a:latin typeface="Calibri"/>
                <a:cs typeface="Calibri"/>
              </a:rPr>
              <a:t>Comparative</a:t>
            </a:r>
            <a:r>
              <a:rPr sz="1100" spc="-25">
                <a:latin typeface="Calibri"/>
                <a:cs typeface="Calibri"/>
              </a:rPr>
              <a:t> </a:t>
            </a:r>
            <a:r>
              <a:rPr sz="1100">
                <a:latin typeface="Calibri"/>
                <a:cs typeface="Calibri"/>
              </a:rPr>
              <a:t>studies</a:t>
            </a:r>
            <a:r>
              <a:rPr sz="1100" spc="-25">
                <a:latin typeface="Calibri"/>
                <a:cs typeface="Calibri"/>
              </a:rPr>
              <a:t> </a:t>
            </a:r>
            <a:r>
              <a:rPr sz="1100">
                <a:latin typeface="Calibri"/>
                <a:cs typeface="Calibri"/>
              </a:rPr>
              <a:t>of</a:t>
            </a:r>
            <a:r>
              <a:rPr sz="1100" spc="-25">
                <a:latin typeface="Calibri"/>
                <a:cs typeface="Calibri"/>
              </a:rPr>
              <a:t> </a:t>
            </a:r>
            <a:r>
              <a:rPr sz="1100">
                <a:latin typeface="Calibri"/>
                <a:cs typeface="Calibri"/>
              </a:rPr>
              <a:t>YOLO</a:t>
            </a:r>
            <a:r>
              <a:rPr sz="1100" spc="-25">
                <a:latin typeface="Calibri"/>
                <a:cs typeface="Calibri"/>
              </a:rPr>
              <a:t> </a:t>
            </a:r>
            <a:r>
              <a:rPr sz="1100">
                <a:latin typeface="Calibri"/>
                <a:cs typeface="Calibri"/>
              </a:rPr>
              <a:t>variants</a:t>
            </a:r>
            <a:r>
              <a:rPr sz="1100" spc="-20">
                <a:latin typeface="Calibri"/>
                <a:cs typeface="Calibri"/>
              </a:rPr>
              <a:t> </a:t>
            </a:r>
            <a:r>
              <a:rPr sz="1100">
                <a:latin typeface="Calibri"/>
                <a:cs typeface="Calibri"/>
              </a:rPr>
              <a:t>(v5</a:t>
            </a:r>
            <a:r>
              <a:rPr sz="1100" spc="-25">
                <a:latin typeface="Calibri"/>
                <a:cs typeface="Calibri"/>
              </a:rPr>
              <a:t> </a:t>
            </a:r>
            <a:r>
              <a:rPr sz="1100">
                <a:latin typeface="Calibri"/>
                <a:cs typeface="Calibri"/>
              </a:rPr>
              <a:t>through</a:t>
            </a:r>
            <a:r>
              <a:rPr sz="1100" spc="-25">
                <a:latin typeface="Calibri"/>
                <a:cs typeface="Calibri"/>
              </a:rPr>
              <a:t> </a:t>
            </a:r>
            <a:r>
              <a:rPr sz="1100">
                <a:latin typeface="Calibri"/>
                <a:cs typeface="Calibri"/>
              </a:rPr>
              <a:t>v8)</a:t>
            </a:r>
            <a:r>
              <a:rPr sz="1100" spc="-25">
                <a:latin typeface="Calibri"/>
                <a:cs typeface="Calibri"/>
              </a:rPr>
              <a:t> for </a:t>
            </a:r>
            <a:r>
              <a:rPr sz="1100">
                <a:latin typeface="Calibri"/>
                <a:cs typeface="Calibri"/>
              </a:rPr>
              <a:t>food</a:t>
            </a:r>
            <a:r>
              <a:rPr sz="1100" spc="-35">
                <a:latin typeface="Calibri"/>
                <a:cs typeface="Calibri"/>
              </a:rPr>
              <a:t> </a:t>
            </a:r>
            <a:r>
              <a:rPr sz="1100">
                <a:latin typeface="Calibri"/>
                <a:cs typeface="Calibri"/>
              </a:rPr>
              <a:t>detection</a:t>
            </a:r>
            <a:r>
              <a:rPr sz="1100" spc="-30">
                <a:latin typeface="Calibri"/>
                <a:cs typeface="Calibri"/>
              </a:rPr>
              <a:t> </a:t>
            </a:r>
            <a:r>
              <a:rPr sz="1100">
                <a:latin typeface="Calibri"/>
                <a:cs typeface="Calibri"/>
              </a:rPr>
              <a:t>generally</a:t>
            </a:r>
            <a:r>
              <a:rPr sz="1100" spc="-30">
                <a:latin typeface="Calibri"/>
                <a:cs typeface="Calibri"/>
              </a:rPr>
              <a:t> </a:t>
            </a:r>
            <a:r>
              <a:rPr sz="1100">
                <a:latin typeface="Calibri"/>
                <a:cs typeface="Calibri"/>
              </a:rPr>
              <a:t>report</a:t>
            </a:r>
            <a:r>
              <a:rPr sz="1100" spc="-30">
                <a:latin typeface="Calibri"/>
                <a:cs typeface="Calibri"/>
              </a:rPr>
              <a:t> </a:t>
            </a:r>
            <a:r>
              <a:rPr sz="1100">
                <a:latin typeface="Calibri"/>
                <a:cs typeface="Calibri"/>
              </a:rPr>
              <a:t>that</a:t>
            </a:r>
            <a:r>
              <a:rPr sz="1100" spc="-30">
                <a:latin typeface="Calibri"/>
                <a:cs typeface="Calibri"/>
              </a:rPr>
              <a:t> </a:t>
            </a:r>
            <a:r>
              <a:rPr sz="1100">
                <a:latin typeface="Calibri"/>
                <a:cs typeface="Calibri"/>
              </a:rPr>
              <a:t>newer</a:t>
            </a:r>
            <a:r>
              <a:rPr sz="1100" spc="-30">
                <a:latin typeface="Calibri"/>
                <a:cs typeface="Calibri"/>
              </a:rPr>
              <a:t> </a:t>
            </a:r>
            <a:r>
              <a:rPr sz="1100">
                <a:latin typeface="Calibri"/>
                <a:cs typeface="Calibri"/>
              </a:rPr>
              <a:t>versions</a:t>
            </a:r>
            <a:r>
              <a:rPr sz="1100" spc="-30">
                <a:latin typeface="Calibri"/>
                <a:cs typeface="Calibri"/>
              </a:rPr>
              <a:t> </a:t>
            </a:r>
            <a:r>
              <a:rPr sz="1100">
                <a:latin typeface="Calibri"/>
                <a:cs typeface="Calibri"/>
              </a:rPr>
              <a:t>offer</a:t>
            </a:r>
            <a:r>
              <a:rPr sz="1100" spc="-30">
                <a:latin typeface="Calibri"/>
                <a:cs typeface="Calibri"/>
              </a:rPr>
              <a:t> </a:t>
            </a:r>
            <a:r>
              <a:rPr sz="1100" spc="-50">
                <a:latin typeface="Calibri"/>
                <a:cs typeface="Calibri"/>
              </a:rPr>
              <a:t>a</a:t>
            </a:r>
            <a:r>
              <a:rPr sz="1100">
                <a:latin typeface="Calibri"/>
                <a:cs typeface="Calibri"/>
              </a:rPr>
              <a:t> better</a:t>
            </a:r>
            <a:r>
              <a:rPr sz="1100" spc="-5">
                <a:latin typeface="Calibri"/>
                <a:cs typeface="Calibri"/>
              </a:rPr>
              <a:t> </a:t>
            </a:r>
            <a:r>
              <a:rPr sz="1100" spc="-10">
                <a:latin typeface="Calibri"/>
                <a:cs typeface="Calibri"/>
              </a:rPr>
              <a:t>accuracy–</a:t>
            </a:r>
            <a:r>
              <a:rPr sz="1100">
                <a:latin typeface="Calibri"/>
                <a:cs typeface="Calibri"/>
              </a:rPr>
              <a:t>speed </a:t>
            </a:r>
            <a:r>
              <a:rPr sz="1100" spc="-10">
                <a:latin typeface="Calibri"/>
                <a:cs typeface="Calibri"/>
              </a:rPr>
              <a:t>trade-</a:t>
            </a:r>
            <a:r>
              <a:rPr sz="1100">
                <a:latin typeface="Calibri"/>
                <a:cs typeface="Calibri"/>
              </a:rPr>
              <a:t>off for </a:t>
            </a:r>
            <a:r>
              <a:rPr sz="1100" spc="-10">
                <a:latin typeface="Calibri"/>
                <a:cs typeface="Calibri"/>
              </a:rPr>
              <a:t>real-</a:t>
            </a:r>
            <a:r>
              <a:rPr sz="1100">
                <a:latin typeface="Calibri"/>
                <a:cs typeface="Calibri"/>
              </a:rPr>
              <a:t>time, </a:t>
            </a:r>
            <a:r>
              <a:rPr sz="1100" spc="-10">
                <a:latin typeface="Calibri"/>
                <a:cs typeface="Calibri"/>
              </a:rPr>
              <a:t>on-device </a:t>
            </a:r>
            <a:r>
              <a:rPr sz="1100">
                <a:latin typeface="Calibri"/>
                <a:cs typeface="Calibri"/>
              </a:rPr>
              <a:t>use</a:t>
            </a:r>
            <a:r>
              <a:rPr sz="1100" spc="-10">
                <a:latin typeface="Calibri"/>
                <a:cs typeface="Calibri"/>
              </a:rPr>
              <a:t> </a:t>
            </a:r>
            <a:r>
              <a:rPr sz="1100" spc="-20">
                <a:latin typeface="Calibri"/>
                <a:cs typeface="Calibri"/>
              </a:rPr>
              <a:t>[8].</a:t>
            </a:r>
            <a:endParaRPr sz="1100">
              <a:latin typeface="Calibri"/>
              <a:cs typeface="Calibri"/>
            </a:endParaRPr>
          </a:p>
        </p:txBody>
      </p:sp>
      <p:sp>
        <p:nvSpPr>
          <p:cNvPr id="910618286" name="object 14"/>
          <p:cNvSpPr txBox="1"/>
          <p:nvPr/>
        </p:nvSpPr>
        <p:spPr bwMode="auto">
          <a:xfrm>
            <a:off x="4121488" y="7494064"/>
            <a:ext cx="2823930" cy="195939"/>
          </a:xfrm>
          <a:prstGeom prst="rect">
            <a:avLst/>
          </a:prstGeom>
        </p:spPr>
        <p:txBody>
          <a:bodyPr vert="horz" wrap="square" lIns="0" tIns="12700" rIns="0" bIns="0" rtlCol="0">
            <a:spAutoFit/>
          </a:bodyPr>
          <a:lstStyle/>
          <a:p>
            <a:pPr marL="12700">
              <a:lnSpc>
                <a:spcPct val="100000"/>
              </a:lnSpc>
              <a:spcBef>
                <a:spcPts val="100"/>
              </a:spcBef>
              <a:defRPr/>
            </a:pPr>
            <a:r>
              <a:rPr lang="en-IN" sz="1200" i="1">
                <a:latin typeface="Calibri"/>
                <a:cs typeface="Calibri"/>
              </a:rPr>
              <a:t>B</a:t>
            </a:r>
            <a:r>
              <a:rPr sz="1200" i="1">
                <a:latin typeface="Calibri"/>
                <a:cs typeface="Calibri"/>
              </a:rPr>
              <a:t>.</a:t>
            </a:r>
            <a:r>
              <a:rPr sz="1200" i="1" spc="-25">
                <a:latin typeface="Calibri"/>
                <a:cs typeface="Calibri"/>
              </a:rPr>
              <a:t> </a:t>
            </a:r>
            <a:r>
              <a:rPr sz="1200" i="1">
                <a:latin typeface="Calibri"/>
                <a:cs typeface="Calibri"/>
              </a:rPr>
              <a:t>Region-</a:t>
            </a:r>
            <a:r>
              <a:rPr sz="1200" i="1" spc="-25">
                <a:latin typeface="Calibri"/>
                <a:cs typeface="Calibri"/>
              </a:rPr>
              <a:t> </a:t>
            </a:r>
            <a:r>
              <a:rPr sz="1200" i="1">
                <a:latin typeface="Calibri"/>
                <a:cs typeface="Calibri"/>
              </a:rPr>
              <a:t>and</a:t>
            </a:r>
            <a:r>
              <a:rPr sz="1200" i="1" spc="-20">
                <a:latin typeface="Calibri"/>
                <a:cs typeface="Calibri"/>
              </a:rPr>
              <a:t> </a:t>
            </a:r>
            <a:r>
              <a:rPr sz="1200" i="1">
                <a:latin typeface="Calibri"/>
                <a:cs typeface="Calibri"/>
              </a:rPr>
              <a:t>Cuisine</a:t>
            </a:r>
            <a:r>
              <a:rPr sz="1200" i="1" spc="-25">
                <a:latin typeface="Calibri"/>
                <a:cs typeface="Calibri"/>
              </a:rPr>
              <a:t> </a:t>
            </a:r>
            <a:r>
              <a:rPr sz="1200" i="1">
                <a:latin typeface="Calibri"/>
                <a:cs typeface="Calibri"/>
              </a:rPr>
              <a:t>Detection:</a:t>
            </a:r>
            <a:r>
              <a:rPr sz="1200" i="1" spc="-25">
                <a:latin typeface="Calibri"/>
                <a:cs typeface="Calibri"/>
              </a:rPr>
              <a:t> </a:t>
            </a:r>
            <a:r>
              <a:rPr sz="1200" i="1">
                <a:latin typeface="Calibri"/>
                <a:cs typeface="Calibri"/>
              </a:rPr>
              <a:t>Indian</a:t>
            </a:r>
            <a:r>
              <a:rPr sz="1200" i="1" spc="-20">
                <a:latin typeface="Calibri"/>
                <a:cs typeface="Calibri"/>
              </a:rPr>
              <a:t> Food</a:t>
            </a:r>
            <a:endParaRPr sz="1200">
              <a:latin typeface="Calibri"/>
              <a:cs typeface="Calibri"/>
            </a:endParaRPr>
          </a:p>
        </p:txBody>
      </p:sp>
      <p:sp>
        <p:nvSpPr>
          <p:cNvPr id="30710711" name="object 15"/>
          <p:cNvSpPr txBox="1"/>
          <p:nvPr/>
        </p:nvSpPr>
        <p:spPr bwMode="auto">
          <a:xfrm>
            <a:off x="4121488" y="7807141"/>
            <a:ext cx="3250289" cy="1582169"/>
          </a:xfrm>
          <a:prstGeom prst="rect">
            <a:avLst/>
          </a:prstGeom>
        </p:spPr>
        <p:txBody>
          <a:bodyPr vert="horz" wrap="square" lIns="0" tIns="12700" rIns="0" bIns="0" rtlCol="0">
            <a:spAutoFit/>
          </a:bodyPr>
          <a:lstStyle/>
          <a:p>
            <a:pPr marL="12700" marR="5080" indent="62865" algn="just">
              <a:lnSpc>
                <a:spcPct val="117000"/>
              </a:lnSpc>
              <a:spcBef>
                <a:spcPts val="100"/>
              </a:spcBef>
              <a:defRPr/>
            </a:pPr>
            <a:r>
              <a:rPr sz="1100">
                <a:latin typeface="Calibri"/>
                <a:cs typeface="Calibri"/>
              </a:rPr>
              <a:t>A</a:t>
            </a:r>
            <a:r>
              <a:rPr sz="1100" spc="-20">
                <a:latin typeface="Calibri"/>
                <a:cs typeface="Calibri"/>
              </a:rPr>
              <a:t> </a:t>
            </a:r>
            <a:r>
              <a:rPr sz="1100">
                <a:latin typeface="Calibri"/>
                <a:cs typeface="Calibri"/>
              </a:rPr>
              <a:t>dataset</a:t>
            </a:r>
            <a:r>
              <a:rPr sz="1100" spc="-15">
                <a:latin typeface="Calibri"/>
                <a:cs typeface="Calibri"/>
              </a:rPr>
              <a:t> </a:t>
            </a:r>
            <a:r>
              <a:rPr sz="1100">
                <a:latin typeface="Calibri"/>
                <a:cs typeface="Calibri"/>
              </a:rPr>
              <a:t>of</a:t>
            </a:r>
            <a:r>
              <a:rPr sz="1100" spc="215">
                <a:latin typeface="Calibri"/>
                <a:cs typeface="Calibri"/>
              </a:rPr>
              <a:t> </a:t>
            </a:r>
            <a:r>
              <a:rPr sz="1100">
                <a:latin typeface="Calibri"/>
                <a:cs typeface="Calibri"/>
              </a:rPr>
              <a:t>2434</a:t>
            </a:r>
            <a:r>
              <a:rPr sz="1100" spc="-20">
                <a:latin typeface="Calibri"/>
                <a:cs typeface="Calibri"/>
              </a:rPr>
              <a:t> </a:t>
            </a:r>
            <a:r>
              <a:rPr sz="1100">
                <a:latin typeface="Calibri"/>
                <a:cs typeface="Calibri"/>
              </a:rPr>
              <a:t>images</a:t>
            </a:r>
            <a:r>
              <a:rPr sz="1100" spc="-20">
                <a:latin typeface="Calibri"/>
                <a:cs typeface="Calibri"/>
              </a:rPr>
              <a:t> </a:t>
            </a:r>
            <a:r>
              <a:rPr sz="1100">
                <a:latin typeface="Calibri"/>
                <a:cs typeface="Calibri"/>
              </a:rPr>
              <a:t>across</a:t>
            </a:r>
            <a:r>
              <a:rPr sz="1100" spc="-15">
                <a:latin typeface="Calibri"/>
                <a:cs typeface="Calibri"/>
              </a:rPr>
              <a:t> </a:t>
            </a:r>
            <a:r>
              <a:rPr sz="1100">
                <a:latin typeface="Calibri"/>
                <a:cs typeface="Calibri"/>
              </a:rPr>
              <a:t>10</a:t>
            </a:r>
            <a:r>
              <a:rPr sz="1100" spc="-20">
                <a:latin typeface="Calibri"/>
                <a:cs typeface="Calibri"/>
              </a:rPr>
              <a:t> </a:t>
            </a:r>
            <a:r>
              <a:rPr sz="1100">
                <a:latin typeface="Calibri"/>
                <a:cs typeface="Calibri"/>
              </a:rPr>
              <a:t>Indian</a:t>
            </a:r>
            <a:r>
              <a:rPr sz="1100" spc="-15">
                <a:latin typeface="Calibri"/>
                <a:cs typeface="Calibri"/>
              </a:rPr>
              <a:t> </a:t>
            </a:r>
            <a:r>
              <a:rPr sz="1100">
                <a:latin typeface="Calibri"/>
                <a:cs typeface="Calibri"/>
              </a:rPr>
              <a:t>food</a:t>
            </a:r>
            <a:r>
              <a:rPr sz="1100" spc="-20">
                <a:latin typeface="Calibri"/>
                <a:cs typeface="Calibri"/>
              </a:rPr>
              <a:t> </a:t>
            </a:r>
            <a:r>
              <a:rPr sz="1100" spc="-10">
                <a:latin typeface="Calibri"/>
                <a:cs typeface="Calibri"/>
              </a:rPr>
              <a:t>classes </a:t>
            </a:r>
            <a:r>
              <a:rPr sz="1100">
                <a:latin typeface="Calibri"/>
                <a:cs typeface="Calibri"/>
              </a:rPr>
              <a:t>was</a:t>
            </a:r>
            <a:r>
              <a:rPr sz="1100" spc="-20">
                <a:latin typeface="Calibri"/>
                <a:cs typeface="Calibri"/>
              </a:rPr>
              <a:t> </a:t>
            </a:r>
            <a:r>
              <a:rPr sz="1100">
                <a:latin typeface="Calibri"/>
                <a:cs typeface="Calibri"/>
              </a:rPr>
              <a:t>built</a:t>
            </a:r>
            <a:r>
              <a:rPr sz="1100" spc="-15">
                <a:latin typeface="Calibri"/>
                <a:cs typeface="Calibri"/>
              </a:rPr>
              <a:t> </a:t>
            </a:r>
            <a:r>
              <a:rPr sz="1100">
                <a:latin typeface="Calibri"/>
                <a:cs typeface="Calibri"/>
              </a:rPr>
              <a:t>specifically</a:t>
            </a:r>
            <a:r>
              <a:rPr sz="1100" spc="-15">
                <a:latin typeface="Calibri"/>
                <a:cs typeface="Calibri"/>
              </a:rPr>
              <a:t> </a:t>
            </a:r>
            <a:r>
              <a:rPr sz="1100">
                <a:latin typeface="Calibri"/>
                <a:cs typeface="Calibri"/>
              </a:rPr>
              <a:t>to</a:t>
            </a:r>
            <a:r>
              <a:rPr sz="1100" spc="-20">
                <a:latin typeface="Calibri"/>
                <a:cs typeface="Calibri"/>
              </a:rPr>
              <a:t> </a:t>
            </a:r>
            <a:r>
              <a:rPr sz="1100">
                <a:latin typeface="Calibri"/>
                <a:cs typeface="Calibri"/>
              </a:rPr>
              <a:t>address</a:t>
            </a:r>
            <a:r>
              <a:rPr sz="1100" spc="-15">
                <a:latin typeface="Calibri"/>
                <a:cs typeface="Calibri"/>
              </a:rPr>
              <a:t> </a:t>
            </a:r>
            <a:r>
              <a:rPr sz="1100">
                <a:latin typeface="Calibri"/>
                <a:cs typeface="Calibri"/>
              </a:rPr>
              <a:t>this</a:t>
            </a:r>
            <a:r>
              <a:rPr sz="1100" spc="-15">
                <a:latin typeface="Calibri"/>
                <a:cs typeface="Calibri"/>
              </a:rPr>
              <a:t> </a:t>
            </a:r>
            <a:r>
              <a:rPr sz="1100">
                <a:latin typeface="Calibri"/>
                <a:cs typeface="Calibri"/>
              </a:rPr>
              <a:t>gap,</a:t>
            </a:r>
            <a:r>
              <a:rPr sz="1100" spc="-15">
                <a:latin typeface="Calibri"/>
                <a:cs typeface="Calibri"/>
              </a:rPr>
              <a:t> </a:t>
            </a:r>
            <a:r>
              <a:rPr sz="1100">
                <a:latin typeface="Calibri"/>
                <a:cs typeface="Calibri"/>
              </a:rPr>
              <a:t>and</a:t>
            </a:r>
            <a:r>
              <a:rPr sz="1100" spc="-20">
                <a:latin typeface="Calibri"/>
                <a:cs typeface="Calibri"/>
              </a:rPr>
              <a:t> </a:t>
            </a:r>
            <a:r>
              <a:rPr sz="1100">
                <a:latin typeface="Calibri"/>
                <a:cs typeface="Calibri"/>
              </a:rPr>
              <a:t>a</a:t>
            </a:r>
            <a:r>
              <a:rPr sz="1100" spc="-15">
                <a:latin typeface="Calibri"/>
                <a:cs typeface="Calibri"/>
              </a:rPr>
              <a:t> </a:t>
            </a:r>
            <a:r>
              <a:rPr sz="1100">
                <a:latin typeface="Calibri"/>
                <a:cs typeface="Calibri"/>
              </a:rPr>
              <a:t>model</a:t>
            </a:r>
            <a:r>
              <a:rPr sz="1100" spc="-15">
                <a:latin typeface="Calibri"/>
                <a:cs typeface="Calibri"/>
              </a:rPr>
              <a:t> </a:t>
            </a:r>
            <a:r>
              <a:rPr sz="1100" spc="-25">
                <a:latin typeface="Calibri"/>
                <a:cs typeface="Calibri"/>
              </a:rPr>
              <a:t>for </a:t>
            </a:r>
            <a:r>
              <a:rPr sz="1100">
                <a:latin typeface="Calibri"/>
                <a:cs typeface="Calibri"/>
              </a:rPr>
              <a:t>image</a:t>
            </a:r>
            <a:r>
              <a:rPr sz="1100" spc="-20">
                <a:latin typeface="Calibri"/>
                <a:cs typeface="Calibri"/>
              </a:rPr>
              <a:t> </a:t>
            </a:r>
            <a:r>
              <a:rPr sz="1100">
                <a:latin typeface="Calibri"/>
                <a:cs typeface="Calibri"/>
              </a:rPr>
              <a:t>recognition</a:t>
            </a:r>
            <a:r>
              <a:rPr sz="1100" spc="215">
                <a:latin typeface="Calibri"/>
                <a:cs typeface="Calibri"/>
              </a:rPr>
              <a:t> </a:t>
            </a:r>
            <a:r>
              <a:rPr sz="1100">
                <a:latin typeface="Calibri"/>
                <a:cs typeface="Calibri"/>
              </a:rPr>
              <a:t>using</a:t>
            </a:r>
            <a:r>
              <a:rPr sz="1100" spc="-15">
                <a:latin typeface="Calibri"/>
                <a:cs typeface="Calibri"/>
              </a:rPr>
              <a:t> </a:t>
            </a:r>
            <a:r>
              <a:rPr sz="1100">
                <a:latin typeface="Calibri"/>
                <a:cs typeface="Calibri"/>
              </a:rPr>
              <a:t>YOLO</a:t>
            </a:r>
            <a:r>
              <a:rPr sz="1100" spc="-15">
                <a:latin typeface="Calibri"/>
                <a:cs typeface="Calibri"/>
              </a:rPr>
              <a:t> </a:t>
            </a:r>
            <a:r>
              <a:rPr sz="1100">
                <a:latin typeface="Calibri"/>
                <a:cs typeface="Calibri"/>
              </a:rPr>
              <a:t>11</a:t>
            </a:r>
            <a:r>
              <a:rPr sz="1100" spc="-20">
                <a:latin typeface="Calibri"/>
                <a:cs typeface="Calibri"/>
              </a:rPr>
              <a:t> </a:t>
            </a:r>
            <a:r>
              <a:rPr sz="1100">
                <a:latin typeface="Calibri"/>
                <a:cs typeface="Calibri"/>
              </a:rPr>
              <a:t>on</a:t>
            </a:r>
            <a:r>
              <a:rPr sz="1100" spc="-15">
                <a:latin typeface="Calibri"/>
                <a:cs typeface="Calibri"/>
              </a:rPr>
              <a:t> </a:t>
            </a:r>
            <a:r>
              <a:rPr sz="1100">
                <a:latin typeface="Calibri"/>
                <a:cs typeface="Calibri"/>
              </a:rPr>
              <a:t>this</a:t>
            </a:r>
            <a:r>
              <a:rPr sz="1100" spc="-20">
                <a:latin typeface="Calibri"/>
                <a:cs typeface="Calibri"/>
              </a:rPr>
              <a:t> </a:t>
            </a:r>
            <a:r>
              <a:rPr sz="1100">
                <a:latin typeface="Calibri"/>
                <a:cs typeface="Calibri"/>
              </a:rPr>
              <a:t>dataset</a:t>
            </a:r>
            <a:r>
              <a:rPr sz="1100" spc="-15">
                <a:latin typeface="Calibri"/>
                <a:cs typeface="Calibri"/>
              </a:rPr>
              <a:t> </a:t>
            </a:r>
            <a:r>
              <a:rPr sz="1100" spc="-25">
                <a:latin typeface="Calibri"/>
                <a:cs typeface="Calibri"/>
              </a:rPr>
              <a:t>was </a:t>
            </a:r>
            <a:r>
              <a:rPr sz="1100">
                <a:latin typeface="Calibri"/>
                <a:cs typeface="Calibri"/>
              </a:rPr>
              <a:t>created,</a:t>
            </a:r>
            <a:r>
              <a:rPr sz="1100" spc="-25">
                <a:latin typeface="Calibri"/>
                <a:cs typeface="Calibri"/>
              </a:rPr>
              <a:t> </a:t>
            </a:r>
            <a:r>
              <a:rPr sz="1100">
                <a:latin typeface="Calibri"/>
                <a:cs typeface="Calibri"/>
              </a:rPr>
              <a:t>the</a:t>
            </a:r>
            <a:r>
              <a:rPr sz="1100" spc="-20">
                <a:latin typeface="Calibri"/>
                <a:cs typeface="Calibri"/>
              </a:rPr>
              <a:t> </a:t>
            </a:r>
            <a:r>
              <a:rPr sz="1100">
                <a:latin typeface="Calibri"/>
                <a:cs typeface="Calibri"/>
              </a:rPr>
              <a:t>model</a:t>
            </a:r>
            <a:r>
              <a:rPr sz="1100" spc="-20">
                <a:latin typeface="Calibri"/>
                <a:cs typeface="Calibri"/>
              </a:rPr>
              <a:t> </a:t>
            </a:r>
            <a:r>
              <a:rPr sz="1100">
                <a:latin typeface="Calibri"/>
                <a:cs typeface="Calibri"/>
              </a:rPr>
              <a:t>was</a:t>
            </a:r>
            <a:r>
              <a:rPr sz="1100" spc="-20">
                <a:latin typeface="Calibri"/>
                <a:cs typeface="Calibri"/>
              </a:rPr>
              <a:t> </a:t>
            </a:r>
            <a:r>
              <a:rPr sz="1100">
                <a:latin typeface="Calibri"/>
                <a:cs typeface="Calibri"/>
              </a:rPr>
              <a:t>successfull</a:t>
            </a:r>
            <a:r>
              <a:rPr sz="1100" spc="-20">
                <a:latin typeface="Calibri"/>
                <a:cs typeface="Calibri"/>
              </a:rPr>
              <a:t> </a:t>
            </a:r>
            <a:r>
              <a:rPr sz="1100">
                <a:latin typeface="Calibri"/>
                <a:cs typeface="Calibri"/>
              </a:rPr>
              <a:t>in</a:t>
            </a:r>
            <a:r>
              <a:rPr sz="1100" spc="-20">
                <a:latin typeface="Calibri"/>
                <a:cs typeface="Calibri"/>
              </a:rPr>
              <a:t> </a:t>
            </a:r>
            <a:r>
              <a:rPr sz="1100">
                <a:latin typeface="Calibri"/>
                <a:cs typeface="Calibri"/>
              </a:rPr>
              <a:t>detecting</a:t>
            </a:r>
            <a:r>
              <a:rPr sz="1100" spc="-20">
                <a:latin typeface="Calibri"/>
                <a:cs typeface="Calibri"/>
              </a:rPr>
              <a:t> </a:t>
            </a:r>
            <a:r>
              <a:rPr sz="1100">
                <a:latin typeface="Calibri"/>
                <a:cs typeface="Calibri"/>
              </a:rPr>
              <a:t>the</a:t>
            </a:r>
            <a:r>
              <a:rPr sz="1100" spc="-20">
                <a:latin typeface="Calibri"/>
                <a:cs typeface="Calibri"/>
              </a:rPr>
              <a:t> food </a:t>
            </a:r>
            <a:r>
              <a:rPr sz="1100">
                <a:latin typeface="Calibri"/>
                <a:cs typeface="Calibri"/>
              </a:rPr>
              <a:t>items</a:t>
            </a:r>
            <a:r>
              <a:rPr sz="1100" spc="-25">
                <a:latin typeface="Calibri"/>
                <a:cs typeface="Calibri"/>
              </a:rPr>
              <a:t> </a:t>
            </a:r>
            <a:r>
              <a:rPr sz="1100">
                <a:latin typeface="Calibri"/>
                <a:cs typeface="Calibri"/>
              </a:rPr>
              <a:t>uploaded</a:t>
            </a:r>
            <a:r>
              <a:rPr sz="1100" spc="-25">
                <a:latin typeface="Calibri"/>
                <a:cs typeface="Calibri"/>
              </a:rPr>
              <a:t> </a:t>
            </a:r>
            <a:r>
              <a:rPr sz="1100">
                <a:latin typeface="Calibri"/>
                <a:cs typeface="Calibri"/>
              </a:rPr>
              <a:t>through</a:t>
            </a:r>
            <a:r>
              <a:rPr sz="1100" spc="-25">
                <a:latin typeface="Calibri"/>
                <a:cs typeface="Calibri"/>
              </a:rPr>
              <a:t> </a:t>
            </a:r>
            <a:r>
              <a:rPr sz="1100">
                <a:latin typeface="Calibri"/>
                <a:cs typeface="Calibri"/>
              </a:rPr>
              <a:t>local</a:t>
            </a:r>
            <a:r>
              <a:rPr sz="1100" spc="-25">
                <a:latin typeface="Calibri"/>
                <a:cs typeface="Calibri"/>
              </a:rPr>
              <a:t> </a:t>
            </a:r>
            <a:r>
              <a:rPr sz="1100">
                <a:latin typeface="Calibri"/>
                <a:cs typeface="Calibri"/>
              </a:rPr>
              <a:t>web</a:t>
            </a:r>
            <a:r>
              <a:rPr sz="1100" spc="-25">
                <a:latin typeface="Calibri"/>
                <a:cs typeface="Calibri"/>
              </a:rPr>
              <a:t> </a:t>
            </a:r>
            <a:r>
              <a:rPr sz="1100">
                <a:latin typeface="Calibri"/>
                <a:cs typeface="Calibri"/>
              </a:rPr>
              <a:t>ui</a:t>
            </a:r>
            <a:r>
              <a:rPr sz="1100" spc="-25">
                <a:latin typeface="Calibri"/>
                <a:cs typeface="Calibri"/>
              </a:rPr>
              <a:t> </a:t>
            </a:r>
            <a:r>
              <a:rPr sz="1100">
                <a:latin typeface="Calibri"/>
                <a:cs typeface="Calibri"/>
              </a:rPr>
              <a:t>(streamlit),</a:t>
            </a:r>
            <a:r>
              <a:rPr sz="1100" spc="-25">
                <a:latin typeface="Calibri"/>
                <a:cs typeface="Calibri"/>
              </a:rPr>
              <a:t> </a:t>
            </a:r>
            <a:r>
              <a:rPr sz="1100" spc="-10">
                <a:latin typeface="Calibri"/>
                <a:cs typeface="Calibri"/>
              </a:rPr>
              <a:t>further </a:t>
            </a:r>
            <a:r>
              <a:rPr sz="1100">
                <a:latin typeface="Calibri"/>
                <a:cs typeface="Calibri"/>
              </a:rPr>
              <a:t>more</a:t>
            </a:r>
            <a:r>
              <a:rPr sz="1100" spc="-15">
                <a:latin typeface="Calibri"/>
                <a:cs typeface="Calibri"/>
              </a:rPr>
              <a:t> </a:t>
            </a:r>
            <a:r>
              <a:rPr sz="1100">
                <a:latin typeface="Calibri"/>
                <a:cs typeface="Calibri"/>
              </a:rPr>
              <a:t>more</a:t>
            </a:r>
            <a:r>
              <a:rPr sz="1100" spc="-10">
                <a:latin typeface="Calibri"/>
                <a:cs typeface="Calibri"/>
              </a:rPr>
              <a:t> </a:t>
            </a:r>
            <a:r>
              <a:rPr sz="1100">
                <a:latin typeface="Calibri"/>
                <a:cs typeface="Calibri"/>
              </a:rPr>
              <a:t>data</a:t>
            </a:r>
            <a:r>
              <a:rPr sz="1100" spc="-15">
                <a:latin typeface="Calibri"/>
                <a:cs typeface="Calibri"/>
              </a:rPr>
              <a:t> </a:t>
            </a:r>
            <a:r>
              <a:rPr sz="1100">
                <a:latin typeface="Calibri"/>
                <a:cs typeface="Calibri"/>
              </a:rPr>
              <a:t>set</a:t>
            </a:r>
            <a:r>
              <a:rPr sz="1100" spc="-10">
                <a:latin typeface="Calibri"/>
                <a:cs typeface="Calibri"/>
              </a:rPr>
              <a:t> </a:t>
            </a:r>
            <a:r>
              <a:rPr sz="1100">
                <a:latin typeface="Calibri"/>
                <a:cs typeface="Calibri"/>
              </a:rPr>
              <a:t>needs</a:t>
            </a:r>
            <a:r>
              <a:rPr sz="1100" spc="-10">
                <a:latin typeface="Calibri"/>
                <a:cs typeface="Calibri"/>
              </a:rPr>
              <a:t> </a:t>
            </a:r>
            <a:r>
              <a:rPr sz="1100">
                <a:latin typeface="Calibri"/>
                <a:cs typeface="Calibri"/>
              </a:rPr>
              <a:t>to</a:t>
            </a:r>
            <a:r>
              <a:rPr sz="1100" spc="-15">
                <a:latin typeface="Calibri"/>
                <a:cs typeface="Calibri"/>
              </a:rPr>
              <a:t> </a:t>
            </a:r>
            <a:r>
              <a:rPr sz="1100">
                <a:latin typeface="Calibri"/>
                <a:cs typeface="Calibri"/>
              </a:rPr>
              <a:t>be</a:t>
            </a:r>
            <a:r>
              <a:rPr sz="1100" spc="-10">
                <a:latin typeface="Calibri"/>
                <a:cs typeface="Calibri"/>
              </a:rPr>
              <a:t> </a:t>
            </a:r>
            <a:r>
              <a:rPr sz="1100">
                <a:latin typeface="Calibri"/>
                <a:cs typeface="Calibri"/>
              </a:rPr>
              <a:t>created</a:t>
            </a:r>
            <a:r>
              <a:rPr sz="1100" spc="-10">
                <a:latin typeface="Calibri"/>
                <a:cs typeface="Calibri"/>
              </a:rPr>
              <a:t> </a:t>
            </a:r>
            <a:r>
              <a:rPr sz="1100">
                <a:latin typeface="Calibri"/>
                <a:cs typeface="Calibri"/>
              </a:rPr>
              <a:t>and</a:t>
            </a:r>
            <a:r>
              <a:rPr sz="1100" spc="-15">
                <a:latin typeface="Calibri"/>
                <a:cs typeface="Calibri"/>
              </a:rPr>
              <a:t> </a:t>
            </a:r>
            <a:r>
              <a:rPr sz="1100" spc="-10">
                <a:latin typeface="Calibri"/>
                <a:cs typeface="Calibri"/>
              </a:rPr>
              <a:t>trained </a:t>
            </a:r>
            <a:r>
              <a:rPr sz="1100">
                <a:latin typeface="Calibri"/>
                <a:cs typeface="Calibri"/>
              </a:rPr>
              <a:t>accordingly</a:t>
            </a:r>
            <a:r>
              <a:rPr sz="1100" spc="-25">
                <a:latin typeface="Calibri"/>
                <a:cs typeface="Calibri"/>
              </a:rPr>
              <a:t> </a:t>
            </a:r>
            <a:r>
              <a:rPr sz="1100">
                <a:latin typeface="Calibri"/>
                <a:cs typeface="Calibri"/>
              </a:rPr>
              <a:t>to</a:t>
            </a:r>
            <a:r>
              <a:rPr sz="1100" spc="-20">
                <a:latin typeface="Calibri"/>
                <a:cs typeface="Calibri"/>
              </a:rPr>
              <a:t> </a:t>
            </a:r>
            <a:r>
              <a:rPr sz="1100">
                <a:latin typeface="Calibri"/>
                <a:cs typeface="Calibri"/>
              </a:rPr>
              <a:t>create</a:t>
            </a:r>
            <a:r>
              <a:rPr sz="1100" spc="-25">
                <a:latin typeface="Calibri"/>
                <a:cs typeface="Calibri"/>
              </a:rPr>
              <a:t> </a:t>
            </a:r>
            <a:r>
              <a:rPr sz="1100">
                <a:latin typeface="Calibri"/>
                <a:cs typeface="Calibri"/>
              </a:rPr>
              <a:t>a</a:t>
            </a:r>
            <a:r>
              <a:rPr sz="1100" spc="-25">
                <a:latin typeface="Calibri"/>
                <a:cs typeface="Calibri"/>
              </a:rPr>
              <a:t> </a:t>
            </a:r>
            <a:r>
              <a:rPr sz="1100">
                <a:latin typeface="Calibri"/>
                <a:cs typeface="Calibri"/>
              </a:rPr>
              <a:t>better</a:t>
            </a:r>
            <a:r>
              <a:rPr sz="1100" spc="-20">
                <a:latin typeface="Calibri"/>
                <a:cs typeface="Calibri"/>
              </a:rPr>
              <a:t> </a:t>
            </a:r>
            <a:r>
              <a:rPr sz="1100">
                <a:latin typeface="Calibri"/>
                <a:cs typeface="Calibri"/>
              </a:rPr>
              <a:t>image</a:t>
            </a:r>
            <a:r>
              <a:rPr sz="1100" spc="-25">
                <a:latin typeface="Calibri"/>
                <a:cs typeface="Calibri"/>
              </a:rPr>
              <a:t> </a:t>
            </a:r>
            <a:r>
              <a:rPr sz="1100">
                <a:latin typeface="Calibri"/>
                <a:cs typeface="Calibri"/>
              </a:rPr>
              <a:t>recognition</a:t>
            </a:r>
            <a:r>
              <a:rPr sz="1100" spc="-20">
                <a:latin typeface="Calibri"/>
                <a:cs typeface="Calibri"/>
              </a:rPr>
              <a:t> </a:t>
            </a:r>
            <a:r>
              <a:rPr sz="1100" spc="-25">
                <a:latin typeface="Calibri"/>
                <a:cs typeface="Calibri"/>
              </a:rPr>
              <a:t>and </a:t>
            </a:r>
            <a:r>
              <a:rPr sz="1100">
                <a:latin typeface="Calibri"/>
                <a:cs typeface="Calibri"/>
              </a:rPr>
              <a:t>improved</a:t>
            </a:r>
            <a:r>
              <a:rPr sz="1100" spc="-45">
                <a:latin typeface="Calibri"/>
                <a:cs typeface="Calibri"/>
              </a:rPr>
              <a:t> </a:t>
            </a:r>
            <a:r>
              <a:rPr sz="1100">
                <a:latin typeface="Calibri"/>
                <a:cs typeface="Calibri"/>
              </a:rPr>
              <a:t>accuracy</a:t>
            </a:r>
            <a:r>
              <a:rPr sz="1100" spc="-35">
                <a:latin typeface="Calibri"/>
                <a:cs typeface="Calibri"/>
              </a:rPr>
              <a:t> </a:t>
            </a:r>
            <a:r>
              <a:rPr sz="1100" spc="-10">
                <a:latin typeface="Calibri"/>
                <a:cs typeface="Calibri"/>
              </a:rPr>
              <a:t>model.</a:t>
            </a:r>
            <a:endParaRPr sz="1100">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535331838" name="Holder 3"/>
          <p:cNvSpPr>
            <a:spLocks noGrp="1"/>
          </p:cNvSpPr>
          <p:nvPr>
            <p:ph sz="half" idx="2"/>
          </p:nvPr>
        </p:nvSpPr>
        <p:spPr bwMode="auto">
          <a:xfrm flipH="0" flipV="0">
            <a:off x="388620" y="800099"/>
            <a:ext cx="3407634" cy="12647191"/>
          </a:xfrm>
          <a:prstGeom prst="rect">
            <a:avLst/>
          </a:prstGeom>
        </p:spPr>
        <p:txBody>
          <a:bodyPr/>
          <a:lstStyle>
            <a:lvl1pPr>
              <a:defRPr/>
            </a:lvl1pPr>
          </a:lstStyle>
          <a:p>
            <a:pPr>
              <a:defRPr/>
            </a:pPr>
            <a:r>
              <a:rPr sz="1200" b="0" i="0" u="none">
                <a:solidFill>
                  <a:srgbClr val="000000"/>
                </a:solidFill>
                <a:latin typeface="Times New Roman"/>
                <a:ea typeface="Times New Roman"/>
                <a:cs typeface="Times New Roman"/>
              </a:rPr>
              <a:t> </a:t>
            </a:r>
            <a:r>
              <a:rPr lang="en-IN" sz="1200" b="0" i="1" u="none">
                <a:solidFill>
                  <a:srgbClr val="000000"/>
                </a:solidFill>
                <a:latin typeface="Calibri"/>
                <a:ea typeface="Calibri"/>
                <a:cs typeface="Calibri"/>
              </a:rPr>
              <a:t>D</a:t>
            </a:r>
            <a:r>
              <a:rPr lang="en-IN" sz="1200" b="0" i="1" u="none">
                <a:solidFill>
                  <a:srgbClr val="000000"/>
                </a:solidFill>
                <a:latin typeface="Calibri"/>
                <a:ea typeface="Calibri"/>
                <a:cs typeface="Calibri"/>
              </a:rPr>
              <a:t>.</a:t>
            </a:r>
            <a:r>
              <a:rPr sz="1200" b="0" i="1" u="none">
                <a:solidFill>
                  <a:srgbClr val="000000"/>
                </a:solidFill>
                <a:latin typeface="Calibri"/>
                <a:ea typeface="Calibri"/>
                <a:cs typeface="Calibri"/>
              </a:rPr>
              <a:t>Nutritional Content Estimation</a:t>
            </a:r>
            <a:endParaRPr i="1">
              <a:latin typeface="Calibri"/>
              <a:ea typeface="Calibri"/>
              <a:cs typeface="Calibri"/>
            </a:endParaRPr>
          </a:p>
          <a:p>
            <a:pPr>
              <a:defRPr/>
            </a:pPr>
            <a:endParaRPr/>
          </a:p>
          <a:p>
            <a:pPr algn="just">
              <a:defRPr/>
            </a:pPr>
            <a:r>
              <a:rPr sz="1100" b="0" i="0" u="none">
                <a:solidFill>
                  <a:srgbClr val="000000"/>
                </a:solidFill>
                <a:latin typeface="Calibri"/>
                <a:ea typeface="Calibri"/>
                <a:cs typeface="Calibri"/>
              </a:rPr>
              <a:t>Beyond identifying what food is present, </a:t>
            </a:r>
            <a:r>
              <a:rPr lang="en-IN" sz="1100" b="0" i="0" u="none" strike="noStrike" cap="none" spc="0">
                <a:solidFill>
                  <a:schemeClr val="tx1"/>
                </a:solidFill>
                <a:latin typeface="Calibri"/>
                <a:ea typeface="Calibri"/>
                <a:cs typeface="Calibri"/>
              </a:rPr>
              <a:t>this </a:t>
            </a:r>
            <a:r>
              <a:rPr lang="en-US" sz="1100" b="0" i="0" u="none" strike="noStrike" cap="none" spc="0">
                <a:solidFill>
                  <a:schemeClr val="tx1"/>
                </a:solidFill>
                <a:latin typeface="Calibri"/>
                <a:ea typeface="Calibri"/>
                <a:cs typeface="Calibri"/>
              </a:rPr>
              <a:t>food detection and nutrition estimation model trained on YOLOv11 integrates computer vision with calorimetric analysis to predict nutritional values. The YOLO backbone rapidly detects food items in an image, classifying them with high accuracy. Once identified, the model maps each food class to a pre‑built nutritional database, estimating parameters like calories, proteins, fats, and carbohydrates. By combining detection with calorimeter‑based energy mapping, the system provides precise nutrition estimation, enabling real‑time dietary monitoring and health tracking.</a:t>
            </a:r>
            <a:endParaRPr i="1">
              <a:latin typeface="Calibri"/>
              <a:ea typeface="Calibri"/>
              <a:cs typeface="Calibri"/>
            </a:endParaRPr>
          </a:p>
          <a:p>
            <a:pPr>
              <a:defRPr/>
            </a:pPr>
            <a:endParaRPr/>
          </a:p>
          <a:p>
            <a:pPr>
              <a:defRPr/>
            </a:pPr>
            <a:r>
              <a:rPr sz="1200" b="0" i="1" u="none">
                <a:solidFill>
                  <a:srgbClr val="000000"/>
                </a:solidFill>
                <a:latin typeface="Calibri"/>
                <a:ea typeface="Calibri"/>
                <a:cs typeface="Calibri"/>
              </a:rPr>
              <a:t>E. Benchmark Datasets</a:t>
            </a:r>
            <a:endParaRPr i="1">
              <a:latin typeface="Calibri"/>
              <a:ea typeface="Calibri"/>
              <a:cs typeface="Calibri"/>
            </a:endParaRPr>
          </a:p>
          <a:p>
            <a:pPr algn="just">
              <a:defRPr/>
            </a:pPr>
            <a:endParaRPr/>
          </a:p>
          <a:p>
            <a:pPr algn="just">
              <a:defRPr/>
            </a:pPr>
            <a:r>
              <a:rPr lang="en-US" sz="1100" b="0" i="0" u="none" strike="noStrike" cap="none" spc="0">
                <a:solidFill>
                  <a:schemeClr val="tx1"/>
                </a:solidFill>
                <a:latin typeface="Calibri"/>
                <a:ea typeface="Calibri"/>
                <a:cs typeface="Calibri"/>
              </a:rPr>
              <a:t>In order to establish the reliability and robustness of the food detection and nutrition estimation model trained on YOLOv11, a hybrid dataset was constructed by integrating manually labeled food images with the Kaggle </a:t>
            </a:r>
            <a:r>
              <a:rPr lang="en-IN" sz="1100" b="0" i="0" u="none" strike="noStrike" cap="none" spc="0">
                <a:solidFill>
                  <a:schemeClr val="tx1"/>
                </a:solidFill>
                <a:latin typeface="Calibri"/>
                <a:ea typeface="Calibri"/>
                <a:cs typeface="Calibri"/>
              </a:rPr>
              <a:t>-</a:t>
            </a:r>
            <a:r>
              <a:rPr lang="en-US" sz="1100" b="0" i="0" u="none" strike="noStrike" cap="none" spc="0">
                <a:solidFill>
                  <a:schemeClr val="tx1"/>
                </a:solidFill>
                <a:latin typeface="Calibri"/>
                <a:ea typeface="Calibri"/>
                <a:cs typeface="Calibri"/>
              </a:rPr>
              <a:t>Indian Food Images dataset. This combination ensured diversity in food categories, improved generalization across Indian cuisine, and provided a richer training corpus. To benchmark the dataset, a structured split was performed into training, validation, and test sets, with careful attention to maintaining class balance across both sources. Annotation consistency was verified through manual cross‑checks and labeling tools to minimize discrepancies between the manually curated labels and the Kaggle annotations. Model performance was then evaluated on the test set using standard object detection metrics such as mean Average Precision (mAP), precision, recall, and F1‑score, which provided a quantitative measure of detection accuracy. Beyond detection, the nutritional estimation pipeline was validated by comparing predicted caloric and macronutrient values against calorimeter‑derived ground truth for selected food samples, thereby ensuring that the model’s predictions were not only visually accurate but also nutritionally meaningful. This benchmarking process demonstrated that the integrated dataset was suitable for training a YOLOv11‑based model capable of reliable food recognition and nutrition estimation, while also highlighting the importance of combining diverse data sources to strengthen model generalization.</a:t>
            </a: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a:p>
            <a:pPr>
              <a:defRPr/>
            </a:pPr>
            <a:endParaRPr/>
          </a:p>
        </p:txBody>
      </p:sp>
      <p:sp>
        <p:nvSpPr>
          <p:cNvPr id="938533352" name="Holder 4"/>
          <p:cNvSpPr>
            <a:spLocks noGrp="1"/>
          </p:cNvSpPr>
          <p:nvPr>
            <p:ph sz="half" idx="3"/>
          </p:nvPr>
        </p:nvSpPr>
        <p:spPr bwMode="auto">
          <a:xfrm flipH="0" flipV="0">
            <a:off x="4010999" y="800099"/>
            <a:ext cx="3488175" cy="4227671"/>
          </a:xfrm>
          <a:prstGeom prst="rect">
            <a:avLst/>
          </a:prstGeom>
        </p:spPr>
        <p:txBody>
          <a:bodyPr/>
          <a:lstStyle>
            <a:lvl1pPr>
              <a:defRPr/>
            </a:lvl1pPr>
          </a:lstStyle>
          <a:p>
            <a:pPr algn="just">
              <a:defRPr/>
            </a:pPr>
            <a:r>
              <a:rPr sz="1200" b="1" i="0" u="none">
                <a:solidFill>
                  <a:srgbClr val="000000"/>
                </a:solidFill>
                <a:latin typeface="Times New Roman"/>
                <a:ea typeface="Times New Roman"/>
                <a:cs typeface="Times New Roman"/>
              </a:rPr>
              <a:t>IV</a:t>
            </a:r>
            <a:r>
              <a:rPr sz="1200" b="1" i="0" u="none">
                <a:solidFill>
                  <a:srgbClr val="000000"/>
                </a:solidFill>
                <a:latin typeface="Times New Roman"/>
                <a:ea typeface="Times New Roman"/>
                <a:cs typeface="Times New Roman"/>
              </a:rPr>
              <a:t>.</a:t>
            </a:r>
            <a:r>
              <a:rPr sz="1200" b="1" i="0" u="none">
                <a:solidFill>
                  <a:srgbClr val="000000"/>
                </a:solidFill>
                <a:latin typeface="Calibri"/>
                <a:ea typeface="Calibri"/>
                <a:cs typeface="Calibri"/>
              </a:rPr>
              <a:t> Discussion: Gaps and Opportunities</a:t>
            </a:r>
            <a:endParaRPr sz="1000">
              <a:latin typeface="Calibri"/>
              <a:cs typeface="Calibri"/>
            </a:endParaRPr>
          </a:p>
          <a:p>
            <a:pPr algn="just">
              <a:defRPr/>
            </a:pPr>
            <a:endParaRPr sz="1000">
              <a:latin typeface="Calibri"/>
              <a:cs typeface="Calibri"/>
            </a:endParaRPr>
          </a:p>
          <a:p>
            <a:pPr algn="just">
              <a:defRPr/>
            </a:pPr>
            <a:r>
              <a:rPr sz="1100" b="0" i="0" u="none">
                <a:solidFill>
                  <a:srgbClr val="000000"/>
                </a:solidFill>
                <a:latin typeface="Calibri"/>
                <a:ea typeface="Calibri"/>
                <a:cs typeface="Calibri"/>
              </a:rPr>
              <a:t>Synthesising the health-background </a:t>
            </a:r>
            <a:r>
              <a:rPr lang="en-IN" sz="1100" b="0" i="0" u="none">
                <a:solidFill>
                  <a:srgbClr val="000000"/>
                </a:solidFill>
                <a:latin typeface="Calibri"/>
                <a:ea typeface="Calibri"/>
                <a:cs typeface="Calibri"/>
              </a:rPr>
              <a:t>and </a:t>
            </a:r>
            <a:r>
              <a:rPr sz="1100" b="0" i="0" u="none">
                <a:solidFill>
                  <a:srgbClr val="000000"/>
                </a:solidFill>
                <a:latin typeface="Calibri"/>
                <a:ea typeface="Calibri"/>
                <a:cs typeface="Calibri"/>
              </a:rPr>
              <a:t>several gaps directly relevant to NutriVision's design.</a:t>
            </a:r>
            <a:endParaRPr sz="1100" b="0" i="0" u="none">
              <a:solidFill>
                <a:srgbClr val="000000"/>
              </a:solidFill>
              <a:latin typeface="Calibri"/>
              <a:ea typeface="Calibri"/>
              <a:cs typeface="Calibri"/>
            </a:endParaRPr>
          </a:p>
          <a:p>
            <a:pPr algn="just">
              <a:defRPr/>
            </a:pPr>
            <a:endParaRPr sz="1000">
              <a:latin typeface="Calibri"/>
              <a:cs typeface="Calibri"/>
            </a:endParaRPr>
          </a:p>
          <a:p>
            <a:pPr algn="just">
              <a:defRPr/>
            </a:pPr>
            <a:r>
              <a:rPr lang="en-IN" sz="1200" b="0" i="1" u="none">
                <a:solidFill>
                  <a:srgbClr val="000000"/>
                </a:solidFill>
                <a:latin typeface="Calibri"/>
                <a:ea typeface="Calibri"/>
                <a:cs typeface="Calibri"/>
              </a:rPr>
              <a:t>A.</a:t>
            </a:r>
            <a:r>
              <a:rPr sz="1200" b="0" i="1" u="none">
                <a:solidFill>
                  <a:srgbClr val="000000"/>
                </a:solidFill>
                <a:latin typeface="Calibri"/>
                <a:ea typeface="Calibri"/>
                <a:cs typeface="Calibri"/>
              </a:rPr>
              <a:t>Regional cuisine remains underrep</a:t>
            </a:r>
            <a:r>
              <a:rPr sz="1200" b="0" i="1" u="none">
                <a:solidFill>
                  <a:srgbClr val="000000"/>
                </a:solidFill>
                <a:latin typeface="Calibri"/>
                <a:ea typeface="Calibri"/>
                <a:cs typeface="Calibri"/>
              </a:rPr>
              <a:t>resente</a:t>
            </a:r>
            <a:r>
              <a:rPr sz="1100" b="0" i="1" u="none">
                <a:solidFill>
                  <a:srgbClr val="000000"/>
                </a:solidFill>
                <a:latin typeface="Calibri"/>
                <a:ea typeface="Calibri"/>
                <a:cs typeface="Calibri"/>
              </a:rPr>
              <a:t>d</a:t>
            </a:r>
            <a:endParaRPr sz="1100" b="0" i="0" u="none">
              <a:solidFill>
                <a:srgbClr val="000000"/>
              </a:solidFill>
              <a:latin typeface="Calibri"/>
              <a:ea typeface="Calibri"/>
              <a:cs typeface="Calibri"/>
            </a:endParaRPr>
          </a:p>
          <a:p>
            <a:pPr algn="just">
              <a:defRPr/>
            </a:pPr>
            <a:endParaRPr sz="1000">
              <a:latin typeface="Calibri"/>
              <a:cs typeface="Calibri"/>
            </a:endParaRPr>
          </a:p>
          <a:p>
            <a:pPr algn="just">
              <a:defRPr/>
            </a:pPr>
            <a:r>
              <a:rPr sz="1100" b="0" i="0" u="none">
                <a:solidFill>
                  <a:srgbClr val="000000"/>
                </a:solidFill>
                <a:latin typeface="Calibri"/>
                <a:ea typeface="Calibri"/>
                <a:cs typeface="Calibri"/>
              </a:rPr>
              <a:t>Even with </a:t>
            </a:r>
            <a:r>
              <a:rPr lang="en-IN" sz="1100" b="0" i="0" u="none">
                <a:solidFill>
                  <a:srgbClr val="000000"/>
                </a:solidFill>
                <a:latin typeface="Calibri"/>
                <a:ea typeface="Calibri"/>
                <a:cs typeface="Calibri"/>
              </a:rPr>
              <a:t>custom created</a:t>
            </a:r>
            <a:r>
              <a:rPr sz="1100" b="0" i="0" u="none">
                <a:solidFill>
                  <a:srgbClr val="000000"/>
                </a:solidFill>
                <a:latin typeface="Calibri"/>
                <a:ea typeface="Calibri"/>
                <a:cs typeface="Calibri"/>
              </a:rPr>
              <a:t> and similar datasets, most published food-recognition benchmarks are still dominated by Western dishes [4], [9], [10], meaning a general-purpose pretrained model is unlikely to recognise dishes like idli, porota, or kerala sadya out of the box — this is the same gap that motivated curating a custom Roboflow dataset for this project rather than relying on an existing model.</a:t>
            </a:r>
            <a:r>
              <a:rPr lang="en-IN" sz="1100" b="0" i="0" u="none">
                <a:solidFill>
                  <a:srgbClr val="000000"/>
                </a:solidFill>
                <a:latin typeface="Calibri"/>
                <a:ea typeface="Calibri"/>
                <a:cs typeface="Calibri"/>
              </a:rPr>
              <a:t> </a:t>
            </a:r>
            <a:r>
              <a:rPr lang="en-IN" sz="1100" b="0" i="0" u="none">
                <a:solidFill>
                  <a:srgbClr val="000000"/>
                </a:solidFill>
                <a:latin typeface="Calibri"/>
                <a:ea typeface="Calibri"/>
                <a:cs typeface="Calibri"/>
              </a:rPr>
              <a:t>Asour model </a:t>
            </a:r>
            <a:endParaRPr lang="en-IN" sz="1100" b="0" i="0" u="none">
              <a:solidFill>
                <a:srgbClr val="000000"/>
              </a:solidFill>
              <a:latin typeface="Calibri"/>
              <a:ea typeface="Calibri"/>
              <a:cs typeface="Calibri"/>
            </a:endParaRPr>
          </a:p>
          <a:p>
            <a:pPr algn="just">
              <a:defRPr/>
            </a:pPr>
            <a:endParaRPr sz="1100" b="0" i="0" u="none">
              <a:solidFill>
                <a:srgbClr val="000000"/>
              </a:solidFill>
              <a:latin typeface="Calibri"/>
              <a:ea typeface="Calibri"/>
              <a:cs typeface="Calibri"/>
            </a:endParaRPr>
          </a:p>
          <a:p>
            <a:pPr algn="just">
              <a:defRPr/>
            </a:pPr>
            <a:r>
              <a:rPr lang="en-IN" sz="1200" b="0" i="1" u="none">
                <a:solidFill>
                  <a:srgbClr val="000000"/>
                </a:solidFill>
                <a:latin typeface="Calibri"/>
                <a:ea typeface="Calibri"/>
                <a:cs typeface="Calibri"/>
              </a:rPr>
              <a:t>B.</a:t>
            </a:r>
            <a:r>
              <a:rPr sz="1200" b="0" i="1" u="none">
                <a:solidFill>
                  <a:srgbClr val="000000"/>
                </a:solidFill>
                <a:latin typeface="Calibri"/>
                <a:ea typeface="Calibri"/>
                <a:cs typeface="Calibri"/>
              </a:rPr>
              <a:t>Detection-based pipelines are underused for regional food.</a:t>
            </a:r>
            <a:r>
              <a:rPr sz="1200" b="0" i="1" u="none">
                <a:solidFill>
                  <a:srgbClr val="000000"/>
                </a:solidFill>
                <a:latin typeface="Calibri"/>
                <a:ea typeface="Calibri"/>
                <a:cs typeface="Calibri"/>
              </a:rPr>
              <a:t> </a:t>
            </a:r>
            <a:endParaRPr sz="1200" b="0" i="1" u="none">
              <a:solidFill>
                <a:srgbClr val="000000"/>
              </a:solidFill>
              <a:latin typeface="Calibri"/>
              <a:ea typeface="Calibri"/>
              <a:cs typeface="Calibri"/>
            </a:endParaRPr>
          </a:p>
          <a:p>
            <a:pPr algn="just">
              <a:defRPr/>
            </a:pPr>
            <a:endParaRPr sz="1200" b="0" i="0" u="none">
              <a:solidFill>
                <a:srgbClr val="000000"/>
              </a:solidFill>
              <a:latin typeface="Times New Roman"/>
              <a:ea typeface="Times New Roman"/>
              <a:cs typeface="Times New Roman"/>
            </a:endParaRPr>
          </a:p>
          <a:p>
            <a:pPr algn="just">
              <a:defRPr/>
            </a:pPr>
            <a:r>
              <a:rPr sz="1100" b="0" i="0" u="none">
                <a:solidFill>
                  <a:srgbClr val="000000"/>
                </a:solidFill>
                <a:latin typeface="Calibri"/>
                <a:ea typeface="Calibri"/>
                <a:cs typeface="Calibri"/>
              </a:rPr>
              <a:t>Much of the Indian-food literature stops at classification rather than detection [10], while </a:t>
            </a:r>
            <a:r>
              <a:rPr lang="en-IN" sz="1100" b="0" i="0" u="none">
                <a:solidFill>
                  <a:srgbClr val="000000"/>
                </a:solidFill>
                <a:latin typeface="Calibri"/>
                <a:ea typeface="Calibri"/>
                <a:cs typeface="Calibri"/>
              </a:rPr>
              <a:t>our </a:t>
            </a:r>
            <a:r>
              <a:rPr sz="1100" b="0" i="0" u="none">
                <a:solidFill>
                  <a:srgbClr val="000000"/>
                </a:solidFill>
                <a:latin typeface="Calibri"/>
                <a:ea typeface="Calibri"/>
                <a:cs typeface="Calibri"/>
              </a:rPr>
              <a:t>YOLO-based detection has been shown to outperform classification-only pipelines when multiple food items appear in a single frame [7], [8], [9] — supporting the choice of a YOLO-based detector for NutriVision rather than a plain classifier.</a:t>
            </a:r>
            <a:r>
              <a:rPr lang="en-IN" sz="1000" b="0" i="0" u="none">
                <a:solidFill>
                  <a:srgbClr val="000000"/>
                </a:solidFill>
                <a:latin typeface="Calibri"/>
                <a:ea typeface="Calibri"/>
                <a:cs typeface="Calibri"/>
              </a:rPr>
              <a:t> </a:t>
            </a:r>
            <a:endParaRPr lang="en-IN" sz="1100" b="0" i="0" u="none">
              <a:solidFill>
                <a:srgbClr val="000000"/>
              </a:solidFill>
              <a:latin typeface="Calibri"/>
              <a:ea typeface="Calibri"/>
              <a:cs typeface="Calibri"/>
            </a:endParaRPr>
          </a:p>
        </p:txBody>
      </p:sp>
      <p:sp>
        <p:nvSpPr>
          <p:cNvPr id="1472670515" name=""/>
          <p:cNvSpPr txBox="1"/>
          <p:nvPr/>
        </p:nvSpPr>
        <p:spPr bwMode="auto">
          <a:xfrm rot="0" flipH="0" flipV="0">
            <a:off x="4013624" y="5107781"/>
            <a:ext cx="3657018"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endParaRPr sz="1200"/>
          </a:p>
        </p:txBody>
      </p:sp>
      <p:sp>
        <p:nvSpPr>
          <p:cNvPr id="688719491" name=""/>
          <p:cNvSpPr txBox="1"/>
          <p:nvPr/>
        </p:nvSpPr>
        <p:spPr bwMode="auto">
          <a:xfrm rot="0" flipH="0" flipV="0">
            <a:off x="4013624" y="5595937"/>
            <a:ext cx="3528929" cy="2594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just">
              <a:defRPr/>
            </a:pPr>
            <a:r>
              <a:rPr sz="1100" b="0" i="0" u="none">
                <a:solidFill>
                  <a:srgbClr val="000000"/>
                </a:solidFill>
                <a:latin typeface="Calibri"/>
                <a:ea typeface="Calibri"/>
                <a:cs typeface="Calibri"/>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3558061" name="Holder 3"/>
          <p:cNvSpPr>
            <a:spLocks noGrp="1"/>
          </p:cNvSpPr>
          <p:nvPr>
            <p:ph sz="half" idx="2"/>
          </p:nvPr>
        </p:nvSpPr>
        <p:spPr bwMode="auto">
          <a:xfrm flipH="0" flipV="0">
            <a:off x="388620" y="4635150"/>
            <a:ext cx="3425994" cy="4867751"/>
          </a:xfrm>
          <a:prstGeom prst="rect">
            <a:avLst/>
          </a:prstGeom>
        </p:spPr>
        <p:txBody>
          <a:bodyPr/>
          <a:lstStyle/>
          <a:p>
            <a:pPr algn="just">
              <a:defRPr/>
            </a:pPr>
            <a:r>
              <a:rPr lang="en-IN" sz="1200" b="1" i="1" u="none">
                <a:solidFill>
                  <a:srgbClr val="000000"/>
                </a:solidFill>
                <a:latin typeface="Times New Roman"/>
                <a:ea typeface="Times New Roman"/>
                <a:cs typeface="Times New Roman"/>
              </a:rPr>
              <a:t>V</a:t>
            </a:r>
            <a:r>
              <a:rPr sz="1200" b="1" i="1" u="none">
                <a:solidFill>
                  <a:srgbClr val="000000"/>
                </a:solidFill>
                <a:latin typeface="Calibri"/>
                <a:ea typeface="Calibri"/>
                <a:cs typeface="Calibri"/>
              </a:rPr>
              <a:t>.</a:t>
            </a:r>
            <a:r>
              <a:rPr sz="1200" b="1" i="0" u="none">
                <a:solidFill>
                  <a:srgbClr val="000000"/>
                </a:solidFill>
                <a:latin typeface="Calibri"/>
                <a:ea typeface="Calibri"/>
                <a:cs typeface="Calibri"/>
              </a:rPr>
              <a:t> P</a:t>
            </a:r>
            <a:r>
              <a:rPr lang="en-IN" sz="1200" b="1" i="0" u="none">
                <a:solidFill>
                  <a:srgbClr val="000000"/>
                </a:solidFill>
                <a:latin typeface="Calibri"/>
                <a:ea typeface="Calibri"/>
                <a:cs typeface="Calibri"/>
              </a:rPr>
              <a:t>RELIMINARY MODEL EVALUATION AND TRAINING     PERFORMANCE</a:t>
            </a:r>
            <a:endParaRPr sz="1200" b="1" i="0" u="none">
              <a:solidFill>
                <a:srgbClr val="000000"/>
              </a:solidFill>
              <a:latin typeface="Calibri"/>
              <a:ea typeface="Calibri"/>
              <a:cs typeface="Calibri"/>
            </a:endParaRPr>
          </a:p>
          <a:p>
            <a:pPr>
              <a:defRPr/>
            </a:pPr>
            <a:endParaRPr sz="800" b="1" i="0">
              <a:latin typeface="Calibri"/>
              <a:ea typeface="Calibri"/>
              <a:cs typeface="Calibri"/>
            </a:endParaRPr>
          </a:p>
          <a:p>
            <a:pPr>
              <a:defRPr/>
            </a:pPr>
            <a:endParaRPr/>
          </a:p>
          <a:p>
            <a:pPr algn="just">
              <a:defRPr/>
            </a:pPr>
            <a:r>
              <a:rPr sz="1100" b="0" i="0" u="none">
                <a:solidFill>
                  <a:srgbClr val="000000"/>
                </a:solidFill>
                <a:latin typeface="Calibri"/>
                <a:ea typeface="Calibri"/>
                <a:cs typeface="Calibri"/>
              </a:rPr>
              <a:t>To evaluate the feasibility and initial performance of the custom YOLOv11 architecture for food localization, classification, and subsequent nutritional estimation, the model was subjected to a preliminary training phase over three epochs. The training progress was monitored across core object detection metrics, including localization loss, classification loss, mean Average Precision (mAP), precision, and recall.</a:t>
            </a:r>
            <a:endParaRPr sz="1000">
              <a:latin typeface="Calibri"/>
              <a:cs typeface="Calibri"/>
            </a:endParaRPr>
          </a:p>
          <a:p>
            <a:pPr>
              <a:defRPr/>
            </a:pPr>
            <a:endParaRPr/>
          </a:p>
          <a:p>
            <a:pPr>
              <a:defRPr/>
            </a:pPr>
            <a:r>
              <a:rPr lang="en-IN" sz="1200" b="0" i="1" u="none">
                <a:solidFill>
                  <a:srgbClr val="000000"/>
                </a:solidFill>
                <a:latin typeface="Calibri"/>
                <a:ea typeface="Calibri"/>
                <a:cs typeface="Calibri"/>
              </a:rPr>
              <a:t>A.</a:t>
            </a:r>
            <a:r>
              <a:rPr sz="1200" b="0" i="1" u="none">
                <a:solidFill>
                  <a:srgbClr val="000000"/>
                </a:solidFill>
                <a:latin typeface="Calibri"/>
                <a:ea typeface="Calibri"/>
                <a:cs typeface="Calibri"/>
              </a:rPr>
              <a:t> Loss Convergence Analysis</a:t>
            </a:r>
            <a:endParaRPr sz="1100">
              <a:latin typeface="Calibri"/>
              <a:ea typeface="Calibri"/>
              <a:cs typeface="Calibri"/>
            </a:endParaRPr>
          </a:p>
          <a:p>
            <a:pPr>
              <a:defRPr/>
            </a:pPr>
            <a:endParaRPr sz="1100">
              <a:latin typeface="Calibri"/>
              <a:cs typeface="Calibri"/>
            </a:endParaRPr>
          </a:p>
          <a:p>
            <a:pPr algn="just">
              <a:defRPr/>
            </a:pPr>
            <a:r>
              <a:rPr sz="1100" b="0" i="0" u="none">
                <a:solidFill>
                  <a:srgbClr val="000000"/>
                </a:solidFill>
                <a:latin typeface="Calibri"/>
                <a:ea typeface="Calibri"/>
                <a:cs typeface="Calibri"/>
              </a:rPr>
              <a:t>The training dynamics demonstrate varying behavior between bounding box regression and object classification tasks over the initial epochs:</a:t>
            </a:r>
            <a:endParaRPr sz="1100">
              <a:latin typeface="Calibri"/>
              <a:cs typeface="Calibri"/>
            </a:endParaRPr>
          </a:p>
          <a:p>
            <a:pPr algn="just">
              <a:defRPr/>
            </a:pPr>
            <a:r>
              <a:rPr sz="1100" b="0" i="1" u="none">
                <a:solidFill>
                  <a:srgbClr val="000000"/>
                </a:solidFill>
                <a:latin typeface="Calibri"/>
                <a:ea typeface="Calibri"/>
                <a:cs typeface="Calibri"/>
              </a:rPr>
              <a:t>Bounding Box Regression Loss</a:t>
            </a:r>
            <a:r>
              <a:rPr sz="1100" b="1" i="0" u="none">
                <a:solidFill>
                  <a:srgbClr val="000000"/>
                </a:solidFill>
                <a:latin typeface="Calibri"/>
                <a:ea typeface="Calibri"/>
                <a:cs typeface="Calibri"/>
              </a:rPr>
              <a:t>:</a:t>
            </a:r>
            <a:r>
              <a:rPr sz="1100" b="0" i="0" u="none">
                <a:solidFill>
                  <a:srgbClr val="000000"/>
                </a:solidFill>
                <a:latin typeface="Calibri"/>
                <a:ea typeface="Calibri"/>
                <a:cs typeface="Calibri"/>
              </a:rPr>
              <a:t> The training bounding box loss exhibited a slight upward trend, shifting from approximately </a:t>
            </a:r>
            <a:r>
              <a:rPr sz="1100" b="0" i="0" u="none">
                <a:solidFill>
                  <a:srgbClr val="000000"/>
                </a:solidFill>
                <a:latin typeface="Calibri"/>
                <a:ea typeface="Calibri"/>
                <a:cs typeface="Calibri"/>
              </a:rPr>
              <a:t>1.21</a:t>
            </a:r>
            <a:r>
              <a:rPr sz="1100" b="0" i="0" u="none">
                <a:solidFill>
                  <a:srgbClr val="000000"/>
                </a:solidFill>
                <a:latin typeface="Calibri"/>
                <a:ea typeface="Calibri"/>
                <a:cs typeface="Calibri"/>
              </a:rPr>
              <a:t> to </a:t>
            </a:r>
            <a:r>
              <a:rPr sz="1100" b="0" i="0" u="none">
                <a:solidFill>
                  <a:srgbClr val="000000"/>
                </a:solidFill>
                <a:latin typeface="Calibri"/>
                <a:ea typeface="Calibri"/>
                <a:cs typeface="Calibri"/>
              </a:rPr>
              <a:t>1.28</a:t>
            </a:r>
            <a:r>
              <a:rPr sz="1100" b="0" i="0" u="none">
                <a:solidFill>
                  <a:srgbClr val="000000"/>
                </a:solidFill>
                <a:latin typeface="Calibri"/>
                <a:ea typeface="Calibri"/>
                <a:cs typeface="Calibri"/>
              </a:rPr>
              <a:t>. Concurrently, the validation bounding box loss peaked at epoch 2 (</a:t>
            </a:r>
            <a:r>
              <a:rPr sz="1100" b="0" i="0" u="none">
                <a:solidFill>
                  <a:srgbClr val="000000"/>
                </a:solidFill>
                <a:latin typeface="Calibri"/>
                <a:ea typeface="Calibri"/>
                <a:cs typeface="Calibri"/>
              </a:rPr>
              <a:t>1.36</a:t>
            </a:r>
            <a:r>
              <a:rPr sz="1100" b="0" i="0" u="none">
                <a:solidFill>
                  <a:srgbClr val="000000"/>
                </a:solidFill>
                <a:latin typeface="Calibri"/>
                <a:ea typeface="Calibri"/>
                <a:cs typeface="Calibri"/>
              </a:rPr>
              <a:t>) before showing signs of stabilization at epoch 3 (</a:t>
            </a:r>
            <a:r>
              <a:rPr sz="1100" b="0" i="0" u="none">
                <a:solidFill>
                  <a:srgbClr val="000000"/>
                </a:solidFill>
                <a:latin typeface="Calibri"/>
                <a:ea typeface="Calibri"/>
                <a:cs typeface="Calibri"/>
              </a:rPr>
              <a:t>1.34</a:t>
            </a:r>
            <a:r>
              <a:rPr sz="1100" b="0" i="0" u="none">
                <a:solidFill>
                  <a:srgbClr val="000000"/>
                </a:solidFill>
                <a:latin typeface="Calibri"/>
                <a:ea typeface="Calibri"/>
                <a:cs typeface="Calibri"/>
              </a:rPr>
              <a:t>). This indicates that while the localization head is adapting to the spatial variances of diverse food items, further hyper</a:t>
            </a:r>
            <a:r>
              <a:rPr lang="en-IN" sz="1100" b="0" i="0" u="none">
                <a:solidFill>
                  <a:srgbClr val="000000"/>
                </a:solidFill>
                <a:latin typeface="Calibri"/>
                <a:ea typeface="Calibri"/>
                <a:cs typeface="Calibri"/>
              </a:rPr>
              <a:t>-</a:t>
            </a:r>
            <a:r>
              <a:rPr sz="1100" b="0" i="0" u="none">
                <a:solidFill>
                  <a:srgbClr val="000000"/>
                </a:solidFill>
                <a:latin typeface="Calibri"/>
                <a:ea typeface="Calibri"/>
                <a:cs typeface="Calibri"/>
              </a:rPr>
              <a:t>parameter tuning and extended training are required to stabilize spatial regressions.</a:t>
            </a:r>
            <a:endParaRPr sz="1100">
              <a:latin typeface="Calibri"/>
              <a:cs typeface="Calibri"/>
            </a:endParaRPr>
          </a:p>
          <a:p>
            <a:pPr>
              <a:defRPr/>
            </a:pPr>
            <a:endParaRPr/>
          </a:p>
          <a:p>
            <a:pPr>
              <a:defRPr/>
            </a:pPr>
            <a:endParaRPr/>
          </a:p>
        </p:txBody>
      </p:sp>
      <p:sp>
        <p:nvSpPr>
          <p:cNvPr id="2119533952" name="Holder 4"/>
          <p:cNvSpPr>
            <a:spLocks noGrp="1"/>
          </p:cNvSpPr>
          <p:nvPr>
            <p:ph sz="half" idx="3"/>
          </p:nvPr>
        </p:nvSpPr>
        <p:spPr bwMode="auto">
          <a:xfrm flipH="0" flipV="0">
            <a:off x="4002786" y="4635150"/>
            <a:ext cx="3401874" cy="4136386"/>
          </a:xfrm>
          <a:prstGeom prst="rect">
            <a:avLst/>
          </a:prstGeom>
        </p:spPr>
        <p:txBody>
          <a:bodyPr/>
          <a:lstStyle/>
          <a:p>
            <a:pPr algn="just">
              <a:defRPr/>
            </a:pPr>
            <a:r>
              <a:rPr lang="en-US" sz="1100" b="0" i="1" u="none" strike="noStrike" cap="none" spc="0">
                <a:solidFill>
                  <a:srgbClr val="000000"/>
                </a:solidFill>
                <a:latin typeface="Calibri"/>
                <a:ea typeface="Calibri"/>
                <a:cs typeface="Calibri"/>
              </a:rPr>
              <a:t>Classification Loss</a:t>
            </a:r>
            <a:r>
              <a:rPr lang="en-US" sz="1100" b="1" i="0" u="none" strike="noStrike" cap="none" spc="0">
                <a:solidFill>
                  <a:srgbClr val="000000"/>
                </a:solidFill>
                <a:latin typeface="Calibri"/>
                <a:ea typeface="Calibri"/>
                <a:cs typeface="Calibri"/>
              </a:rPr>
              <a:t>:</a:t>
            </a:r>
            <a:r>
              <a:rPr lang="en-US" sz="1100" b="0" i="0" u="none" strike="noStrike" cap="none" spc="0">
                <a:solidFill>
                  <a:srgbClr val="000000"/>
                </a:solidFill>
                <a:latin typeface="Calibri"/>
                <a:ea typeface="Calibri"/>
                <a:cs typeface="Calibri"/>
              </a:rPr>
              <a:t> Conversely, the classification head demonstrated highly favorable convergence characteristics. The training classification loss decreased sharply from </a:t>
            </a:r>
            <a:r>
              <a:rPr lang="en-US" sz="1100" b="0" i="0" u="none" strike="noStrike" cap="none" spc="0">
                <a:solidFill>
                  <a:srgbClr val="000000"/>
                </a:solidFill>
                <a:latin typeface="Calibri"/>
                <a:ea typeface="Calibri"/>
                <a:cs typeface="Calibri"/>
              </a:rPr>
              <a:t>3.90</a:t>
            </a:r>
            <a:r>
              <a:rPr lang="en-US" sz="1100" b="0" i="0" u="none" strike="noStrike" cap="none" spc="0">
                <a:solidFill>
                  <a:srgbClr val="000000"/>
                </a:solidFill>
                <a:latin typeface="Calibri"/>
                <a:ea typeface="Calibri"/>
                <a:cs typeface="Calibri"/>
              </a:rPr>
              <a:t> to </a:t>
            </a:r>
            <a:r>
              <a:rPr lang="en-US" sz="1100" b="0" i="0" u="none" strike="noStrike" cap="none" spc="0">
                <a:solidFill>
                  <a:srgbClr val="000000"/>
                </a:solidFill>
                <a:latin typeface="Calibri"/>
                <a:ea typeface="Calibri"/>
                <a:cs typeface="Calibri"/>
              </a:rPr>
              <a:t>2.60</a:t>
            </a:r>
            <a:r>
              <a:rPr lang="en-US" sz="1100" b="0" i="0" u="none" strike="noStrike" cap="none" spc="0">
                <a:solidFill>
                  <a:srgbClr val="000000"/>
                </a:solidFill>
                <a:latin typeface="Calibri"/>
                <a:ea typeface="Calibri"/>
                <a:cs typeface="Calibri"/>
              </a:rPr>
              <a:t>, while the validation classification loss steadily declined from </a:t>
            </a:r>
            <a:r>
              <a:rPr lang="en-US" sz="1100" b="0" i="0" u="none" strike="noStrike" cap="none" spc="0">
                <a:solidFill>
                  <a:srgbClr val="000000"/>
                </a:solidFill>
                <a:latin typeface="Calibri"/>
                <a:ea typeface="Calibri"/>
                <a:cs typeface="Calibri"/>
              </a:rPr>
              <a:t>3.04</a:t>
            </a:r>
            <a:r>
              <a:rPr lang="en-US" sz="1100" b="0" i="0" u="none" strike="noStrike" cap="none" spc="0">
                <a:solidFill>
                  <a:srgbClr val="000000"/>
                </a:solidFill>
                <a:latin typeface="Calibri"/>
                <a:ea typeface="Calibri"/>
                <a:cs typeface="Calibri"/>
              </a:rPr>
              <a:t> to </a:t>
            </a:r>
            <a:r>
              <a:rPr lang="en-US" sz="1100" b="0" i="0" u="none" strike="noStrike" cap="none" spc="0">
                <a:solidFill>
                  <a:srgbClr val="000000"/>
                </a:solidFill>
                <a:latin typeface="Calibri"/>
                <a:ea typeface="Calibri"/>
                <a:cs typeface="Calibri"/>
              </a:rPr>
              <a:t>2.65</a:t>
            </a:r>
            <a:r>
              <a:rPr lang="en-US" sz="1100" b="0" i="0" u="none" strike="noStrike" cap="none" spc="0">
                <a:solidFill>
                  <a:srgbClr val="000000"/>
                </a:solidFill>
                <a:latin typeface="Calibri"/>
                <a:ea typeface="Calibri"/>
                <a:cs typeface="Calibri"/>
              </a:rPr>
              <a:t>. This consistent reduction across both sets confirms that the model is effectively learning to differentiate distinct food categories and their corresponding macro-nutritional profiles.</a:t>
            </a:r>
            <a:endParaRPr lang="en-US" sz="1100" b="0" i="0" u="none" strike="noStrike" cap="none" spc="0">
              <a:solidFill>
                <a:schemeClr val="tx1"/>
              </a:solidFill>
              <a:latin typeface="Times New Roman"/>
              <a:cs typeface="Times New Roman"/>
            </a:endParaRPr>
          </a:p>
          <a:p>
            <a:pPr>
              <a:defRPr/>
            </a:pPr>
            <a:endParaRPr sz="900" b="0" i="1">
              <a:latin typeface="Calibri"/>
              <a:cs typeface="Calibri"/>
            </a:endParaRPr>
          </a:p>
          <a:p>
            <a:pPr algn="just">
              <a:defRPr/>
            </a:pPr>
            <a:r>
              <a:rPr lang="en-IN" sz="1100" b="0" i="1" u="none">
                <a:solidFill>
                  <a:srgbClr val="000000"/>
                </a:solidFill>
                <a:latin typeface="Calibri"/>
                <a:ea typeface="Calibri"/>
                <a:cs typeface="Calibri"/>
              </a:rPr>
              <a:t>B. </a:t>
            </a:r>
            <a:r>
              <a:rPr sz="1100" b="0" i="1" u="none">
                <a:solidFill>
                  <a:srgbClr val="000000"/>
                </a:solidFill>
                <a:latin typeface="Calibri"/>
                <a:ea typeface="Calibri"/>
                <a:cs typeface="Calibri"/>
              </a:rPr>
              <a:t>Accuracy and Localization Metrics (mAP</a:t>
            </a:r>
            <a:r>
              <a:rPr sz="1100" b="0" i="1" u="none">
                <a:solidFill>
                  <a:srgbClr val="000000"/>
                </a:solidFill>
                <a:latin typeface="Arial"/>
                <a:ea typeface="Arial"/>
                <a:cs typeface="Arial"/>
              </a:rPr>
              <a:t>)</a:t>
            </a:r>
            <a:endParaRPr sz="900" b="0" i="1"/>
          </a:p>
          <a:p>
            <a:pPr algn="just">
              <a:defRPr/>
            </a:pPr>
            <a:endParaRPr/>
          </a:p>
          <a:p>
            <a:pPr algn="just">
              <a:defRPr/>
            </a:pPr>
            <a:r>
              <a:rPr sz="1100" b="0" i="0" u="none">
                <a:solidFill>
                  <a:srgbClr val="000000"/>
                </a:solidFill>
                <a:latin typeface="Calibri"/>
                <a:ea typeface="Calibri"/>
                <a:cs typeface="Calibri"/>
              </a:rPr>
              <a:t>Model accuracy was quantified using standard mean Average Precision metrics at different Intersection over Union (IoU) thresholds:</a:t>
            </a:r>
            <a:endParaRPr sz="1000">
              <a:latin typeface="Calibri"/>
              <a:ea typeface="Calibri"/>
              <a:cs typeface="Calibri"/>
            </a:endParaRPr>
          </a:p>
          <a:p>
            <a:pPr algn="just">
              <a:defRPr/>
            </a:pPr>
            <a:endParaRPr sz="1000">
              <a:latin typeface="Calibri"/>
              <a:cs typeface="Calibri"/>
            </a:endParaRPr>
          </a:p>
          <a:p>
            <a:pPr algn="just">
              <a:defRPr/>
            </a:pPr>
            <a:r>
              <a:rPr sz="1100" b="0" i="1" u="none">
                <a:solidFill>
                  <a:srgbClr val="000000"/>
                </a:solidFill>
                <a:latin typeface="Calibri"/>
                <a:ea typeface="Calibri"/>
                <a:cs typeface="Calibri"/>
              </a:rPr>
              <a:t>mAP</a:t>
            </a:r>
            <a:r>
              <a:rPr lang="en-IN" sz="1100" b="0" i="1" u="none">
                <a:solidFill>
                  <a:srgbClr val="000000"/>
                </a:solidFill>
                <a:latin typeface="Calibri"/>
                <a:ea typeface="Calibri"/>
                <a:cs typeface="Calibri"/>
              </a:rPr>
              <a:t> at </a:t>
            </a:r>
            <a:r>
              <a:rPr sz="1100" b="0" i="1" u="none">
                <a:solidFill>
                  <a:srgbClr val="000000"/>
                </a:solidFill>
                <a:latin typeface="Calibri"/>
                <a:ea typeface="Calibri"/>
                <a:cs typeface="Calibri"/>
              </a:rPr>
              <a:t>50:</a:t>
            </a:r>
            <a:r>
              <a:rPr sz="1100" b="0" i="1" u="none">
                <a:solidFill>
                  <a:srgbClr val="000000"/>
                </a:solidFill>
                <a:latin typeface="Calibri"/>
                <a:ea typeface="Calibri"/>
                <a:cs typeface="Calibri"/>
              </a:rPr>
              <a:t> </a:t>
            </a:r>
            <a:r>
              <a:rPr sz="1100" b="0" i="0" u="none">
                <a:solidFill>
                  <a:srgbClr val="000000"/>
                </a:solidFill>
                <a:latin typeface="Calibri"/>
                <a:ea typeface="Calibri"/>
                <a:cs typeface="Calibri"/>
              </a:rPr>
              <a:t>The model achieved a steady and robust increase in overall detection accuracy at a relaxed IoU threshold, with mAP@50 rising from </a:t>
            </a:r>
            <a:r>
              <a:rPr sz="1100" b="0" i="0" u="none">
                <a:solidFill>
                  <a:srgbClr val="000000"/>
                </a:solidFill>
                <a:latin typeface="Calibri"/>
                <a:ea typeface="Calibri"/>
                <a:cs typeface="Calibri"/>
              </a:rPr>
              <a:t>0.41</a:t>
            </a:r>
            <a:r>
              <a:rPr sz="1100" b="0" i="0" u="none">
                <a:solidFill>
                  <a:srgbClr val="000000"/>
                </a:solidFill>
                <a:latin typeface="Calibri"/>
                <a:ea typeface="Calibri"/>
                <a:cs typeface="Calibri"/>
              </a:rPr>
              <a:t> at epoch 1 to </a:t>
            </a:r>
            <a:r>
              <a:rPr sz="1100" b="0" i="0" u="none">
                <a:solidFill>
                  <a:srgbClr val="000000"/>
                </a:solidFill>
                <a:latin typeface="Calibri"/>
                <a:ea typeface="Calibri"/>
                <a:cs typeface="Calibri"/>
              </a:rPr>
              <a:t>0.53</a:t>
            </a:r>
            <a:r>
              <a:rPr sz="1100" b="0" i="0" u="none">
                <a:solidFill>
                  <a:srgbClr val="000000"/>
                </a:solidFill>
                <a:latin typeface="Calibri"/>
                <a:ea typeface="Calibri"/>
                <a:cs typeface="Calibri"/>
              </a:rPr>
              <a:t> by epoch 3.</a:t>
            </a:r>
            <a:endParaRPr sz="1000">
              <a:latin typeface="Calibri"/>
              <a:ea typeface="Calibri"/>
              <a:cs typeface="Calibri"/>
            </a:endParaRPr>
          </a:p>
          <a:p>
            <a:pPr algn="just">
              <a:defRPr/>
            </a:pPr>
            <a:endParaRPr sz="1000">
              <a:latin typeface="Calibri"/>
              <a:cs typeface="Calibri"/>
            </a:endParaRPr>
          </a:p>
          <a:p>
            <a:pPr algn="just">
              <a:defRPr/>
            </a:pPr>
            <a:r>
              <a:rPr sz="1100" b="0" i="1" u="none">
                <a:solidFill>
                  <a:srgbClr val="000000"/>
                </a:solidFill>
                <a:latin typeface="Calibri"/>
                <a:ea typeface="Calibri"/>
                <a:cs typeface="Calibri"/>
              </a:rPr>
              <a:t>mAP</a:t>
            </a:r>
            <a:r>
              <a:rPr lang="en-IN" sz="1100" b="0" i="1" u="none">
                <a:solidFill>
                  <a:srgbClr val="000000"/>
                </a:solidFill>
                <a:latin typeface="Calibri"/>
                <a:ea typeface="Calibri"/>
                <a:cs typeface="Calibri"/>
              </a:rPr>
              <a:t> at </a:t>
            </a:r>
            <a:r>
              <a:rPr sz="1100" b="0" i="1" u="none">
                <a:solidFill>
                  <a:srgbClr val="000000"/>
                </a:solidFill>
                <a:latin typeface="Calibri"/>
                <a:ea typeface="Calibri"/>
                <a:cs typeface="Calibri"/>
              </a:rPr>
              <a:t>50-95</a:t>
            </a:r>
            <a:r>
              <a:rPr sz="1100" b="1" i="0" u="none">
                <a:solidFill>
                  <a:srgbClr val="000000"/>
                </a:solidFill>
                <a:latin typeface="Calibri"/>
                <a:ea typeface="Calibri"/>
                <a:cs typeface="Calibri"/>
              </a:rPr>
              <a:t>:</a:t>
            </a:r>
            <a:r>
              <a:rPr sz="1100" b="0" i="0" u="none">
                <a:solidFill>
                  <a:srgbClr val="000000"/>
                </a:solidFill>
                <a:latin typeface="Calibri"/>
                <a:ea typeface="Calibri"/>
                <a:cs typeface="Calibri"/>
              </a:rPr>
              <a:t> The stricter metric, mAP@50-95, followed a similar positive trajectory, progressing from </a:t>
            </a:r>
            <a:r>
              <a:rPr sz="1100" b="0" i="0" u="none">
                <a:solidFill>
                  <a:srgbClr val="000000"/>
                </a:solidFill>
                <a:latin typeface="Calibri"/>
                <a:ea typeface="Calibri"/>
                <a:cs typeface="Calibri"/>
              </a:rPr>
              <a:t>0.24</a:t>
            </a:r>
            <a:r>
              <a:rPr sz="1100" b="0" i="0" u="none">
                <a:solidFill>
                  <a:srgbClr val="000000"/>
                </a:solidFill>
                <a:latin typeface="Calibri"/>
                <a:ea typeface="Calibri"/>
                <a:cs typeface="Calibri"/>
              </a:rPr>
              <a:t> to </a:t>
            </a:r>
            <a:r>
              <a:rPr sz="1100" b="0" i="0" u="none">
                <a:solidFill>
                  <a:srgbClr val="000000"/>
                </a:solidFill>
                <a:latin typeface="Calibri"/>
                <a:ea typeface="Calibri"/>
                <a:cs typeface="Calibri"/>
              </a:rPr>
              <a:t>0.33</a:t>
            </a:r>
            <a:r>
              <a:rPr sz="1100" b="0" i="0" u="none">
                <a:solidFill>
                  <a:srgbClr val="000000"/>
                </a:solidFill>
                <a:latin typeface="Calibri"/>
                <a:ea typeface="Calibri"/>
                <a:cs typeface="Calibri"/>
              </a:rPr>
              <a:t>. This continuous upward trend across successive epochs indicates that the network is progressively refining its bounding box tightness and confidence scoring.</a:t>
            </a:r>
            <a:endParaRPr/>
          </a:p>
        </p:txBody>
      </p:sp>
      <p:pic>
        <p:nvPicPr>
          <p:cNvPr id="1720838039" name=""/>
          <p:cNvPicPr>
            <a:picLocks noChangeAspect="1"/>
          </p:cNvPicPr>
          <p:nvPr/>
        </p:nvPicPr>
        <p:blipFill rotWithShape="1">
          <a:blip r:embed="rId3"/>
          <a:stretch/>
        </p:blipFill>
        <p:spPr bwMode="auto">
          <a:xfrm flipH="0" flipV="0">
            <a:off x="388620" y="725112"/>
            <a:ext cx="6871124" cy="33352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2647707" name="Holder 3"/>
          <p:cNvSpPr>
            <a:spLocks noGrp="1"/>
          </p:cNvSpPr>
          <p:nvPr>
            <p:ph sz="half" idx="2"/>
          </p:nvPr>
        </p:nvSpPr>
        <p:spPr bwMode="auto">
          <a:xfrm flipH="0" flipV="0">
            <a:off x="388620" y="728291"/>
            <a:ext cx="3411954" cy="7549991"/>
          </a:xfrm>
          <a:prstGeom prst="rect">
            <a:avLst/>
          </a:prstGeom>
        </p:spPr>
        <p:txBody>
          <a:bodyPr/>
          <a:lstStyle/>
          <a:p>
            <a:pPr algn="just">
              <a:defRPr/>
            </a:pPr>
            <a:r>
              <a:rPr lang="en-IN" sz="1200" b="0" i="1" u="none">
                <a:solidFill>
                  <a:srgbClr val="000000"/>
                </a:solidFill>
                <a:latin typeface="Calibri"/>
                <a:ea typeface="Calibri"/>
                <a:cs typeface="Calibri"/>
              </a:rPr>
              <a:t>C.</a:t>
            </a:r>
            <a:r>
              <a:rPr sz="1200" b="0" i="1" u="none">
                <a:solidFill>
                  <a:srgbClr val="000000"/>
                </a:solidFill>
                <a:latin typeface="Calibri"/>
                <a:ea typeface="Calibri"/>
                <a:cs typeface="Calibri"/>
              </a:rPr>
              <a:t> Precision and Recall Dynamics</a:t>
            </a:r>
            <a:endParaRPr sz="1000" b="0" i="1">
              <a:latin typeface="Calibri"/>
              <a:ea typeface="Calibri"/>
              <a:cs typeface="Calibri"/>
            </a:endParaRPr>
          </a:p>
          <a:p>
            <a:pPr algn="just">
              <a:defRPr/>
            </a:pPr>
            <a:endParaRPr/>
          </a:p>
          <a:p>
            <a:pPr algn="just">
              <a:defRPr/>
            </a:pPr>
            <a:r>
              <a:rPr sz="1100" b="0" i="0" u="none">
                <a:solidFill>
                  <a:srgbClr val="000000"/>
                </a:solidFill>
                <a:latin typeface="Calibri"/>
                <a:ea typeface="Calibri"/>
                <a:cs typeface="Calibri"/>
              </a:rPr>
              <a:t>The trade-off between localization confidence and retrieval completeness was tracked via Precision and Recall curves:</a:t>
            </a:r>
            <a:endParaRPr sz="1100" b="0" i="0" u="none">
              <a:solidFill>
                <a:srgbClr val="000000"/>
              </a:solidFill>
              <a:latin typeface="Calibri"/>
              <a:ea typeface="Calibri"/>
              <a:cs typeface="Calibri"/>
            </a:endParaRPr>
          </a:p>
          <a:p>
            <a:pPr algn="just">
              <a:defRPr/>
            </a:pPr>
            <a:endParaRPr sz="1000">
              <a:latin typeface="Calibri"/>
              <a:cs typeface="Calibri"/>
            </a:endParaRPr>
          </a:p>
          <a:p>
            <a:pPr algn="just">
              <a:defRPr/>
            </a:pPr>
            <a:r>
              <a:rPr sz="1100" b="0" i="1" u="none">
                <a:solidFill>
                  <a:srgbClr val="000000"/>
                </a:solidFill>
                <a:latin typeface="Calibri"/>
                <a:ea typeface="Calibri"/>
                <a:cs typeface="Calibri"/>
              </a:rPr>
              <a:t>Precision:</a:t>
            </a:r>
            <a:r>
              <a:rPr sz="1100" b="0" i="1" u="none">
                <a:solidFill>
                  <a:srgbClr val="000000"/>
                </a:solidFill>
                <a:latin typeface="Calibri"/>
                <a:ea typeface="Calibri"/>
                <a:cs typeface="Calibri"/>
              </a:rPr>
              <a:t> </a:t>
            </a:r>
            <a:r>
              <a:rPr sz="1100" b="0" i="0" u="none">
                <a:solidFill>
                  <a:srgbClr val="000000"/>
                </a:solidFill>
                <a:latin typeface="Calibri"/>
                <a:ea typeface="Calibri"/>
                <a:cs typeface="Calibri"/>
              </a:rPr>
              <a:t>Precision peaked at epoch 2, reaching approximately </a:t>
            </a:r>
            <a:r>
              <a:rPr sz="1100" b="0" i="0" u="none">
                <a:solidFill>
                  <a:srgbClr val="000000"/>
                </a:solidFill>
                <a:latin typeface="Calibri"/>
                <a:ea typeface="Calibri"/>
                <a:cs typeface="Calibri"/>
              </a:rPr>
              <a:t>0.66</a:t>
            </a:r>
            <a:r>
              <a:rPr sz="1100" b="0" i="0" u="none">
                <a:solidFill>
                  <a:srgbClr val="000000"/>
                </a:solidFill>
                <a:latin typeface="Calibri"/>
                <a:ea typeface="Calibri"/>
                <a:cs typeface="Calibri"/>
              </a:rPr>
              <a:t>, before adjusting to </a:t>
            </a:r>
            <a:r>
              <a:rPr sz="1100" b="0" i="0" u="none">
                <a:solidFill>
                  <a:srgbClr val="000000"/>
                </a:solidFill>
                <a:latin typeface="Calibri"/>
                <a:ea typeface="Calibri"/>
                <a:cs typeface="Calibri"/>
              </a:rPr>
              <a:t>0.54</a:t>
            </a:r>
            <a:r>
              <a:rPr sz="1100" b="0" i="0" u="none">
                <a:solidFill>
                  <a:srgbClr val="000000"/>
                </a:solidFill>
                <a:latin typeface="Calibri"/>
                <a:ea typeface="Calibri"/>
                <a:cs typeface="Calibri"/>
              </a:rPr>
              <a:t> at epoch 3. This fluctuation suggests temporary variations in false positive generation as the model reconciles bounding box coordinates with complex multi-item food plates.</a:t>
            </a:r>
            <a:endParaRPr sz="1000">
              <a:latin typeface="Calibri"/>
              <a:ea typeface="Calibri"/>
              <a:cs typeface="Calibri"/>
            </a:endParaRPr>
          </a:p>
          <a:p>
            <a:pPr algn="just">
              <a:defRPr/>
            </a:pPr>
            <a:endParaRPr sz="1000">
              <a:latin typeface="Calibri"/>
              <a:cs typeface="Calibri"/>
            </a:endParaRPr>
          </a:p>
          <a:p>
            <a:pPr algn="just">
              <a:defRPr/>
            </a:pPr>
            <a:r>
              <a:rPr sz="1100" b="0" i="1" u="none">
                <a:solidFill>
                  <a:srgbClr val="000000"/>
                </a:solidFill>
                <a:latin typeface="Calibri"/>
                <a:ea typeface="Calibri"/>
                <a:cs typeface="Calibri"/>
              </a:rPr>
              <a:t>Recall:</a:t>
            </a:r>
            <a:r>
              <a:rPr sz="1100" b="0" i="0" u="none">
                <a:solidFill>
                  <a:srgbClr val="000000"/>
                </a:solidFill>
                <a:latin typeface="Calibri"/>
                <a:ea typeface="Calibri"/>
                <a:cs typeface="Calibri"/>
              </a:rPr>
              <a:t> Recall demonstrated a steady, gradual improvement, climbing from </a:t>
            </a:r>
            <a:r>
              <a:rPr sz="1100" b="0" i="0" u="none">
                <a:solidFill>
                  <a:srgbClr val="000000"/>
                </a:solidFill>
                <a:latin typeface="Calibri"/>
                <a:ea typeface="Calibri"/>
                <a:cs typeface="Calibri"/>
              </a:rPr>
              <a:t>0.43</a:t>
            </a:r>
            <a:r>
              <a:rPr sz="1100" b="0" i="0" u="none">
                <a:solidFill>
                  <a:srgbClr val="000000"/>
                </a:solidFill>
                <a:latin typeface="Calibri"/>
                <a:ea typeface="Calibri"/>
                <a:cs typeface="Calibri"/>
              </a:rPr>
              <a:t> to </a:t>
            </a:r>
            <a:r>
              <a:rPr sz="1100" b="0" i="0" u="none">
                <a:solidFill>
                  <a:srgbClr val="000000"/>
                </a:solidFill>
                <a:latin typeface="Calibri"/>
                <a:ea typeface="Calibri"/>
                <a:cs typeface="Calibri"/>
              </a:rPr>
              <a:t>0.47</a:t>
            </a:r>
            <a:r>
              <a:rPr sz="1100" b="0" i="0" u="none">
                <a:solidFill>
                  <a:srgbClr val="000000"/>
                </a:solidFill>
                <a:latin typeface="Calibri"/>
                <a:ea typeface="Calibri"/>
                <a:cs typeface="Calibri"/>
              </a:rPr>
              <a:t> at epoch 2, and concluding at </a:t>
            </a:r>
            <a:r>
              <a:rPr sz="1100" b="0" i="0" u="none">
                <a:solidFill>
                  <a:srgbClr val="000000"/>
                </a:solidFill>
                <a:latin typeface="Calibri"/>
                <a:ea typeface="Calibri"/>
                <a:cs typeface="Calibri"/>
              </a:rPr>
              <a:t>0.46</a:t>
            </a:r>
            <a:r>
              <a:rPr sz="1100" b="0" i="0" u="none">
                <a:solidFill>
                  <a:srgbClr val="000000"/>
                </a:solidFill>
                <a:latin typeface="Calibri"/>
                <a:ea typeface="Calibri"/>
                <a:cs typeface="Calibri"/>
              </a:rPr>
              <a:t> by epoch 3. The stability in recall indicates that the model maintains a consistent baseline capability for capturing target food objects within the frame.</a:t>
            </a:r>
            <a:endParaRPr sz="1000">
              <a:latin typeface="Calibri"/>
              <a:ea typeface="Calibri"/>
              <a:cs typeface="Calibri"/>
            </a:endParaRPr>
          </a:p>
          <a:p>
            <a:pPr algn="just">
              <a:defRPr/>
            </a:pPr>
            <a:endParaRPr/>
          </a:p>
          <a:p>
            <a:pPr>
              <a:defRPr/>
            </a:pPr>
            <a:r>
              <a:rPr sz="1200" b="1" i="1" u="none">
                <a:solidFill>
                  <a:srgbClr val="000000"/>
                </a:solidFill>
                <a:latin typeface="Times New Roman"/>
                <a:ea typeface="Times New Roman"/>
                <a:cs typeface="Times New Roman"/>
              </a:rPr>
              <a:t>VI. </a:t>
            </a:r>
            <a:r>
              <a:rPr lang="en-IN" sz="1200" b="1">
                <a:latin typeface="Calibri"/>
                <a:ea typeface="Calibri"/>
                <a:cs typeface="Calibri"/>
              </a:rPr>
              <a:t>CONCLUTION</a:t>
            </a:r>
            <a:endParaRPr sz="1000">
              <a:latin typeface="Calibri"/>
              <a:ea typeface="Calibri"/>
              <a:cs typeface="Calibri"/>
            </a:endParaRPr>
          </a:p>
          <a:p>
            <a:pPr>
              <a:defRPr/>
            </a:pPr>
            <a:endParaRPr/>
          </a:p>
          <a:p>
            <a:pPr algn="just">
              <a:defRPr/>
            </a:pPr>
            <a:r>
              <a:rPr sz="1100" b="0" i="0" u="none">
                <a:solidFill>
                  <a:srgbClr val="000000"/>
                </a:solidFill>
                <a:latin typeface="Calibri"/>
                <a:ea typeface="Calibri"/>
                <a:cs typeface="Calibri"/>
              </a:rPr>
              <a:t>The current literature confirms that automating dietary assessment is crucial for addressing the global burden of diet-related non-communicable diseases, largely due to the inaccuracies and subjective biases inherent in traditional self-reporting methods</a:t>
            </a:r>
            <a:r>
              <a:rPr sz="1100" b="0" i="0" u="none">
                <a:solidFill>
                  <a:srgbClr val="000000"/>
                </a:solidFill>
                <a:latin typeface="Calibri"/>
                <a:ea typeface="Calibri"/>
                <a:cs typeface="Calibri"/>
              </a:rPr>
              <a:t>. NutriVision presents a robust, automated solution by leveraging the YOLOv11 architecture to simultaneously detect multiple food items, map them to a nutritional database, and estimate their caloric and macro</a:t>
            </a:r>
            <a:r>
              <a:rPr lang="en-IN" sz="1100" b="0" i="0" u="none">
                <a:solidFill>
                  <a:srgbClr val="000000"/>
                </a:solidFill>
                <a:latin typeface="Calibri"/>
                <a:ea typeface="Calibri"/>
                <a:cs typeface="Calibri"/>
              </a:rPr>
              <a:t>-</a:t>
            </a:r>
            <a:r>
              <a:rPr sz="1100" b="0" i="0" u="none">
                <a:solidFill>
                  <a:srgbClr val="000000"/>
                </a:solidFill>
                <a:latin typeface="Calibri"/>
                <a:ea typeface="Calibri"/>
                <a:cs typeface="Calibri"/>
              </a:rPr>
              <a:t>nutrient values in real time</a:t>
            </a:r>
            <a:r>
              <a:rPr sz="1100" b="0" i="0" u="none">
                <a:solidFill>
                  <a:srgbClr val="000000"/>
                </a:solidFill>
                <a:latin typeface="Calibri"/>
                <a:ea typeface="Calibri"/>
                <a:cs typeface="Calibri"/>
              </a:rPr>
              <a:t>.</a:t>
            </a:r>
            <a:endParaRPr sz="1000">
              <a:latin typeface="Calibri"/>
              <a:ea typeface="Calibri"/>
              <a:cs typeface="Calibri"/>
            </a:endParaRPr>
          </a:p>
          <a:p>
            <a:pPr algn="just">
              <a:defRPr/>
            </a:pPr>
            <a:endParaRPr/>
          </a:p>
          <a:p>
            <a:pPr algn="just">
              <a:defRPr/>
            </a:pPr>
            <a:r>
              <a:rPr sz="1100" b="0" i="0" u="none">
                <a:solidFill>
                  <a:srgbClr val="000000"/>
                </a:solidFill>
                <a:latin typeface="Calibri"/>
                <a:ea typeface="Calibri"/>
                <a:cs typeface="Calibri"/>
              </a:rPr>
              <a:t>Crucially, this system directly addresses significant gaps in existing research by prioritizing underrepresented regional Indian cuisines and utilizing advanced object detection rather than basic image classification</a:t>
            </a:r>
            <a:r>
              <a:rPr sz="1100" b="0" i="0" u="none">
                <a:solidFill>
                  <a:srgbClr val="000000"/>
                </a:solidFill>
                <a:latin typeface="Calibri"/>
                <a:ea typeface="Calibri"/>
                <a:cs typeface="Calibri"/>
              </a:rPr>
              <a:t>. Furthermore, by moving beyond pure calorie counting and integrating scientifically grounded gamification elements—such as the Meal Quality Score and Balanced Diet Score—NutriVision offers a sustainable framework designed to encourage long-term behavioral changes and continuous user engagement</a:t>
            </a:r>
            <a:r>
              <a:rPr sz="1100" b="0" i="0" u="none">
                <a:solidFill>
                  <a:srgbClr val="000000"/>
                </a:solidFill>
                <a:latin typeface="Calibri"/>
                <a:ea typeface="Calibri"/>
                <a:cs typeface="Calibri"/>
              </a:rPr>
              <a:t>.</a:t>
            </a:r>
            <a:endParaRPr/>
          </a:p>
          <a:p>
            <a:pPr algn="just">
              <a:defRPr/>
            </a:pPr>
            <a:endParaRPr/>
          </a:p>
          <a:p>
            <a:pPr algn="just">
              <a:defRPr/>
            </a:pPr>
            <a:r>
              <a:rPr sz="1100" b="0" i="0" u="none">
                <a:solidFill>
                  <a:srgbClr val="000000"/>
                </a:solidFill>
                <a:latin typeface="Calibri"/>
                <a:ea typeface="Calibri"/>
                <a:cs typeface="Calibri"/>
              </a:rPr>
              <a:t>Preliminary evaluations across initial training epochs validate the system's architectural viability</a:t>
            </a:r>
            <a:r>
              <a:rPr sz="1100" b="0" i="0" u="none">
                <a:solidFill>
                  <a:srgbClr val="000000"/>
                </a:solidFill>
                <a:latin typeface="Calibri"/>
                <a:ea typeface="Calibri"/>
                <a:cs typeface="Calibri"/>
              </a:rPr>
              <a:t>. The model has demonstrated highly favorable convergence characteristics in classification loss and a steady upward trajectory in mean Average Precision (mAP) metrics</a:t>
            </a:r>
            <a:r>
              <a:rPr sz="1100" b="0" i="0" u="none">
                <a:solidFill>
                  <a:srgbClr val="000000"/>
                </a:solidFill>
                <a:latin typeface="Calibri"/>
                <a:ea typeface="Calibri"/>
                <a:cs typeface="Calibri"/>
              </a:rPr>
              <a:t>. </a:t>
            </a:r>
            <a:endParaRPr/>
          </a:p>
        </p:txBody>
      </p:sp>
      <p:sp>
        <p:nvSpPr>
          <p:cNvPr id="1035630927" name="Holder 4"/>
          <p:cNvSpPr>
            <a:spLocks noGrp="1"/>
          </p:cNvSpPr>
          <p:nvPr>
            <p:ph sz="half" idx="3"/>
          </p:nvPr>
        </p:nvSpPr>
        <p:spPr bwMode="auto">
          <a:xfrm flipH="0" flipV="0">
            <a:off x="4002786" y="728291"/>
            <a:ext cx="3415553" cy="5380079"/>
          </a:xfrm>
          <a:prstGeom prst="rect">
            <a:avLst/>
          </a:prstGeom>
        </p:spPr>
        <p:txBody>
          <a:bodyPr/>
          <a:lstStyle/>
          <a:p>
            <a:pPr>
              <a:defRPr/>
            </a:pPr>
            <a:r>
              <a:rPr lang="en-US" sz="1100" b="0" i="0" u="none" strike="noStrike" cap="none" spc="0">
                <a:solidFill>
                  <a:srgbClr val="000000"/>
                </a:solidFill>
                <a:latin typeface="Calibri"/>
                <a:ea typeface="Calibri"/>
                <a:cs typeface="Calibri"/>
              </a:rPr>
              <a:t>Moving forward, the focus will shift to extended training and targeted hyper-parameter tuning to further stabilize bounding box regressions and optimize spatial localization</a:t>
            </a:r>
            <a:endParaRPr/>
          </a:p>
          <a:p>
            <a:pPr>
              <a:defRPr/>
            </a:pPr>
            <a:endParaRPr>
              <a:latin typeface="Calibri"/>
              <a:cs typeface="Calibri"/>
            </a:endParaRPr>
          </a:p>
          <a:p>
            <a:pPr>
              <a:defRPr/>
            </a:pPr>
            <a:r>
              <a:rPr sz="1200" b="1" i="0" u="none">
                <a:solidFill>
                  <a:srgbClr val="000000"/>
                </a:solidFill>
                <a:latin typeface="Calibri"/>
                <a:ea typeface="Calibri"/>
                <a:cs typeface="Calibri"/>
              </a:rPr>
              <a:t> R</a:t>
            </a:r>
            <a:r>
              <a:rPr lang="en-IN" sz="1200" b="1" i="0" u="none">
                <a:solidFill>
                  <a:srgbClr val="000000"/>
                </a:solidFill>
                <a:latin typeface="Calibri"/>
                <a:ea typeface="Calibri"/>
                <a:cs typeface="Calibri"/>
              </a:rPr>
              <a:t>EFERENCE</a:t>
            </a:r>
            <a:endParaRPr lang="en-IN" sz="1200" b="1" i="0" u="none">
              <a:solidFill>
                <a:srgbClr val="000000"/>
              </a:solidFill>
              <a:latin typeface="Calibri"/>
              <a:ea typeface="Calibri"/>
              <a:cs typeface="Calibri"/>
            </a:endParaRPr>
          </a:p>
          <a:p>
            <a:pPr>
              <a:defRPr/>
            </a:pPr>
            <a:endParaRPr/>
          </a:p>
          <a:p>
            <a:pPr algn="just">
              <a:defRPr/>
            </a:pPr>
            <a:r>
              <a:rPr sz="1100" b="0" i="0" u="none">
                <a:solidFill>
                  <a:srgbClr val="000000"/>
                </a:solidFill>
                <a:latin typeface="Calibri"/>
                <a:ea typeface="Calibri"/>
                <a:cs typeface="Calibri"/>
              </a:rPr>
              <a:t>Real-Time Image-based Calorie Estimation using</a:t>
            </a:r>
            <a:r>
              <a:rPr lang="en-IN" sz="1100" b="0" i="0" u="none">
                <a:solidFill>
                  <a:srgbClr val="000000"/>
                </a:solidFill>
                <a:latin typeface="Calibri"/>
                <a:ea typeface="Calibri"/>
                <a:cs typeface="Calibri"/>
              </a:rPr>
              <a:t> </a:t>
            </a:r>
            <a:r>
              <a:rPr sz="1100" b="0" i="0" u="none">
                <a:solidFill>
                  <a:srgbClr val="000000"/>
                </a:solidFill>
                <a:latin typeface="Calibri"/>
                <a:ea typeface="Calibri"/>
                <a:cs typeface="Calibri"/>
              </a:rPr>
              <a:t>YOLOv4 Object Detection" (2024)</a:t>
            </a:r>
            <a:endParaRPr lang="en-IN" sz="1100" b="1" i="0" u="none">
              <a:solidFill>
                <a:srgbClr val="000000"/>
              </a:solidFill>
              <a:latin typeface="Calibri"/>
              <a:ea typeface="Calibri"/>
              <a:cs typeface="Calibri"/>
            </a:endParaRPr>
          </a:p>
          <a:p>
            <a:pPr algn="just">
              <a:defRPr/>
            </a:pPr>
            <a:endParaRPr sz="1100" b="1" i="0" u="none">
              <a:solidFill>
                <a:srgbClr val="000000"/>
              </a:solidFill>
              <a:latin typeface="Calibri"/>
              <a:cs typeface="Calibri"/>
            </a:endParaRPr>
          </a:p>
          <a:p>
            <a:pPr algn="just">
              <a:defRPr/>
            </a:pPr>
            <a:r>
              <a:rPr sz="1100" b="0" i="0" u="none">
                <a:solidFill>
                  <a:srgbClr val="000000"/>
                </a:solidFill>
                <a:latin typeface="Calibri"/>
                <a:ea typeface="Calibri"/>
                <a:cs typeface="Calibri"/>
              </a:rPr>
              <a:t> </a:t>
            </a:r>
            <a:r>
              <a:rPr sz="1100" b="0" i="0" u="none">
                <a:solidFill>
                  <a:srgbClr val="000000"/>
                </a:solidFill>
                <a:latin typeface="Calibri"/>
                <a:ea typeface="Calibri"/>
                <a:cs typeface="Calibri"/>
              </a:rPr>
              <a:t>F. Romadhon et al., "Food Image Detection System and </a:t>
            </a:r>
            <a:r>
              <a:rPr lang="en-IN" sz="1100" b="0" i="0" u="none">
                <a:solidFill>
                  <a:srgbClr val="000000"/>
                </a:solidFill>
                <a:latin typeface="Calibri"/>
                <a:ea typeface="Calibri"/>
                <a:cs typeface="Calibri"/>
              </a:rPr>
              <a:t>  </a:t>
            </a:r>
            <a:r>
              <a:rPr lang="en-IN" sz="1100" b="0" i="0" u="none">
                <a:solidFill>
                  <a:srgbClr val="000000"/>
                </a:solidFill>
                <a:latin typeface="Calibri"/>
                <a:ea typeface="Calibri"/>
                <a:cs typeface="Calibri"/>
              </a:rPr>
              <a:t>              </a:t>
            </a:r>
            <a:r>
              <a:rPr sz="1100" b="0" i="0" u="none">
                <a:solidFill>
                  <a:srgbClr val="000000"/>
                </a:solidFill>
                <a:latin typeface="Calibri"/>
                <a:ea typeface="Calibri"/>
                <a:cs typeface="Calibri"/>
              </a:rPr>
              <a:t>Calorie Content Estimation Using YOLO..." (2023)</a:t>
            </a:r>
            <a:endParaRPr lang="en-IN" sz="1100" b="1" i="0" u="none">
              <a:solidFill>
                <a:srgbClr val="000000"/>
              </a:solidFill>
              <a:latin typeface="Calibri"/>
              <a:ea typeface="Calibri"/>
              <a:cs typeface="Calibri"/>
            </a:endParaRPr>
          </a:p>
          <a:p>
            <a:pPr algn="just">
              <a:defRPr/>
            </a:pPr>
            <a:endParaRPr sz="1100" b="1" i="0" u="none">
              <a:solidFill>
                <a:srgbClr val="000000"/>
              </a:solidFill>
              <a:latin typeface="Calibri"/>
              <a:cs typeface="Calibri"/>
            </a:endParaRPr>
          </a:p>
          <a:p>
            <a:pPr algn="just">
              <a:defRPr/>
            </a:pPr>
            <a:r>
              <a:rPr sz="1100" b="0" i="0" u="none">
                <a:solidFill>
                  <a:srgbClr val="000000"/>
                </a:solidFill>
                <a:latin typeface="Calibri"/>
                <a:ea typeface="Calibri"/>
                <a:cs typeface="Calibri"/>
              </a:rPr>
              <a:t>M. K. Gaikwad, "Food Object Detection Using YOLO Model" (2024)</a:t>
            </a:r>
            <a:endParaRPr lang="en-IN" sz="1100" b="1" i="0" u="none">
              <a:solidFill>
                <a:srgbClr val="000000"/>
              </a:solidFill>
              <a:latin typeface="Calibri"/>
              <a:ea typeface="Calibri"/>
              <a:cs typeface="Calibri"/>
            </a:endParaRPr>
          </a:p>
          <a:p>
            <a:pPr algn="just">
              <a:defRPr/>
            </a:pPr>
            <a:endParaRPr sz="1100" b="1" i="0" u="none">
              <a:solidFill>
                <a:srgbClr val="000000"/>
              </a:solidFill>
              <a:latin typeface="Calibri"/>
              <a:cs typeface="Calibri"/>
            </a:endParaRPr>
          </a:p>
          <a:p>
            <a:pPr algn="just">
              <a:defRPr/>
            </a:pPr>
            <a:r>
              <a:rPr sz="1100" b="0" i="0" u="none">
                <a:solidFill>
                  <a:srgbClr val="000000"/>
                </a:solidFill>
                <a:latin typeface="Calibri"/>
                <a:ea typeface="Calibri"/>
                <a:cs typeface="Calibri"/>
              </a:rPr>
              <a:t>C. Liu et al., "DeepFood: Deep Learning-Based Food Image Recognition..." (2016)</a:t>
            </a:r>
            <a:endParaRPr lang="en-IN" sz="1100" b="1" i="0" u="none">
              <a:solidFill>
                <a:srgbClr val="000000"/>
              </a:solidFill>
              <a:latin typeface="Calibri"/>
              <a:ea typeface="Calibri"/>
              <a:cs typeface="Calibri"/>
            </a:endParaRPr>
          </a:p>
          <a:p>
            <a:pPr algn="just">
              <a:defRPr/>
            </a:pPr>
            <a:endParaRPr sz="1100" b="1" i="0" u="none">
              <a:solidFill>
                <a:srgbClr val="000000"/>
              </a:solidFill>
              <a:latin typeface="Calibri"/>
              <a:cs typeface="Calibri"/>
            </a:endParaRPr>
          </a:p>
          <a:p>
            <a:pPr algn="just">
              <a:defRPr/>
            </a:pPr>
            <a:r>
              <a:rPr sz="1100" b="0" i="0" u="none">
                <a:solidFill>
                  <a:srgbClr val="000000"/>
                </a:solidFill>
                <a:latin typeface="Calibri"/>
                <a:ea typeface="Calibri"/>
                <a:cs typeface="Calibri"/>
              </a:rPr>
              <a:t>"Deep Learning in Food Image Recognition: A Comprehensive Review" (2025)</a:t>
            </a:r>
            <a:endParaRPr lang="en-IN" sz="1100" b="1" i="0" u="none">
              <a:solidFill>
                <a:srgbClr val="000000"/>
              </a:solidFill>
              <a:latin typeface="Calibri"/>
              <a:ea typeface="Calibri"/>
              <a:cs typeface="Calibri"/>
            </a:endParaRPr>
          </a:p>
          <a:p>
            <a:pPr algn="just">
              <a:defRPr/>
            </a:pPr>
            <a:endParaRPr sz="1100" b="1" i="0" u="none">
              <a:solidFill>
                <a:srgbClr val="000000"/>
              </a:solidFill>
              <a:latin typeface="Calibri"/>
              <a:cs typeface="Calibri"/>
            </a:endParaRPr>
          </a:p>
          <a:p>
            <a:pPr algn="just">
              <a:defRPr/>
            </a:pPr>
            <a:r>
              <a:rPr sz="1100" b="0" i="0" u="none">
                <a:solidFill>
                  <a:srgbClr val="000000"/>
                </a:solidFill>
                <a:latin typeface="Calibri"/>
                <a:ea typeface="Calibri"/>
                <a:cs typeface="Calibri"/>
              </a:rPr>
              <a:t>"Deep Learning for Food Image Recognition and Nutrition Analysis..." (2023)</a:t>
            </a:r>
            <a:endParaRPr lang="en-IN" sz="1100" b="1" i="0" u="none">
              <a:solidFill>
                <a:srgbClr val="000000"/>
              </a:solidFill>
              <a:latin typeface="Calibri"/>
              <a:ea typeface="Calibri"/>
              <a:cs typeface="Calibri"/>
            </a:endParaRPr>
          </a:p>
          <a:p>
            <a:pPr algn="just">
              <a:defRPr/>
            </a:pPr>
            <a:endParaRPr sz="1100" b="1" i="0" u="none">
              <a:solidFill>
                <a:srgbClr val="000000"/>
              </a:solidFill>
              <a:latin typeface="Calibri"/>
              <a:cs typeface="Calibri"/>
            </a:endParaRPr>
          </a:p>
          <a:p>
            <a:pPr algn="just">
              <a:defRPr/>
            </a:pPr>
            <a:r>
              <a:rPr sz="1100" b="0" i="0" u="none">
                <a:solidFill>
                  <a:srgbClr val="000000"/>
                </a:solidFill>
                <a:latin typeface="Calibri"/>
                <a:ea typeface="Calibri"/>
                <a:cs typeface="Calibri"/>
              </a:rPr>
              <a:t>"IndianFoodNet: Detecting Indian Food Items Using Deep Learning" (2023)</a:t>
            </a:r>
            <a:endParaRPr lang="en-IN" sz="1100" b="1" i="0" u="none">
              <a:solidFill>
                <a:srgbClr val="000000"/>
              </a:solidFill>
              <a:latin typeface="Calibri"/>
              <a:ea typeface="Calibri"/>
              <a:cs typeface="Calibri"/>
            </a:endParaRPr>
          </a:p>
          <a:p>
            <a:pPr algn="just">
              <a:defRPr/>
            </a:pPr>
            <a:endParaRPr sz="1100" b="1" i="0" u="none">
              <a:solidFill>
                <a:srgbClr val="000000"/>
              </a:solidFill>
              <a:latin typeface="Calibri"/>
              <a:cs typeface="Calibri"/>
            </a:endParaRPr>
          </a:p>
          <a:p>
            <a:pPr algn="just">
              <a:defRPr/>
            </a:pPr>
            <a:r>
              <a:rPr sz="1100" b="0" i="0" u="none">
                <a:solidFill>
                  <a:srgbClr val="000000"/>
                </a:solidFill>
                <a:latin typeface="Calibri"/>
                <a:ea typeface="Calibri"/>
                <a:cs typeface="Calibri"/>
              </a:rPr>
              <a:t>G. Vinod and J. He, "Food Portion Estimation via 3D Object Scaling" (2024)</a:t>
            </a:r>
            <a:endParaRPr lang="en-IN" sz="1100" b="1" i="0" u="none">
              <a:solidFill>
                <a:srgbClr val="000000"/>
              </a:solidFill>
              <a:latin typeface="Calibri"/>
              <a:ea typeface="Calibri"/>
              <a:cs typeface="Calibri"/>
            </a:endParaRPr>
          </a:p>
          <a:p>
            <a:pPr algn="just">
              <a:defRPr/>
            </a:pPr>
            <a:endParaRPr sz="1100" b="1" i="0" u="none">
              <a:solidFill>
                <a:srgbClr val="000000"/>
              </a:solidFill>
              <a:latin typeface="Calibri"/>
              <a:cs typeface="Calibri"/>
            </a:endParaRPr>
          </a:p>
          <a:p>
            <a:pPr algn="just">
              <a:defRPr/>
            </a:pPr>
            <a:r>
              <a:rPr sz="1100" b="0" i="0" u="none">
                <a:solidFill>
                  <a:srgbClr val="000000"/>
                </a:solidFill>
                <a:latin typeface="Calibri"/>
                <a:ea typeface="Calibri"/>
                <a:cs typeface="Calibri"/>
              </a:rPr>
              <a:t>"Machine Learning–Based Screening of Healthy Meals From Image Analysis..." (2020)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ONLYOFFICE/9.4.0.129</Application>
  <PresentationFormat>On-screen Show (4:3)</PresentationFormat>
  <Paragraphs>0</Paragraphs>
  <Slides>5</Slides>
  <Notes>5</Notes>
  <HiddenSlides>0</HiddenSlides>
  <MMClips>2</MMClips>
  <ScaleCrop>0</ScaleCrop>
  <HeadingPairs>
    <vt:vector size="4" baseType="variant">
      <vt:variant>
        <vt:lpstr>Theme</vt:lpstr>
      </vt:variant>
      <vt:variant>
        <vt:i4>1</vt:i4>
      </vt:variant>
      <vt:variant>
        <vt:lpstr>Slide Titles</vt:lpstr>
      </vt:variant>
      <vt:variant>
        <vt:i4>5</vt:i4>
      </vt:variant>
    </vt:vector>
  </HeadingPairs>
  <TitlesOfParts>
    <vt:vector size="6" baseType="lpstr">
      <vt:lpstr>Theme 1</vt:lpstr>
      <vt:lpstr>Slide 1</vt:lpstr>
      <vt:lpstr>Slide 2</vt:lpstr>
      <vt:lpstr>Slide 3</vt:lpstr>
      <vt:lpstr>Slide 4</vt:lpstr>
      <vt:lpstr>Slide 5</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2</cp:revision>
  <dcterms:created xsi:type="dcterms:W3CDTF">2026-07-14T15:43:22Z</dcterms:created>
  <dcterms:modified xsi:type="dcterms:W3CDTF">2026-07-15T16:41:36Z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2026-07-14T00:00:00Z</vt:filetime>
  </property>
  <property fmtid="{D5CDD505-2E9C-101B-9397-08002B2CF9AE}" pid="4" name="Creator">
    <vt:lpwstr>ONLYOFFICE/9.4.0.129</vt:lpwstr>
  </property>
  <property fmtid="{D5CDD505-2E9C-101B-9397-08002B2CF9AE}" pid="5" name="LastSaved">
    <vt:filetime>2026-07-14T00:00:00Z</vt:filetime>
  </property>
  <property fmtid="{D5CDD505-2E9C-101B-9397-08002B2CF9AE}" pid="6" name="Producer">
    <vt:lpwstr>ONLYOFFICE/9.4.0.129</vt:lpwstr>
  </property>
</Properties>
</file>